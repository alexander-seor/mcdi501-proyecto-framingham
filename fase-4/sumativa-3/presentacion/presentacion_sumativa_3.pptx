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0c5fde7fdb498d" /><Relationship Type="http://schemas.openxmlformats.org/officeDocument/2006/relationships/extended-properties" Target="/docProps/app.xml" Id="Rcdf72442289748f2" /><Relationship Type="http://schemas.openxmlformats.org/officeDocument/2006/relationships/officeDocument" Target="/ppt/presentation.xml" Id="Rc53ac19847184944" /></Relationships>
</file>

<file path=ppt/presentation.xml><?xml version="1.0" encoding="utf-8"?>
<p:presentation xmlns:p="http://schemas.openxmlformats.org/presentationml/2006/main">
  <p:sldMasterIdLst>
    <p:sldMasterId xmlns:r="http://schemas.openxmlformats.org/officeDocument/2006/relationships" id="2147483648" r:id="R16e346e859584470"/>
  </p:sldMasterIdLst>
  <p:notesMasterIdLst>
    <p:notesMasterId xmlns:r="http://schemas.openxmlformats.org/officeDocument/2006/relationships" r:id="R739b41bac70a47f9"/>
  </p:notesMasterIdLst>
  <p:sldIdLst>
    <p:sldId xmlns:r="http://schemas.openxmlformats.org/officeDocument/2006/relationships" id="256" r:id="Rdb879ac1979e4d07"/>
    <p:sldId xmlns:r="http://schemas.openxmlformats.org/officeDocument/2006/relationships" id="257" r:id="Ref10fb35f78d4bf9"/>
    <p:sldId xmlns:r="http://schemas.openxmlformats.org/officeDocument/2006/relationships" id="258" r:id="R37402ec84c8e4c4a"/>
    <p:sldId xmlns:r="http://schemas.openxmlformats.org/officeDocument/2006/relationships" id="259" r:id="Rd896ebbe3dbf41d9"/>
    <p:sldId xmlns:r="http://schemas.openxmlformats.org/officeDocument/2006/relationships" id="260" r:id="R3b1a121fd754451b"/>
    <p:sldId xmlns:r="http://schemas.openxmlformats.org/officeDocument/2006/relationships" id="261" r:id="R61fba533b49341f6"/>
    <p:sldId xmlns:r="http://schemas.openxmlformats.org/officeDocument/2006/relationships" id="262" r:id="Ra53222138abd41c4"/>
    <p:sldId xmlns:r="http://schemas.openxmlformats.org/officeDocument/2006/relationships" id="263" r:id="Re64950c4262645e2"/>
    <p:sldId xmlns:r="http://schemas.openxmlformats.org/officeDocument/2006/relationships" id="264" r:id="R4f07915720f742b5"/>
    <p:sldId xmlns:r="http://schemas.openxmlformats.org/officeDocument/2006/relationships" id="265" r:id="R7c3763a3e8554a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d10dfe228248d8" /><Relationship Type="http://schemas.openxmlformats.org/officeDocument/2006/relationships/slideMaster" Target="/ppt/slideMasters/slideMaster1.xml" Id="R16e346e859584470" /><Relationship Type="http://schemas.openxmlformats.org/officeDocument/2006/relationships/notesMaster" Target="/ppt/notesMasters/notesMaster1.xml" Id="R739b41bac70a47f9" /><Relationship Type="http://schemas.openxmlformats.org/officeDocument/2006/relationships/presProps" Target="/ppt/presProps.xml" Id="Rdc6ca79a8e904576" /><Relationship Type="http://schemas.openxmlformats.org/officeDocument/2006/relationships/tableStyles" Target="/ppt/tableStyles.xml" Id="Rd20f0125e6d249d6" /><Relationship Type="http://schemas.openxmlformats.org/officeDocument/2006/relationships/slide" Target="/ppt/slides/slide1.xml" Id="Rdb879ac1979e4d07" /><Relationship Type="http://schemas.openxmlformats.org/officeDocument/2006/relationships/slide" Target="/ppt/slides/slide2.xml" Id="Ref10fb35f78d4bf9" /><Relationship Type="http://schemas.openxmlformats.org/officeDocument/2006/relationships/slide" Target="/ppt/slides/slide3.xml" Id="R37402ec84c8e4c4a" /><Relationship Type="http://schemas.openxmlformats.org/officeDocument/2006/relationships/slide" Target="/ppt/slides/slide4.xml" Id="Rd896ebbe3dbf41d9" /><Relationship Type="http://schemas.openxmlformats.org/officeDocument/2006/relationships/slide" Target="/ppt/slides/slide5.xml" Id="R3b1a121fd754451b" /><Relationship Type="http://schemas.openxmlformats.org/officeDocument/2006/relationships/slide" Target="/ppt/slides/slide6.xml" Id="R61fba533b49341f6" /><Relationship Type="http://schemas.openxmlformats.org/officeDocument/2006/relationships/slide" Target="/ppt/slides/slide7.xml" Id="Ra53222138abd41c4" /><Relationship Type="http://schemas.openxmlformats.org/officeDocument/2006/relationships/slide" Target="/ppt/slides/slide8.xml" Id="Re64950c4262645e2" /><Relationship Type="http://schemas.openxmlformats.org/officeDocument/2006/relationships/slide" Target="/ppt/slides/slide9.xml" Id="R4f07915720f742b5" /><Relationship Type="http://schemas.openxmlformats.org/officeDocument/2006/relationships/slide" Target="/ppt/slides/slide10.xml" Id="R7c3763a3e8554a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989b6ac5fe4c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7e52624e074dea" /><Relationship Type="http://schemas.openxmlformats.org/officeDocument/2006/relationships/notesMaster" Target="/ppt/notesMasters/notesMaster1.xml" Id="R13cf0a92a41349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b44d8322094fc0" /><Relationship Type="http://schemas.openxmlformats.org/officeDocument/2006/relationships/notesMaster" Target="/ppt/notesMasters/notesMaster1.xml" Id="R3861c6ab6c044d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24809ff5c24b44" /><Relationship Type="http://schemas.openxmlformats.org/officeDocument/2006/relationships/notesMaster" Target="/ppt/notesMasters/notesMaster1.xml" Id="Rae8e4c2ab49046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06056d9353494b" /><Relationship Type="http://schemas.openxmlformats.org/officeDocument/2006/relationships/notesMaster" Target="/ppt/notesMasters/notesMaster1.xml" Id="R7779e731180746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e0bd215d554fa2" /><Relationship Type="http://schemas.openxmlformats.org/officeDocument/2006/relationships/notesMaster" Target="/ppt/notesMasters/notesMaster1.xml" Id="Rb06ae1e88ace47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0b16f872c24f17" /><Relationship Type="http://schemas.openxmlformats.org/officeDocument/2006/relationships/notesMaster" Target="/ppt/notesMasters/notesMaster1.xml" Id="Rfda1dc460c9042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8ca57ed5f34450" /><Relationship Type="http://schemas.openxmlformats.org/officeDocument/2006/relationships/notesMaster" Target="/ppt/notesMasters/notesMaster1.xml" Id="R6da6f37a83a042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b9343aa524421f" /><Relationship Type="http://schemas.openxmlformats.org/officeDocument/2006/relationships/notesMaster" Target="/ppt/notesMasters/notesMaster1.xml" Id="R36067b72b08f41b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8aeaa22c344f8f" /><Relationship Type="http://schemas.openxmlformats.org/officeDocument/2006/relationships/notesMaster" Target="/ppt/notesMasters/notesMaster1.xml" Id="Rb32490ea1db040c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bbd31c9aa89440a" /><Relationship Type="http://schemas.openxmlformats.org/officeDocument/2006/relationships/notesMaster" Target="/ppt/notesMasters/notesMaster1.xml" Id="R79397e2c743e49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Buenos días. En esta presentación resumiré el proyecto desarrollado con los datos de Framingham. El objetivo fue estudiar el riesgo de enfermedad coronaria a diez años e integrar, en una sola línea de trabajo, la exploración de la Sumativa 1, la validación de la Sumativa 2 y el modelamiento predictivo de la Sumativa 3. La exposición dura aproximadamente diez minutos.</a:t>
            </a:r>
          </a:p>
          <a:p xmlns:a="http://schemas.openxmlformats.org/drawingml/2006/main">
            <a:r>
              <a:t/>
            </a:r>
          </a:p>
          <a:p xmlns:a="http://schemas.openxmlformats.org/drawingml/2006/main">
            <a:r>
              <a:t>Fuente: informe final integrado y notebook maestro del proyecto Framingham.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Trabajamos con 4.238 personas y 16 variables demográficas, conductuales y clínicas. La variable objetivo fue TenYearCHD: CHD significa enfermedad coronaria. Esta variable indica si la persona desarrolló el evento durante diez años. El 15,20 por ciento presentó el evento. Esto genera desbalance, porque el grupo positivo es mucho menor. Nuestro objetivo no fue afirmar que una variable causa la enfermedad, sino estudiar asociaciones y evaluar qué tan bien el modelo distingue personas con y sin evento.</a:t>
            </a:r>
          </a:p>
          <a:p xmlns:a="http://schemas.openxmlformats.org/drawingml/2006/main">
            <a:r>
              <a:t/>
            </a:r>
          </a:p>
          <a:p xmlns:a="http://schemas.openxmlformats.org/drawingml/2006/main">
            <a:r>
              <a:t>Fuente: dataset Framingham utilizado en S1, S2 y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proyecto avanzó en tres etapas conectadas. En S1 diagnosticamos la calidad de los datos; allí destacaron, entre otras, la edad y la presión sistólica. En S2 evaluamos la estabilidad mediante bootstrap, permutación y sensibilidad frente a valores extremos. De manera complementaria, Monte Carlo mostró la variación de tasas en cohortes hipotéticas generadas con parámetros fijos; no fue una validación externa ni una comprobación de las asociaciones. En S3, esas fases orientaron la preparación y la comparación de candidatos; M3 seleccionó finalmente las variables mediante BIC.</a:t>
            </a:r>
          </a:p>
          <a:p xmlns:a="http://schemas.openxmlformats.org/drawingml/2006/main">
            <a:r>
              <a:t/>
            </a:r>
          </a:p>
          <a:p xmlns:a="http://schemas.openxmlformats.org/drawingml/2006/main">
            <a:r>
              <a:t>Fuente: trazabilidad S1, S2 y S3 documentada en el informe 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datos faltantes podían reducir la muestra y cambiar su composición. Glucosa fue la variable más afectada, con 9,16 por ciento de valores ausentes. Comparamos tres estrategias: eliminar registros incompletos, aplicar imputación simple y estimar los valores mediante regresiones lineales múltiples. Elegimos la imputación por regresión porque conserva todas las observaciones y utiliza varias variables predictoras. Sin embargo, la figura muestra que la imputación determinista concentra los valores y que varias regresiones tuvieron capacidad explicativa limitada. Por eso la decisión se considera razonable, pero no perfecta.</a:t>
            </a:r>
          </a:p>
          <a:p xmlns:a="http://schemas.openxmlformats.org/drawingml/2006/main">
            <a:r>
              <a:t/>
            </a:r>
          </a:p>
          <a:p xmlns:a="http://schemas.openxmlformats.org/drawingml/2006/main">
            <a:r>
              <a:t>Fuente: Figura 1 y resultados de imputación del notebook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Construimos tres modelos. M1 combinó seis variables destacadas en S1 y S2 e incorporó en S3 un término cuadrático para edad. M2 aplicó selección stepwise. M3 eliminó variables hacia atrás minimizando el BIC, un criterio que equilibra ajuste y complejidad. El AUC es el área bajo la curva ROC y resume la capacidad de discriminación. M2 obtuvo el mayor AUC promedio en validación cruzada, pero M3 quedó prácticamente empatado con tres variables menos. La regla de un error estándar favoreció M3 por parsimonia. El modelo final incluyó edad, cigarrillos diarios, presión sistólica, glucosa y sexo. El conjunto de prueba no participó en esta selección.</a:t>
            </a:r>
          </a:p>
          <a:p xmlns:a="http://schemas.openxmlformats.org/drawingml/2006/main">
            <a:r>
              <a:t/>
            </a:r>
          </a:p>
          <a:p xmlns:a="http://schemas.openxmlformats.org/drawingml/2006/main">
            <a:r>
              <a:t>Fuente: Tabla de comparación de modelos del notebook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el conjunto de prueba, M3 obtuvo un AUC de 0,7026, que corresponde a una discriminación moderada. La sensibilidad fue 0,6010, por lo que detectó aproximadamente seis de cada diez casos con enfermedad coronaria. La precisión fue 0,2479: cerca de una de cada cuatro alertas correspondió realmente a un caso positivo. F1 resume el equilibrio entre sensibilidad y precisión. En la matriz de confusión observamos 116 verdaderos positivos, 77 falsos negativos y 352 falsos positivos. La ponderación buscó aumentar la detección; con el umbral 0,5 se observaron esos 352 falsos positivos. Por eso estos puntajes no deben interpretarse como probabilidades clínicas calibradas.</a:t>
            </a:r>
          </a:p>
          <a:p xmlns:a="http://schemas.openxmlformats.org/drawingml/2006/main">
            <a:r>
              <a:t/>
            </a:r>
          </a:p>
          <a:p xmlns:a="http://schemas.openxmlformats.org/drawingml/2006/main">
            <a:r>
              <a:t>Fuente: Figura 2, métricas y matrices de confusión del notebook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Después evaluamos la estabilidad del modelo con bootstrap. Generamos mil remuestras con reemplazo del conjunto de entrenamiento y reajustamos el modelo en cada una. Los cinco intervalos de confianza, o IC, percentil al 95 por ciento de los odds ratios, también llamados razones de momios, quedaron por encima de uno y fueron próximos a los intervalos tradicionales de Wald. Esto indica que las asociaciones positivas fueron internamente estables. Sin embargo, el bootstrap usa el mismo origen de datos y mantiene fija la imputación y la selección. Por tanto, no demuestra causalidad ni reemplaza una validación externa.</a:t>
            </a:r>
          </a:p>
          <a:p xmlns:a="http://schemas.openxmlformats.org/drawingml/2006/main">
            <a:r>
              <a:t/>
            </a:r>
          </a:p>
          <a:p xmlns:a="http://schemas.openxmlformats.org/drawingml/2006/main">
            <a:r>
              <a:t>Fuente: Figura 3 e intervalos bootstrap del notebook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diagnósticos muestran dónde el modelo puede simplificar demasiado la realidad. El VIF máximo fue 1,239, muy por debajo del umbral práctico de cinco, por lo que no observamos multicolinealidad preocupante. La prueba de Box-Tidwell detectó no linealidad para la edad, con p igual a 0,0154. También identificamos observaciones influyentes mediante distancia de Cook y residuos de Pearson. Al retirarlas, los signos se mantuvieron, pero aumentaron algunas magnitudes. No eliminamos estos casos automáticamente porque pueden representar personas reales. La recomendación principal es modelar la edad con una forma más flexible.</a:t>
            </a:r>
          </a:p>
          <a:p xmlns:a="http://schemas.openxmlformats.org/drawingml/2006/main">
            <a:r>
              <a:t/>
            </a:r>
          </a:p>
          <a:p xmlns:a="http://schemas.openxmlformats.org/drawingml/2006/main">
            <a:r>
              <a:t>Fuente: Figura 4 y diagnósticos del modelo final en el notebook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 último, ajustamos M3 con las tres estrategias de datos faltantes y comparamos las versiones sobre las mismas 1.117 personas completas de prueba. Los valores de AUC fueron 0,7073 para eliminación y 0,7059 para ambas imputaciones. Los intervalos de los coeficientes también se superpusieron. Esto indica que la conclusión general cambió poco. La eliminación perdió 427 observaciones de entrenamiento y no entregó una ventaja clara. Sin embargo, esta comparación utiliza casos completos en prueba, de modo que no permite saber qué método imputaría mejor a una persona nueva con información faltante.</a:t>
            </a:r>
          </a:p>
          <a:p xmlns:a="http://schemas.openxmlformats.org/drawingml/2006/main">
            <a:r>
              <a:t/>
            </a:r>
          </a:p>
          <a:p xmlns:a="http://schemas.openxmlformats.org/drawingml/2006/main">
            <a:r>
              <a:t>Fuente: Figura 5 y análisis de sensibilidad a la imputación del notebook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conclusión, M3 ofreció el mejor equilibrio entre desempeño y simplicidad. El modelo detectó una parte relevante de los casos, pero su discriminación fue moderada y la baja precisión produjo numerosos falsos positivos. Las asociaciones fueron estables dentro del dataset, aunque eso no demuestra causalidad ni garantiza el mismo funcionamiento en otra población. Antes de aplicarlo habría que validarlo en otra población, calibrar los puntajes y elegir el umbral según el costo de los errores. También conviene anidar todo el preprocesamiento, comparar imputación múltiple y modelar la edad de forma flexible. El principal valor del trabajo es metodológico: integra exploración, validación y predicción de manera reproducible y reconoce con claridad sus límites. Muchas gracias.</a:t>
            </a:r>
          </a:p>
          <a:p xmlns:a="http://schemas.openxmlformats.org/drawingml/2006/main">
            <a:r>
              <a:t/>
            </a:r>
          </a:p>
          <a:p xmlns:a="http://schemas.openxmlformats.org/drawingml/2006/main">
            <a:r>
              <a:t>Fuente: discusión, conclusiones y recomendaciones del informe final integrado.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20f359cddc42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eea6e2fa35c45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fa7096d67d4c2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5fa4521c8a4a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0deb492e2c41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bf0566be4944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7A2B1E-2272-42C8-9D91-D852B3058F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7FEEF68-462C-40EB-9F37-628154D0C8F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F91D5F3-902C-4C0F-AB73-E0D6F33FEB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73D8A2-133D-4AAA-81A7-C181356A70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95744CA-DA69-4A92-BA92-31F20754CAA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A8FE74C-D129-46D7-8D3E-8BA748DCEC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EF11B1-4D77-43D1-BE7B-C9E62A5CA6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9297A1-CCEE-4AFC-8578-10026E2F4C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07BC38-736F-49ED-AF7C-77A9A2AA3B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022287-2DA4-4D6C-913A-800662F336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e5c986db034a58" /><Relationship Type="http://schemas.openxmlformats.org/officeDocument/2006/relationships/slideLayout" Target="/ppt/slideLayouts/slideLayout1.xml" Id="Rc26da81fc8f34e53" /><Relationship Type="http://schemas.openxmlformats.org/officeDocument/2006/relationships/slideLayout" Target="/ppt/slideLayouts/slideLayout2.xml" Id="R636434fcda0e4a5d" /><Relationship Type="http://schemas.openxmlformats.org/officeDocument/2006/relationships/slideLayout" Target="/ppt/slideLayouts/slideLayout3.xml" Id="R8671d9a383d148d2" /><Relationship Type="http://schemas.openxmlformats.org/officeDocument/2006/relationships/slideLayout" Target="/ppt/slideLayouts/slideLayout4.xml" Id="Ra29f044bf2344764" /><Relationship Type="http://schemas.openxmlformats.org/officeDocument/2006/relationships/slideLayout" Target="/ppt/slideLayouts/slideLayout5.xml" Id="Rec8794d13e0c492d" /><Relationship Type="http://schemas.openxmlformats.org/officeDocument/2006/relationships/slideLayout" Target="/ppt/slideLayouts/slideLayout6.xml" Id="R6562671f910543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6da81fc8f34e53"/>
    <p:sldLayoutId xmlns:r="http://schemas.openxmlformats.org/officeDocument/2006/relationships" id="2147483650" r:id="R636434fcda0e4a5d"/>
    <p:sldLayoutId xmlns:r="http://schemas.openxmlformats.org/officeDocument/2006/relationships" id="2147483651" r:id="R8671d9a383d148d2"/>
    <p:sldLayoutId xmlns:r="http://schemas.openxmlformats.org/officeDocument/2006/relationships" id="2147483652" r:id="Ra29f044bf2344764"/>
    <p:sldLayoutId xmlns:r="http://schemas.openxmlformats.org/officeDocument/2006/relationships" id="2147483653" r:id="Rec8794d13e0c492d"/>
    <p:sldLayoutId xmlns:r="http://schemas.openxmlformats.org/officeDocument/2006/relationships" id="2147483654" r:id="R6562671f910543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94f2fbda984b29" /><Relationship Type="http://schemas.openxmlformats.org/officeDocument/2006/relationships/image" Target="/ppt/media/image.png" Id="R03c23b49464c4ca8" /><Relationship Type="http://schemas.openxmlformats.org/officeDocument/2006/relationships/notesSlide" Target="/ppt/notesSlides/notesSlide1.xml" Id="Rbc112f30e9d847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7f1e26e28c6452d" /><Relationship Type="http://schemas.openxmlformats.org/officeDocument/2006/relationships/notesSlide" Target="/ppt/notesSlides/notesSlide2.xml" Id="R0322c67aa0a449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afcb866c3184553" /><Relationship Type="http://schemas.openxmlformats.org/officeDocument/2006/relationships/notesSlide" Target="/ppt/notesSlides/notesSlide3.xml" Id="R1463f8e7d7e040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e5574d168bc4608" /><Relationship Type="http://schemas.openxmlformats.org/officeDocument/2006/relationships/image" Target="/ppt/media/image2.png" Id="Rf24266a28d4a43e4" /><Relationship Type="http://schemas.openxmlformats.org/officeDocument/2006/relationships/notesSlide" Target="/ppt/notesSlides/notesSlide4.xml" Id="R84ed91dc96ce48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c397af7535c49e9" /><Relationship Type="http://schemas.openxmlformats.org/officeDocument/2006/relationships/notesSlide" Target="/ppt/notesSlides/notesSlide5.xml" Id="Rc0ee88c5759b466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fb22e8926b94d2d" /><Relationship Type="http://schemas.openxmlformats.org/officeDocument/2006/relationships/image" Target="/ppt/media/image3.png" Id="Rd7f269ba502c42b0" /><Relationship Type="http://schemas.openxmlformats.org/officeDocument/2006/relationships/notesSlide" Target="/ppt/notesSlides/notesSlide6.xml" Id="R42cb5c67318c4b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2417935ddb4531" /><Relationship Type="http://schemas.openxmlformats.org/officeDocument/2006/relationships/image" Target="/ppt/media/image4.png" Id="Rbe65dc9f9fea4d84" /><Relationship Type="http://schemas.openxmlformats.org/officeDocument/2006/relationships/notesSlide" Target="/ppt/notesSlides/notesSlide7.xml" Id="R78bf1a19add148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4d6095b242429f" /><Relationship Type="http://schemas.openxmlformats.org/officeDocument/2006/relationships/image" Target="/ppt/media/image5.png" Id="R8ca94d263ac445c7" /><Relationship Type="http://schemas.openxmlformats.org/officeDocument/2006/relationships/notesSlide" Target="/ppt/notesSlides/notesSlide8.xml" Id="R030e00ce64d444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69fc6feac184d85" /><Relationship Type="http://schemas.openxmlformats.org/officeDocument/2006/relationships/image" Target="/ppt/media/image6.png" Id="R1522a990db9d4742" /><Relationship Type="http://schemas.openxmlformats.org/officeDocument/2006/relationships/notesSlide" Target="/ppt/notesSlides/notesSlide9.xml" Id="R935046aa668543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4ad5bd2ec1543e9" /><Relationship Type="http://schemas.openxmlformats.org/officeDocument/2006/relationships/notesSlide" Target="/ppt/notesSlides/notesSlide10.xml" Id="Ree1375fec7104b7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AA1C67B-53F3-4030-9099-CFEA6F8587E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070B3F93-FC1C-40B0-874E-4E92B0D2E9F1}"/>
              </a:ext>
            </a:extLst>
          </p:cNvPr>
          <p:cNvPicPr>
            <a:picLocks xmlns:a="http://schemas.openxmlformats.org/drawingml/2006/main" noChangeAspect="1"/>
          </p:cNvPicPr>
          <p:nvPr/>
        </p:nvPicPr>
        <p:blipFill>
          <a:blip xmlns:r="http://schemas.openxmlformats.org/officeDocument/2006/relationships" xmlns:a="http://schemas.openxmlformats.org/drawingml/2006/main" r:embed="R03c23b49464c4ca8"/>
          <a:stretch xmlns:a="http://schemas.openxmlformats.org/drawingml/2006/main"/>
        </p:blipFill>
        <p:spPr>
          <a:xfrm xmlns:a="http://schemas.openxmlformats.org/drawingml/2006/main">
            <a:off x="5377632" y="523875"/>
            <a:ext cx="1436736" cy="11906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59E0B45-3005-440D-9DA6-8EC7CE8A9C23}"/>
              </a:ext>
            </a:extLst>
          </p:cNvPr>
          <p:cNvSpPr>
            <a:spLocks xmlns:a="http://schemas.openxmlformats.org/drawingml/2006/main" noGrp="1"/>
          </p:cNvSpPr>
          <p:nvPr/>
        </p:nvSpPr>
        <p:spPr>
          <a:xfrm xmlns:a="http://schemas.openxmlformats.org/drawingml/2006/main">
            <a:off x="1143000" y="2143125"/>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3150" b="1">
                <a:solidFill>
                  <a:srgbClr val="123456"/>
                </a:solidFill>
              </a:defRPr>
            </a:defPPr>
            <a:lvl1pPr algn="ctr">
              <a:defRPr sz="3150" b="1">
                <a:solidFill>
                  <a:srgbClr val="123456"/>
                </a:solidFill>
              </a:defRPr>
            </a:lvl1pPr>
            <a:lvl2pPr algn="ctr">
              <a:defRPr sz="3150" b="1">
                <a:solidFill>
                  <a:srgbClr val="123456"/>
                </a:solidFill>
              </a:defRPr>
            </a:lvl2pPr>
            <a:lvl3pPr algn="ctr">
              <a:defRPr sz="3150" b="1">
                <a:solidFill>
                  <a:srgbClr val="123456"/>
                </a:solidFill>
              </a:defRPr>
            </a:lvl3pPr>
            <a:lvl4pPr algn="ctr">
              <a:defRPr sz="3150" b="1">
                <a:solidFill>
                  <a:srgbClr val="123456"/>
                </a:solidFill>
              </a:defRPr>
            </a:lvl4pPr>
            <a:lvl5pPr algn="ctr">
              <a:defRPr sz="3150" b="1">
                <a:solidFill>
                  <a:srgbClr val="123456"/>
                </a:solidFill>
              </a:defRPr>
            </a:lvl5pPr>
            <a:lvl6pPr algn="ctr">
              <a:defRPr sz="3150" b="1">
                <a:solidFill>
                  <a:srgbClr val="123456"/>
                </a:solidFill>
              </a:defRPr>
            </a:lvl6pPr>
            <a:lvl7pPr algn="ctr">
              <a:defRPr sz="3150" b="1">
                <a:solidFill>
                  <a:srgbClr val="123456"/>
                </a:solidFill>
              </a:defRPr>
            </a:lvl7pPr>
            <a:lvl8pPr algn="ctr">
              <a:defRPr sz="3150" b="1">
                <a:solidFill>
                  <a:srgbClr val="123456"/>
                </a:solidFill>
              </a:defRPr>
            </a:lvl8pPr>
            <a:lvl9pPr algn="ctr">
              <a:defRPr sz="3150" b="1">
                <a:solidFill>
                  <a:srgbClr val="123456"/>
                </a:solidFill>
              </a:defRPr>
            </a:lvl9pPr>
          </a:lstStyle>
          <a:p xmlns:a="http://schemas.openxmlformats.org/drawingml/2006/main">
            <a:pPr algn="ctr">
              <a:defRPr sz="3150" b="1">
                <a:solidFill>
                  <a:srgbClr val="123456"/>
                </a:solidFill>
              </a:defRPr>
            </a:pPr>
            <a:r>
              <a:rPr sz="3150" b="1">
                <a:solidFill>
                  <a:srgbClr val="123456"/>
                </a:solidFill>
              </a:rPr>
              <a:t>Evaluación Sumativa 3</a:t>
            </a:r>
          </a:p>
        </p:txBody>
      </p:sp>
      <p:sp>
        <p:nvSpPr>
          <p:cNvPr id="4" name="">
            <a:extLst xmlns:a="http://schemas.openxmlformats.org/drawingml/2006/main">
              <a:ext uri="{FF2B5EF4-FFF2-40B4-BE49-F238E27FC236}">
                <a16:creationId xmlns:a16="http://schemas.microsoft.com/office/drawing/2014/main" id="{30BE7501-41FA-4456-99B0-D1AE2EF17183}"/>
              </a:ext>
            </a:extLst>
          </p:cNvPr>
          <p:cNvSpPr>
            <a:spLocks xmlns:a="http://schemas.openxmlformats.org/drawingml/2006/main" noGrp="1"/>
          </p:cNvSpPr>
          <p:nvPr/>
        </p:nvSpPr>
        <p:spPr>
          <a:xfrm xmlns:a="http://schemas.openxmlformats.org/drawingml/2006/main">
            <a:off x="1524000" y="2781300"/>
            <a:ext cx="914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100" b="1">
                <a:solidFill>
                  <a:srgbClr val="176B87"/>
                </a:solidFill>
              </a:defRPr>
            </a:defPPr>
            <a:lvl1pPr algn="ctr">
              <a:defRPr sz="2100" b="1">
                <a:solidFill>
                  <a:srgbClr val="176B87"/>
                </a:solidFill>
              </a:defRPr>
            </a:lvl1pPr>
            <a:lvl2pPr algn="ctr">
              <a:defRPr sz="2100" b="1">
                <a:solidFill>
                  <a:srgbClr val="176B87"/>
                </a:solidFill>
              </a:defRPr>
            </a:lvl2pPr>
            <a:lvl3pPr algn="ctr">
              <a:defRPr sz="2100" b="1">
                <a:solidFill>
                  <a:srgbClr val="176B87"/>
                </a:solidFill>
              </a:defRPr>
            </a:lvl3pPr>
            <a:lvl4pPr algn="ctr">
              <a:defRPr sz="2100" b="1">
                <a:solidFill>
                  <a:srgbClr val="176B87"/>
                </a:solidFill>
              </a:defRPr>
            </a:lvl4pPr>
            <a:lvl5pPr algn="ctr">
              <a:defRPr sz="2100" b="1">
                <a:solidFill>
                  <a:srgbClr val="176B87"/>
                </a:solidFill>
              </a:defRPr>
            </a:lvl5pPr>
            <a:lvl6pPr algn="ctr">
              <a:defRPr sz="2100" b="1">
                <a:solidFill>
                  <a:srgbClr val="176B87"/>
                </a:solidFill>
              </a:defRPr>
            </a:lvl6pPr>
            <a:lvl7pPr algn="ctr">
              <a:defRPr sz="2100" b="1">
                <a:solidFill>
                  <a:srgbClr val="176B87"/>
                </a:solidFill>
              </a:defRPr>
            </a:lvl7pPr>
            <a:lvl8pPr algn="ctr">
              <a:defRPr sz="2100" b="1">
                <a:solidFill>
                  <a:srgbClr val="176B87"/>
                </a:solidFill>
              </a:defRPr>
            </a:lvl8pPr>
            <a:lvl9pPr algn="ctr">
              <a:defRPr sz="2100" b="1">
                <a:solidFill>
                  <a:srgbClr val="176B87"/>
                </a:solidFill>
              </a:defRPr>
            </a:lvl9pPr>
          </a:lstStyle>
          <a:p xmlns:a="http://schemas.openxmlformats.org/drawingml/2006/main">
            <a:pPr algn="ctr">
              <a:defRPr sz="2100" b="1">
                <a:solidFill>
                  <a:srgbClr val="176B87"/>
                </a:solidFill>
              </a:defRPr>
            </a:pPr>
            <a:r>
              <a:rPr sz="2100" b="1">
                <a:solidFill>
                  <a:srgbClr val="176B87"/>
                </a:solidFill>
              </a:rPr>
              <a:t>Modelamiento predictivo integrado</a:t>
            </a:r>
          </a:p>
        </p:txBody>
      </p:sp>
      <p:sp>
        <p:nvSpPr>
          <p:cNvPr id="5" name="">
            <a:extLst xmlns:a="http://schemas.openxmlformats.org/drawingml/2006/main">
              <a:ext uri="{FF2B5EF4-FFF2-40B4-BE49-F238E27FC236}">
                <a16:creationId xmlns:a16="http://schemas.microsoft.com/office/drawing/2014/main" id="{A613A989-4E30-42B0-A382-B10DF7BE4CC2}"/>
              </a:ext>
            </a:extLst>
          </p:cNvPr>
          <p:cNvSpPr>
            <a:spLocks xmlns:a="http://schemas.openxmlformats.org/drawingml/2006/main" noGrp="1"/>
          </p:cNvSpPr>
          <p:nvPr/>
        </p:nvSpPr>
        <p:spPr>
          <a:xfrm xmlns:a="http://schemas.openxmlformats.org/drawingml/2006/main">
            <a:off x="1524000" y="3333750"/>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0">
                <a:solidFill>
                  <a:srgbClr val="1E293B"/>
                </a:solidFill>
              </a:defRPr>
            </a:defPPr>
            <a:lvl1pPr algn="ctr">
              <a:defRPr sz="1650" b="0">
                <a:solidFill>
                  <a:srgbClr val="1E293B"/>
                </a:solidFill>
              </a:defRPr>
            </a:lvl1pPr>
            <a:lvl2pPr algn="ctr">
              <a:defRPr sz="1650" b="0">
                <a:solidFill>
                  <a:srgbClr val="1E293B"/>
                </a:solidFill>
              </a:defRPr>
            </a:lvl2pPr>
            <a:lvl3pPr algn="ctr">
              <a:defRPr sz="1650" b="0">
                <a:solidFill>
                  <a:srgbClr val="1E293B"/>
                </a:solidFill>
              </a:defRPr>
            </a:lvl3pPr>
            <a:lvl4pPr algn="ctr">
              <a:defRPr sz="1650" b="0">
                <a:solidFill>
                  <a:srgbClr val="1E293B"/>
                </a:solidFill>
              </a:defRPr>
            </a:lvl4pPr>
            <a:lvl5pPr algn="ctr">
              <a:defRPr sz="1650" b="0">
                <a:solidFill>
                  <a:srgbClr val="1E293B"/>
                </a:solidFill>
              </a:defRPr>
            </a:lvl5pPr>
            <a:lvl6pPr algn="ctr">
              <a:defRPr sz="1650" b="0">
                <a:solidFill>
                  <a:srgbClr val="1E293B"/>
                </a:solidFill>
              </a:defRPr>
            </a:lvl6pPr>
            <a:lvl7pPr algn="ctr">
              <a:defRPr sz="1650" b="0">
                <a:solidFill>
                  <a:srgbClr val="1E293B"/>
                </a:solidFill>
              </a:defRPr>
            </a:lvl7pPr>
            <a:lvl8pPr algn="ctr">
              <a:defRPr sz="1650" b="0">
                <a:solidFill>
                  <a:srgbClr val="1E293B"/>
                </a:solidFill>
              </a:defRPr>
            </a:lvl8pPr>
            <a:lvl9pPr algn="ctr">
              <a:defRPr sz="1650" b="0">
                <a:solidFill>
                  <a:srgbClr val="1E293B"/>
                </a:solidFill>
              </a:defRPr>
            </a:lvl9pPr>
          </a:lstStyle>
          <a:p xmlns:a="http://schemas.openxmlformats.org/drawingml/2006/main">
            <a:pPr algn="ctr">
              <a:defRPr sz="1650" b="0">
                <a:solidFill>
                  <a:srgbClr val="1E293B"/>
                </a:solidFill>
              </a:defRPr>
            </a:pPr>
            <a:r>
              <a:rPr sz="1650" b="0">
                <a:solidFill>
                  <a:srgbClr val="1E293B"/>
                </a:solidFill>
              </a:rPr>
              <a:t>Riesgo de enfermedad coronaria a diez años</a:t>
            </a:r>
          </a:p>
        </p:txBody>
      </p:sp>
      <p:sp>
        <p:nvSpPr>
          <p:cNvPr id="6" name="">
            <a:extLst xmlns:a="http://schemas.openxmlformats.org/drawingml/2006/main">
              <a:ext uri="{FF2B5EF4-FFF2-40B4-BE49-F238E27FC236}">
                <a16:creationId xmlns:a16="http://schemas.microsoft.com/office/drawing/2014/main" id="{A4710DC3-A24B-4B9B-9AD9-39AAE7768F8D}"/>
              </a:ext>
            </a:extLst>
          </p:cNvPr>
          <p:cNvSpPr>
            <a:spLocks xmlns:a="http://schemas.openxmlformats.org/drawingml/2006/main" noGrp="1"/>
          </p:cNvSpPr>
          <p:nvPr/>
        </p:nvSpPr>
        <p:spPr>
          <a:xfrm xmlns:a="http://schemas.openxmlformats.org/drawingml/2006/main">
            <a:off x="4476750" y="3943350"/>
            <a:ext cx="3238500" cy="28575"/>
          </a:xfrm>
          <a:prstGeom xmlns:a="http://schemas.openxmlformats.org/drawingml/2006/main" prst="rect">
            <a:avLst/>
          </a:prstGeom>
          <a:solidFill xmlns:a="http://schemas.openxmlformats.org/drawingml/2006/main">
            <a:srgbClr val="2B8C8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0947EDA-9560-4C22-9D84-F6839A2B5A65}"/>
              </a:ext>
            </a:extLst>
          </p:cNvPr>
          <p:cNvSpPr>
            <a:spLocks xmlns:a="http://schemas.openxmlformats.org/drawingml/2006/main" noGrp="1"/>
          </p:cNvSpPr>
          <p:nvPr/>
        </p:nvSpPr>
        <p:spPr>
          <a:xfrm xmlns:a="http://schemas.openxmlformats.org/drawingml/2006/main">
            <a:off x="1905000" y="4429125"/>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1E293B"/>
                </a:solidFill>
              </a:defRPr>
            </a:defPPr>
            <a:lvl1pPr algn="ctr">
              <a:defRPr sz="1500" b="1">
                <a:solidFill>
                  <a:srgbClr val="1E293B"/>
                </a:solidFill>
              </a:defRPr>
            </a:lvl1pPr>
            <a:lvl2pPr algn="ctr">
              <a:defRPr sz="1500" b="1">
                <a:solidFill>
                  <a:srgbClr val="1E293B"/>
                </a:solidFill>
              </a:defRPr>
            </a:lvl2pPr>
            <a:lvl3pPr algn="ctr">
              <a:defRPr sz="1500" b="1">
                <a:solidFill>
                  <a:srgbClr val="1E293B"/>
                </a:solidFill>
              </a:defRPr>
            </a:lvl3pPr>
            <a:lvl4pPr algn="ctr">
              <a:defRPr sz="1500" b="1">
                <a:solidFill>
                  <a:srgbClr val="1E293B"/>
                </a:solidFill>
              </a:defRPr>
            </a:lvl4pPr>
            <a:lvl5pPr algn="ctr">
              <a:defRPr sz="1500" b="1">
                <a:solidFill>
                  <a:srgbClr val="1E293B"/>
                </a:solidFill>
              </a:defRPr>
            </a:lvl5pPr>
            <a:lvl6pPr algn="ctr">
              <a:defRPr sz="1500" b="1">
                <a:solidFill>
                  <a:srgbClr val="1E293B"/>
                </a:solidFill>
              </a:defRPr>
            </a:lvl6pPr>
            <a:lvl7pPr algn="ctr">
              <a:defRPr sz="1500" b="1">
                <a:solidFill>
                  <a:srgbClr val="1E293B"/>
                </a:solidFill>
              </a:defRPr>
            </a:lvl7pPr>
            <a:lvl8pPr algn="ctr">
              <a:defRPr sz="1500" b="1">
                <a:solidFill>
                  <a:srgbClr val="1E293B"/>
                </a:solidFill>
              </a:defRPr>
            </a:lvl8pPr>
            <a:lvl9pPr algn="ctr">
              <a:defRPr sz="1500" b="1">
                <a:solidFill>
                  <a:srgbClr val="1E293B"/>
                </a:solidFill>
              </a:defRPr>
            </a:lvl9pPr>
          </a:lstStyle>
          <a:p xmlns:a="http://schemas.openxmlformats.org/drawingml/2006/main">
            <a:pPr algn="ctr">
              <a:defRPr sz="1500" b="1">
                <a:solidFill>
                  <a:srgbClr val="1E293B"/>
                </a:solidFill>
              </a:defRPr>
            </a:pPr>
            <a:r>
              <a:rPr sz="1500" b="1">
                <a:solidFill>
                  <a:srgbClr val="1E293B"/>
                </a:solidFill>
              </a:rPr>
              <a:t>Alexander Sepúlveda Ormazábal</a:t>
            </a:r>
          </a:p>
        </p:txBody>
      </p:sp>
      <p:sp>
        <p:nvSpPr>
          <p:cNvPr id="8" name="">
            <a:extLst xmlns:a="http://schemas.openxmlformats.org/drawingml/2006/main">
              <a:ext uri="{FF2B5EF4-FFF2-40B4-BE49-F238E27FC236}">
                <a16:creationId xmlns:a16="http://schemas.microsoft.com/office/drawing/2014/main" id="{A6449991-72E8-4D85-BC3B-91CF4BFD67B5}"/>
              </a:ext>
            </a:extLst>
          </p:cNvPr>
          <p:cNvSpPr>
            <a:spLocks xmlns:a="http://schemas.openxmlformats.org/drawingml/2006/main" noGrp="1"/>
          </p:cNvSpPr>
          <p:nvPr/>
        </p:nvSpPr>
        <p:spPr>
          <a:xfrm xmlns:a="http://schemas.openxmlformats.org/drawingml/2006/main">
            <a:off x="1905000" y="4838700"/>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0">
                <a:solidFill>
                  <a:srgbClr val="526274"/>
                </a:solidFill>
              </a:defRPr>
            </a:defPPr>
            <a:lvl1pPr algn="ctr">
              <a:defRPr sz="1200" b="0">
                <a:solidFill>
                  <a:srgbClr val="526274"/>
                </a:solidFill>
              </a:defRPr>
            </a:lvl1pPr>
            <a:lvl2pPr algn="ctr">
              <a:defRPr sz="1200" b="0">
                <a:solidFill>
                  <a:srgbClr val="526274"/>
                </a:solidFill>
              </a:defRPr>
            </a:lvl2pPr>
            <a:lvl3pPr algn="ctr">
              <a:defRPr sz="1200" b="0">
                <a:solidFill>
                  <a:srgbClr val="526274"/>
                </a:solidFill>
              </a:defRPr>
            </a:lvl3pPr>
            <a:lvl4pPr algn="ctr">
              <a:defRPr sz="1200" b="0">
                <a:solidFill>
                  <a:srgbClr val="526274"/>
                </a:solidFill>
              </a:defRPr>
            </a:lvl4pPr>
            <a:lvl5pPr algn="ctr">
              <a:defRPr sz="1200" b="0">
                <a:solidFill>
                  <a:srgbClr val="526274"/>
                </a:solidFill>
              </a:defRPr>
            </a:lvl5pPr>
            <a:lvl6pPr algn="ctr">
              <a:defRPr sz="1200" b="0">
                <a:solidFill>
                  <a:srgbClr val="526274"/>
                </a:solidFill>
              </a:defRPr>
            </a:lvl6pPr>
            <a:lvl7pPr algn="ctr">
              <a:defRPr sz="1200" b="0">
                <a:solidFill>
                  <a:srgbClr val="526274"/>
                </a:solidFill>
              </a:defRPr>
            </a:lvl7pPr>
            <a:lvl8pPr algn="ctr">
              <a:defRPr sz="1200" b="0">
                <a:solidFill>
                  <a:srgbClr val="526274"/>
                </a:solidFill>
              </a:defRPr>
            </a:lvl8pPr>
            <a:lvl9pPr algn="ctr">
              <a:defRPr sz="1200" b="0">
                <a:solidFill>
                  <a:srgbClr val="526274"/>
                </a:solidFill>
              </a:defRPr>
            </a:lvl9pPr>
          </a:lstStyle>
          <a:p xmlns:a="http://schemas.openxmlformats.org/drawingml/2006/main">
            <a:pPr algn="ctr">
              <a:defRPr sz="1200" b="0">
                <a:solidFill>
                  <a:srgbClr val="526274"/>
                </a:solidFill>
              </a:defRPr>
            </a:pPr>
            <a:r>
              <a:rPr sz="1200" b="0">
                <a:solidFill>
                  <a:srgbClr val="526274"/>
                </a:solidFill>
              </a:rPr>
              <a:t>MCDI501 · Universidad Andrés Bello · 2026</a:t>
            </a:r>
          </a:p>
        </p:txBody>
      </p:sp>
      <p:sp>
        <p:nvSpPr>
          <p:cNvPr id="9" name="">
            <a:extLst xmlns:a="http://schemas.openxmlformats.org/drawingml/2006/main">
              <a:ext uri="{FF2B5EF4-FFF2-40B4-BE49-F238E27FC236}">
                <a16:creationId xmlns:a16="http://schemas.microsoft.com/office/drawing/2014/main" id="{DD7B0B17-2C90-4836-9326-67808483D099}"/>
              </a:ext>
            </a:extLst>
          </p:cNvPr>
          <p:cNvSpPr>
            <a:spLocks xmlns:a="http://schemas.openxmlformats.org/drawingml/2006/main" noGrp="1"/>
          </p:cNvSpPr>
          <p:nvPr/>
        </p:nvSpPr>
        <p:spPr>
          <a:xfrm xmlns:a="http://schemas.openxmlformats.org/drawingml/2006/main">
            <a:off x="1905000" y="5762625"/>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Presentación de 10 minutos</a:t>
            </a:r>
          </a:p>
        </p:txBody>
      </p:sp>
    </p:spTree>
    <p:extLst>
      <p:ext uri="{BB962C8B-B14F-4D97-AF65-F5344CB8AC3E}">
        <p14:creationId xmlns:p14="http://schemas.microsoft.com/office/powerpoint/2010/main" val="2926713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83C49E6-FE26-4145-A8ED-6BAE571A5C71}"/>
              </a:ext>
            </a:extLst>
          </p:cNvPr>
          <p:cNvSpPr>
            <a:spLocks xmlns:a="http://schemas.openxmlformats.org/drawingml/2006/main" noGrp="1"/>
          </p:cNvSpPr>
          <p:nvPr/>
        </p:nvSpPr>
        <p:spPr>
          <a:xfrm xmlns:a="http://schemas.openxmlformats.org/drawingml/2006/main">
            <a:off x="685800" y="400050"/>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123456"/>
                </a:solidFill>
              </a:defRPr>
            </a:defPPr>
            <a:lvl1pPr algn="l">
              <a:defRPr sz="2400" b="1">
                <a:solidFill>
                  <a:srgbClr val="123456"/>
                </a:solidFill>
              </a:defRPr>
            </a:lvl1pPr>
            <a:lvl2pPr algn="l">
              <a:defRPr sz="2400" b="1">
                <a:solidFill>
                  <a:srgbClr val="123456"/>
                </a:solidFill>
              </a:defRPr>
            </a:lvl2pPr>
            <a:lvl3pPr algn="l">
              <a:defRPr sz="2400" b="1">
                <a:solidFill>
                  <a:srgbClr val="123456"/>
                </a:solidFill>
              </a:defRPr>
            </a:lvl3pPr>
            <a:lvl4pPr algn="l">
              <a:defRPr sz="2400" b="1">
                <a:solidFill>
                  <a:srgbClr val="123456"/>
                </a:solidFill>
              </a:defRPr>
            </a:lvl4pPr>
            <a:lvl5pPr algn="l">
              <a:defRPr sz="2400" b="1">
                <a:solidFill>
                  <a:srgbClr val="123456"/>
                </a:solidFill>
              </a:defRPr>
            </a:lvl5pPr>
            <a:lvl6pPr algn="l">
              <a:defRPr sz="2400" b="1">
                <a:solidFill>
                  <a:srgbClr val="123456"/>
                </a:solidFill>
              </a:defRPr>
            </a:lvl6pPr>
            <a:lvl7pPr algn="l">
              <a:defRPr sz="2400" b="1">
                <a:solidFill>
                  <a:srgbClr val="123456"/>
                </a:solidFill>
              </a:defRPr>
            </a:lvl7pPr>
            <a:lvl8pPr algn="l">
              <a:defRPr sz="2400" b="1">
                <a:solidFill>
                  <a:srgbClr val="123456"/>
                </a:solidFill>
              </a:defRPr>
            </a:lvl8pPr>
            <a:lvl9pPr algn="l">
              <a:defRPr sz="2400" b="1">
                <a:solidFill>
                  <a:srgbClr val="123456"/>
                </a:solidFill>
              </a:defRPr>
            </a:lvl9pPr>
          </a:lstStyle>
          <a:p xmlns:a="http://schemas.openxmlformats.org/drawingml/2006/main">
            <a:pPr algn="l">
              <a:defRPr sz="2400" b="1">
                <a:solidFill>
                  <a:srgbClr val="123456"/>
                </a:solidFill>
              </a:defRPr>
            </a:pPr>
            <a:r>
              <a:rPr sz="2400" b="1">
                <a:solidFill>
                  <a:srgbClr val="123456"/>
                </a:solidFill>
              </a:rPr>
              <a:t>Problema y datos</a:t>
            </a:r>
          </a:p>
        </p:txBody>
      </p:sp>
      <p:sp>
        <p:nvSpPr>
          <p:cNvPr id="2" name="">
            <a:extLst xmlns:a="http://schemas.openxmlformats.org/drawingml/2006/main">
              <a:ext uri="{FF2B5EF4-FFF2-40B4-BE49-F238E27FC236}">
                <a16:creationId xmlns:a16="http://schemas.microsoft.com/office/drawing/2014/main" id="{F7BA1F5A-D604-454C-A37C-160F1DE6DB04}"/>
              </a:ext>
            </a:extLst>
          </p:cNvPr>
          <p:cNvSpPr>
            <a:spLocks xmlns:a="http://schemas.openxmlformats.org/drawingml/2006/main" noGrp="1"/>
          </p:cNvSpPr>
          <p:nvPr/>
        </p:nvSpPr>
        <p:spPr>
          <a:xfrm xmlns:a="http://schemas.openxmlformats.org/drawingml/2006/main">
            <a:off x="685800" y="990600"/>
            <a:ext cx="108204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2A7494-7D16-4D1A-86EC-519D1A871D36}"/>
              </a:ext>
            </a:extLst>
          </p:cNvPr>
          <p:cNvSpPr>
            <a:spLocks xmlns:a="http://schemas.openxmlformats.org/drawingml/2006/main" noGrp="1"/>
          </p:cNvSpPr>
          <p:nvPr/>
        </p:nvSpPr>
        <p:spPr>
          <a:xfrm xmlns:a="http://schemas.openxmlformats.org/drawingml/2006/main">
            <a:off x="10363200" y="419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526274"/>
                </a:solidFill>
              </a:defRPr>
            </a:defPPr>
            <a:lvl1pPr algn="r">
              <a:defRPr sz="1200" b="1">
                <a:solidFill>
                  <a:srgbClr val="526274"/>
                </a:solidFill>
              </a:defRPr>
            </a:lvl1pPr>
            <a:lvl2pPr algn="r">
              <a:defRPr sz="1200" b="1">
                <a:solidFill>
                  <a:srgbClr val="526274"/>
                </a:solidFill>
              </a:defRPr>
            </a:lvl2pPr>
            <a:lvl3pPr algn="r">
              <a:defRPr sz="1200" b="1">
                <a:solidFill>
                  <a:srgbClr val="526274"/>
                </a:solidFill>
              </a:defRPr>
            </a:lvl3pPr>
            <a:lvl4pPr algn="r">
              <a:defRPr sz="1200" b="1">
                <a:solidFill>
                  <a:srgbClr val="526274"/>
                </a:solidFill>
              </a:defRPr>
            </a:lvl4pPr>
            <a:lvl5pPr algn="r">
              <a:defRPr sz="1200" b="1">
                <a:solidFill>
                  <a:srgbClr val="526274"/>
                </a:solidFill>
              </a:defRPr>
            </a:lvl5pPr>
            <a:lvl6pPr algn="r">
              <a:defRPr sz="1200" b="1">
                <a:solidFill>
                  <a:srgbClr val="526274"/>
                </a:solidFill>
              </a:defRPr>
            </a:lvl6pPr>
            <a:lvl7pPr algn="r">
              <a:defRPr sz="1200" b="1">
                <a:solidFill>
                  <a:srgbClr val="526274"/>
                </a:solidFill>
              </a:defRPr>
            </a:lvl7pPr>
            <a:lvl8pPr algn="r">
              <a:defRPr sz="1200" b="1">
                <a:solidFill>
                  <a:srgbClr val="526274"/>
                </a:solidFill>
              </a:defRPr>
            </a:lvl8pPr>
            <a:lvl9pPr algn="r">
              <a:defRPr sz="1200" b="1">
                <a:solidFill>
                  <a:srgbClr val="526274"/>
                </a:solidFill>
              </a:defRPr>
            </a:lvl9pPr>
          </a:lstStyle>
          <a:p xmlns:a="http://schemas.openxmlformats.org/drawingml/2006/main">
            <a:pPr algn="r">
              <a:defRPr sz="1200" b="1">
                <a:solidFill>
                  <a:srgbClr val="526274"/>
                </a:solidFill>
              </a:defRPr>
            </a:pPr>
            <a:r>
              <a:rPr sz="1200" b="1">
                <a:solidFill>
                  <a:srgbClr val="526274"/>
                </a:solidFill>
              </a:rPr>
              <a:t>02</a:t>
            </a:r>
          </a:p>
        </p:txBody>
      </p:sp>
      <p:sp>
        <p:nvSpPr>
          <p:cNvPr id="4" name="">
            <a:extLst xmlns:a="http://schemas.openxmlformats.org/drawingml/2006/main">
              <a:ext uri="{FF2B5EF4-FFF2-40B4-BE49-F238E27FC236}">
                <a16:creationId xmlns:a16="http://schemas.microsoft.com/office/drawing/2014/main" id="{9A7AB0E2-9496-4C48-B1EF-F05E19FF8FCE}"/>
              </a:ext>
            </a:extLst>
          </p:cNvPr>
          <p:cNvSpPr>
            <a:spLocks xmlns:a="http://schemas.openxmlformats.org/drawingml/2006/main" noGrp="1"/>
          </p:cNvSpPr>
          <p:nvPr/>
        </p:nvSpPr>
        <p:spPr>
          <a:xfrm xmlns:a="http://schemas.openxmlformats.org/drawingml/2006/main">
            <a:off x="723900" y="12954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76B87"/>
                </a:solidFill>
              </a:defRPr>
            </a:defPPr>
            <a:lvl1pPr algn="l">
              <a:defRPr sz="1350" b="1">
                <a:solidFill>
                  <a:srgbClr val="176B87"/>
                </a:solidFill>
              </a:defRPr>
            </a:lvl1pPr>
            <a:lvl2pPr algn="l">
              <a:defRPr sz="1350" b="1">
                <a:solidFill>
                  <a:srgbClr val="176B87"/>
                </a:solidFill>
              </a:defRPr>
            </a:lvl2pPr>
            <a:lvl3pPr algn="l">
              <a:defRPr sz="1350" b="1">
                <a:solidFill>
                  <a:srgbClr val="176B87"/>
                </a:solidFill>
              </a:defRPr>
            </a:lvl3pPr>
            <a:lvl4pPr algn="l">
              <a:defRPr sz="1350" b="1">
                <a:solidFill>
                  <a:srgbClr val="176B87"/>
                </a:solidFill>
              </a:defRPr>
            </a:lvl4pPr>
            <a:lvl5pPr algn="l">
              <a:defRPr sz="1350" b="1">
                <a:solidFill>
                  <a:srgbClr val="176B87"/>
                </a:solidFill>
              </a:defRPr>
            </a:lvl5pPr>
            <a:lvl6pPr algn="l">
              <a:defRPr sz="1350" b="1">
                <a:solidFill>
                  <a:srgbClr val="176B87"/>
                </a:solidFill>
              </a:defRPr>
            </a:lvl6pPr>
            <a:lvl7pPr algn="l">
              <a:defRPr sz="1350" b="1">
                <a:solidFill>
                  <a:srgbClr val="176B87"/>
                </a:solidFill>
              </a:defRPr>
            </a:lvl7pPr>
            <a:lvl8pPr algn="l">
              <a:defRPr sz="1350" b="1">
                <a:solidFill>
                  <a:srgbClr val="176B87"/>
                </a:solidFill>
              </a:defRPr>
            </a:lvl8pPr>
            <a:lvl9pPr algn="l">
              <a:defRPr sz="1350" b="1">
                <a:solidFill>
                  <a:srgbClr val="176B87"/>
                </a:solidFill>
              </a:defRPr>
            </a:lvl9pPr>
          </a:lstStyle>
          <a:p xmlns:a="http://schemas.openxmlformats.org/drawingml/2006/main">
            <a:pPr algn="l">
              <a:defRPr sz="1350" b="1">
                <a:solidFill>
                  <a:srgbClr val="176B87"/>
                </a:solidFill>
              </a:defRPr>
            </a:pPr>
            <a:r>
              <a:rPr sz="1350" b="1">
                <a:solidFill>
                  <a:srgbClr val="176B87"/>
                </a:solidFill>
              </a:rPr>
              <a:t>Pregunta del proyecto</a:t>
            </a:r>
          </a:p>
        </p:txBody>
      </p:sp>
      <p:sp>
        <p:nvSpPr>
          <p:cNvPr id="5" name="">
            <a:extLst xmlns:a="http://schemas.openxmlformats.org/drawingml/2006/main">
              <a:ext uri="{FF2B5EF4-FFF2-40B4-BE49-F238E27FC236}">
                <a16:creationId xmlns:a16="http://schemas.microsoft.com/office/drawing/2014/main" id="{42B02BC5-26BD-4054-9568-35F6E7B6931D}"/>
              </a:ext>
            </a:extLst>
          </p:cNvPr>
          <p:cNvSpPr>
            <a:spLocks xmlns:a="http://schemas.openxmlformats.org/drawingml/2006/main" noGrp="1"/>
          </p:cNvSpPr>
          <p:nvPr/>
        </p:nvSpPr>
        <p:spPr>
          <a:xfrm xmlns:a="http://schemas.openxmlformats.org/drawingml/2006/main">
            <a:off x="723900" y="1657350"/>
            <a:ext cx="4762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1E293B"/>
                </a:solidFill>
              </a:defRPr>
            </a:defPPr>
            <a:lvl1pPr algn="l">
              <a:defRPr sz="1875" b="1">
                <a:solidFill>
                  <a:srgbClr val="1E293B"/>
                </a:solidFill>
              </a:defRPr>
            </a:lvl1pPr>
            <a:lvl2pPr algn="l">
              <a:defRPr sz="1875" b="1">
                <a:solidFill>
                  <a:srgbClr val="1E293B"/>
                </a:solidFill>
              </a:defRPr>
            </a:lvl2pPr>
            <a:lvl3pPr algn="l">
              <a:defRPr sz="1875" b="1">
                <a:solidFill>
                  <a:srgbClr val="1E293B"/>
                </a:solidFill>
              </a:defRPr>
            </a:lvl3pPr>
            <a:lvl4pPr algn="l">
              <a:defRPr sz="1875" b="1">
                <a:solidFill>
                  <a:srgbClr val="1E293B"/>
                </a:solidFill>
              </a:defRPr>
            </a:lvl4pPr>
            <a:lvl5pPr algn="l">
              <a:defRPr sz="1875" b="1">
                <a:solidFill>
                  <a:srgbClr val="1E293B"/>
                </a:solidFill>
              </a:defRPr>
            </a:lvl5pPr>
            <a:lvl6pPr algn="l">
              <a:defRPr sz="1875" b="1">
                <a:solidFill>
                  <a:srgbClr val="1E293B"/>
                </a:solidFill>
              </a:defRPr>
            </a:lvl6pPr>
            <a:lvl7pPr algn="l">
              <a:defRPr sz="1875" b="1">
                <a:solidFill>
                  <a:srgbClr val="1E293B"/>
                </a:solidFill>
              </a:defRPr>
            </a:lvl7pPr>
            <a:lvl8pPr algn="l">
              <a:defRPr sz="1875" b="1">
                <a:solidFill>
                  <a:srgbClr val="1E293B"/>
                </a:solidFill>
              </a:defRPr>
            </a:lvl8pPr>
            <a:lvl9pPr algn="l">
              <a:defRPr sz="1875" b="1">
                <a:solidFill>
                  <a:srgbClr val="1E293B"/>
                </a:solidFill>
              </a:defRPr>
            </a:lvl9pPr>
          </a:lstStyle>
          <a:p xmlns:a="http://schemas.openxmlformats.org/drawingml/2006/main">
            <a:pPr algn="l">
              <a:defRPr sz="1875" b="1">
                <a:solidFill>
                  <a:srgbClr val="1E293B"/>
                </a:solidFill>
              </a:defRPr>
            </a:pPr>
            <a:r>
              <a:rPr sz="1875" b="1">
                <a:solidFill>
                  <a:srgbClr val="1E293B"/>
                </a:solidFill>
              </a:rPr>
              <a:t>¿Qué características se asocian con la enfermedad coronaria a diez años y con qué capacidad un modelo distingue perfiles con y sin evento?</a:t>
            </a:r>
          </a:p>
        </p:txBody>
      </p:sp>
      <p:sp>
        <p:nvSpPr>
          <p:cNvPr id="6" name="">
            <a:extLst xmlns:a="http://schemas.openxmlformats.org/drawingml/2006/main">
              <a:ext uri="{FF2B5EF4-FFF2-40B4-BE49-F238E27FC236}">
                <a16:creationId xmlns:a16="http://schemas.microsoft.com/office/drawing/2014/main" id="{70F9A629-D0D6-4F35-91A7-73D18F20A880}"/>
              </a:ext>
            </a:extLst>
          </p:cNvPr>
          <p:cNvSpPr>
            <a:spLocks xmlns:a="http://schemas.openxmlformats.org/drawingml/2006/main" noGrp="1"/>
          </p:cNvSpPr>
          <p:nvPr/>
        </p:nvSpPr>
        <p:spPr>
          <a:xfrm xmlns:a="http://schemas.openxmlformats.org/drawingml/2006/main">
            <a:off x="723900" y="314325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26274"/>
                </a:solidFill>
              </a:defRPr>
            </a:defPPr>
            <a:lvl1pPr algn="l">
              <a:defRPr sz="1425" b="0">
                <a:solidFill>
                  <a:srgbClr val="526274"/>
                </a:solidFill>
              </a:defRPr>
            </a:lvl1pPr>
            <a:lvl2pPr algn="l">
              <a:defRPr sz="1425" b="0">
                <a:solidFill>
                  <a:srgbClr val="526274"/>
                </a:solidFill>
              </a:defRPr>
            </a:lvl2pPr>
            <a:lvl3pPr algn="l">
              <a:defRPr sz="1425" b="0">
                <a:solidFill>
                  <a:srgbClr val="526274"/>
                </a:solidFill>
              </a:defRPr>
            </a:lvl3pPr>
            <a:lvl4pPr algn="l">
              <a:defRPr sz="1425" b="0">
                <a:solidFill>
                  <a:srgbClr val="526274"/>
                </a:solidFill>
              </a:defRPr>
            </a:lvl4pPr>
            <a:lvl5pPr algn="l">
              <a:defRPr sz="1425" b="0">
                <a:solidFill>
                  <a:srgbClr val="526274"/>
                </a:solidFill>
              </a:defRPr>
            </a:lvl5pPr>
            <a:lvl6pPr algn="l">
              <a:defRPr sz="1425" b="0">
                <a:solidFill>
                  <a:srgbClr val="526274"/>
                </a:solidFill>
              </a:defRPr>
            </a:lvl6pPr>
            <a:lvl7pPr algn="l">
              <a:defRPr sz="1425" b="0">
                <a:solidFill>
                  <a:srgbClr val="526274"/>
                </a:solidFill>
              </a:defRPr>
            </a:lvl7pPr>
            <a:lvl8pPr algn="l">
              <a:defRPr sz="1425" b="0">
                <a:solidFill>
                  <a:srgbClr val="526274"/>
                </a:solidFill>
              </a:defRPr>
            </a:lvl8pPr>
            <a:lvl9pPr algn="l">
              <a:defRPr sz="1425" b="0">
                <a:solidFill>
                  <a:srgbClr val="526274"/>
                </a:solidFill>
              </a:defRPr>
            </a:lvl9pPr>
          </a:lstStyle>
          <a:p xmlns:a="http://schemas.openxmlformats.org/drawingml/2006/main">
            <a:pPr algn="l">
              <a:defRPr sz="1425" b="0">
                <a:solidFill>
                  <a:srgbClr val="526274"/>
                </a:solidFill>
              </a:defRPr>
            </a:pPr>
            <a:r>
              <a:rPr sz="1425" b="0">
                <a:solidFill>
                  <a:srgbClr val="526274"/>
                </a:solidFill>
              </a:rPr>
              <a:t>El estudio es observacional. Los resultados describen asociaciones y capacidad predictiva, pero no prueban causalidad.</a:t>
            </a:r>
          </a:p>
        </p:txBody>
      </p:sp>
      <p:sp>
        <p:nvSpPr>
          <p:cNvPr id="7" name="">
            <a:extLst xmlns:a="http://schemas.openxmlformats.org/drawingml/2006/main">
              <a:ext uri="{FF2B5EF4-FFF2-40B4-BE49-F238E27FC236}">
                <a16:creationId xmlns:a16="http://schemas.microsoft.com/office/drawing/2014/main" id="{5DDC5D8E-7212-4EEE-8BC1-41D78D92C10C}"/>
              </a:ext>
            </a:extLst>
          </p:cNvPr>
          <p:cNvSpPr>
            <a:spLocks xmlns:a="http://schemas.openxmlformats.org/drawingml/2006/main" noGrp="1"/>
          </p:cNvSpPr>
          <p:nvPr/>
        </p:nvSpPr>
        <p:spPr>
          <a:xfrm xmlns:a="http://schemas.openxmlformats.org/drawingml/2006/main">
            <a:off x="6048375" y="1381125"/>
            <a:ext cx="4810125" cy="3714750"/>
          </a:xfrm>
          <a:prstGeom xmlns:a="http://schemas.openxmlformats.org/drawingml/2006/main" prst="roundRect">
            <a:avLst>
              <a:gd name="adj" fmla="val 2051"/>
            </a:avLst>
          </a:prstGeom>
          <a:solidFill xmlns:a="http://schemas.openxmlformats.org/drawingml/2006/main">
            <a:srgbClr val="F4F7F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76D924A-4607-4B89-B562-28420E28AFAE}"/>
              </a:ext>
            </a:extLst>
          </p:cNvPr>
          <p:cNvSpPr>
            <a:spLocks xmlns:a="http://schemas.openxmlformats.org/drawingml/2006/main" noGrp="1"/>
          </p:cNvSpPr>
          <p:nvPr/>
        </p:nvSpPr>
        <p:spPr>
          <a:xfrm xmlns:a="http://schemas.openxmlformats.org/drawingml/2006/main">
            <a:off x="6381750" y="176212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123456"/>
                </a:solidFill>
              </a:defRPr>
            </a:defPPr>
            <a:lvl1pPr algn="ctr">
              <a:defRPr sz="2250" b="1">
                <a:solidFill>
                  <a:srgbClr val="123456"/>
                </a:solidFill>
              </a:defRPr>
            </a:lvl1pPr>
            <a:lvl2pPr algn="ctr">
              <a:defRPr sz="2250" b="1">
                <a:solidFill>
                  <a:srgbClr val="123456"/>
                </a:solidFill>
              </a:defRPr>
            </a:lvl2pPr>
            <a:lvl3pPr algn="ctr">
              <a:defRPr sz="2250" b="1">
                <a:solidFill>
                  <a:srgbClr val="123456"/>
                </a:solidFill>
              </a:defRPr>
            </a:lvl3pPr>
            <a:lvl4pPr algn="ctr">
              <a:defRPr sz="2250" b="1">
                <a:solidFill>
                  <a:srgbClr val="123456"/>
                </a:solidFill>
              </a:defRPr>
            </a:lvl4pPr>
            <a:lvl5pPr algn="ctr">
              <a:defRPr sz="2250" b="1">
                <a:solidFill>
                  <a:srgbClr val="123456"/>
                </a:solidFill>
              </a:defRPr>
            </a:lvl5pPr>
            <a:lvl6pPr algn="ctr">
              <a:defRPr sz="2250" b="1">
                <a:solidFill>
                  <a:srgbClr val="123456"/>
                </a:solidFill>
              </a:defRPr>
            </a:lvl6pPr>
            <a:lvl7pPr algn="ctr">
              <a:defRPr sz="2250" b="1">
                <a:solidFill>
                  <a:srgbClr val="123456"/>
                </a:solidFill>
              </a:defRPr>
            </a:lvl7pPr>
            <a:lvl8pPr algn="ctr">
              <a:defRPr sz="2250" b="1">
                <a:solidFill>
                  <a:srgbClr val="123456"/>
                </a:solidFill>
              </a:defRPr>
            </a:lvl8pPr>
            <a:lvl9pPr algn="ctr">
              <a:defRPr sz="2250" b="1">
                <a:solidFill>
                  <a:srgbClr val="123456"/>
                </a:solidFill>
              </a:defRPr>
            </a:lvl9pPr>
          </a:lstStyle>
          <a:p xmlns:a="http://schemas.openxmlformats.org/drawingml/2006/main">
            <a:pPr algn="ctr">
              <a:defRPr sz="2250" b="1">
                <a:solidFill>
                  <a:srgbClr val="123456"/>
                </a:solidFill>
              </a:defRPr>
            </a:pPr>
            <a:r>
              <a:rPr sz="2250" b="1">
                <a:solidFill>
                  <a:srgbClr val="123456"/>
                </a:solidFill>
              </a:rPr>
              <a:t>4.238</a:t>
            </a:r>
          </a:p>
        </p:txBody>
      </p:sp>
      <p:sp>
        <p:nvSpPr>
          <p:cNvPr id="9" name="">
            <a:extLst xmlns:a="http://schemas.openxmlformats.org/drawingml/2006/main">
              <a:ext uri="{FF2B5EF4-FFF2-40B4-BE49-F238E27FC236}">
                <a16:creationId xmlns:a16="http://schemas.microsoft.com/office/drawing/2014/main" id="{F8121338-0762-4CB4-9A47-24A1822CBE7C}"/>
              </a:ext>
            </a:extLst>
          </p:cNvPr>
          <p:cNvSpPr>
            <a:spLocks xmlns:a="http://schemas.openxmlformats.org/drawingml/2006/main" noGrp="1"/>
          </p:cNvSpPr>
          <p:nvPr/>
        </p:nvSpPr>
        <p:spPr>
          <a:xfrm xmlns:a="http://schemas.openxmlformats.org/drawingml/2006/main">
            <a:off x="6381750" y="2219325"/>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personas</a:t>
            </a:r>
          </a:p>
        </p:txBody>
      </p:sp>
      <p:sp>
        <p:nvSpPr>
          <p:cNvPr id="10" name="">
            <a:extLst xmlns:a="http://schemas.openxmlformats.org/drawingml/2006/main">
              <a:ext uri="{FF2B5EF4-FFF2-40B4-BE49-F238E27FC236}">
                <a16:creationId xmlns:a16="http://schemas.microsoft.com/office/drawing/2014/main" id="{285D8D07-5352-44D3-95B3-E96E0D03BD3D}"/>
              </a:ext>
            </a:extLst>
          </p:cNvPr>
          <p:cNvSpPr>
            <a:spLocks xmlns:a="http://schemas.openxmlformats.org/drawingml/2006/main" noGrp="1"/>
          </p:cNvSpPr>
          <p:nvPr/>
        </p:nvSpPr>
        <p:spPr>
          <a:xfrm xmlns:a="http://schemas.openxmlformats.org/drawingml/2006/main">
            <a:off x="8572500" y="1762125"/>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176B87"/>
                </a:solidFill>
              </a:defRPr>
            </a:defPPr>
            <a:lvl1pPr algn="ctr">
              <a:defRPr sz="2250" b="1">
                <a:solidFill>
                  <a:srgbClr val="176B87"/>
                </a:solidFill>
              </a:defRPr>
            </a:lvl1pPr>
            <a:lvl2pPr algn="ctr">
              <a:defRPr sz="2250" b="1">
                <a:solidFill>
                  <a:srgbClr val="176B87"/>
                </a:solidFill>
              </a:defRPr>
            </a:lvl2pPr>
            <a:lvl3pPr algn="ctr">
              <a:defRPr sz="2250" b="1">
                <a:solidFill>
                  <a:srgbClr val="176B87"/>
                </a:solidFill>
              </a:defRPr>
            </a:lvl3pPr>
            <a:lvl4pPr algn="ctr">
              <a:defRPr sz="2250" b="1">
                <a:solidFill>
                  <a:srgbClr val="176B87"/>
                </a:solidFill>
              </a:defRPr>
            </a:lvl4pPr>
            <a:lvl5pPr algn="ctr">
              <a:defRPr sz="2250" b="1">
                <a:solidFill>
                  <a:srgbClr val="176B87"/>
                </a:solidFill>
              </a:defRPr>
            </a:lvl5pPr>
            <a:lvl6pPr algn="ctr">
              <a:defRPr sz="2250" b="1">
                <a:solidFill>
                  <a:srgbClr val="176B87"/>
                </a:solidFill>
              </a:defRPr>
            </a:lvl6pPr>
            <a:lvl7pPr algn="ctr">
              <a:defRPr sz="2250" b="1">
                <a:solidFill>
                  <a:srgbClr val="176B87"/>
                </a:solidFill>
              </a:defRPr>
            </a:lvl7pPr>
            <a:lvl8pPr algn="ctr">
              <a:defRPr sz="2250" b="1">
                <a:solidFill>
                  <a:srgbClr val="176B87"/>
                </a:solidFill>
              </a:defRPr>
            </a:lvl8pPr>
            <a:lvl9pPr algn="ctr">
              <a:defRPr sz="2250" b="1">
                <a:solidFill>
                  <a:srgbClr val="176B87"/>
                </a:solidFill>
              </a:defRPr>
            </a:lvl9pPr>
          </a:lstStyle>
          <a:p xmlns:a="http://schemas.openxmlformats.org/drawingml/2006/main">
            <a:pPr algn="ctr">
              <a:defRPr sz="2250" b="1">
                <a:solidFill>
                  <a:srgbClr val="176B87"/>
                </a:solidFill>
              </a:defRPr>
            </a:pPr>
            <a:r>
              <a:rPr sz="2250" b="1">
                <a:solidFill>
                  <a:srgbClr val="176B87"/>
                </a:solidFill>
              </a:rPr>
              <a:t>16</a:t>
            </a:r>
          </a:p>
        </p:txBody>
      </p:sp>
      <p:sp>
        <p:nvSpPr>
          <p:cNvPr id="11" name="">
            <a:extLst xmlns:a="http://schemas.openxmlformats.org/drawingml/2006/main">
              <a:ext uri="{FF2B5EF4-FFF2-40B4-BE49-F238E27FC236}">
                <a16:creationId xmlns:a16="http://schemas.microsoft.com/office/drawing/2014/main" id="{DEFBA1BF-A81C-4714-B6D5-E288857BC6C2}"/>
              </a:ext>
            </a:extLst>
          </p:cNvPr>
          <p:cNvSpPr>
            <a:spLocks xmlns:a="http://schemas.openxmlformats.org/drawingml/2006/main" noGrp="1"/>
          </p:cNvSpPr>
          <p:nvPr/>
        </p:nvSpPr>
        <p:spPr>
          <a:xfrm xmlns:a="http://schemas.openxmlformats.org/drawingml/2006/main">
            <a:off x="8572500" y="2219325"/>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variables</a:t>
            </a:r>
          </a:p>
        </p:txBody>
      </p:sp>
      <p:sp>
        <p:nvSpPr>
          <p:cNvPr id="12" name="">
            <a:extLst xmlns:a="http://schemas.openxmlformats.org/drawingml/2006/main">
              <a:ext uri="{FF2B5EF4-FFF2-40B4-BE49-F238E27FC236}">
                <a16:creationId xmlns:a16="http://schemas.microsoft.com/office/drawing/2014/main" id="{C1C308A9-837B-4FEF-8947-43DAB405ECF7}"/>
              </a:ext>
            </a:extLst>
          </p:cNvPr>
          <p:cNvSpPr>
            <a:spLocks xmlns:a="http://schemas.openxmlformats.org/drawingml/2006/main" noGrp="1"/>
          </p:cNvSpPr>
          <p:nvPr/>
        </p:nvSpPr>
        <p:spPr>
          <a:xfrm xmlns:a="http://schemas.openxmlformats.org/drawingml/2006/main">
            <a:off x="6381750" y="2952750"/>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D96C4A"/>
                </a:solidFill>
              </a:defRPr>
            </a:defPPr>
            <a:lvl1pPr algn="ctr">
              <a:defRPr sz="2250" b="1">
                <a:solidFill>
                  <a:srgbClr val="D96C4A"/>
                </a:solidFill>
              </a:defRPr>
            </a:lvl1pPr>
            <a:lvl2pPr algn="ctr">
              <a:defRPr sz="2250" b="1">
                <a:solidFill>
                  <a:srgbClr val="D96C4A"/>
                </a:solidFill>
              </a:defRPr>
            </a:lvl2pPr>
            <a:lvl3pPr algn="ctr">
              <a:defRPr sz="2250" b="1">
                <a:solidFill>
                  <a:srgbClr val="D96C4A"/>
                </a:solidFill>
              </a:defRPr>
            </a:lvl3pPr>
            <a:lvl4pPr algn="ctr">
              <a:defRPr sz="2250" b="1">
                <a:solidFill>
                  <a:srgbClr val="D96C4A"/>
                </a:solidFill>
              </a:defRPr>
            </a:lvl4pPr>
            <a:lvl5pPr algn="ctr">
              <a:defRPr sz="2250" b="1">
                <a:solidFill>
                  <a:srgbClr val="D96C4A"/>
                </a:solidFill>
              </a:defRPr>
            </a:lvl5pPr>
            <a:lvl6pPr algn="ctr">
              <a:defRPr sz="2250" b="1">
                <a:solidFill>
                  <a:srgbClr val="D96C4A"/>
                </a:solidFill>
              </a:defRPr>
            </a:lvl6pPr>
            <a:lvl7pPr algn="ctr">
              <a:defRPr sz="2250" b="1">
                <a:solidFill>
                  <a:srgbClr val="D96C4A"/>
                </a:solidFill>
              </a:defRPr>
            </a:lvl7pPr>
            <a:lvl8pPr algn="ctr">
              <a:defRPr sz="2250" b="1">
                <a:solidFill>
                  <a:srgbClr val="D96C4A"/>
                </a:solidFill>
              </a:defRPr>
            </a:lvl8pPr>
            <a:lvl9pPr algn="ctr">
              <a:defRPr sz="2250" b="1">
                <a:solidFill>
                  <a:srgbClr val="D96C4A"/>
                </a:solidFill>
              </a:defRPr>
            </a:lvl9pPr>
          </a:lstStyle>
          <a:p xmlns:a="http://schemas.openxmlformats.org/drawingml/2006/main">
            <a:pPr algn="ctr">
              <a:defRPr sz="2250" b="1">
                <a:solidFill>
                  <a:srgbClr val="D96C4A"/>
                </a:solidFill>
              </a:defRPr>
            </a:pPr>
            <a:r>
              <a:rPr sz="2250" b="1">
                <a:solidFill>
                  <a:srgbClr val="D96C4A"/>
                </a:solidFill>
              </a:rPr>
              <a:t>15,20 %</a:t>
            </a:r>
          </a:p>
        </p:txBody>
      </p:sp>
      <p:sp>
        <p:nvSpPr>
          <p:cNvPr id="13" name="">
            <a:extLst xmlns:a="http://schemas.openxmlformats.org/drawingml/2006/main">
              <a:ext uri="{FF2B5EF4-FFF2-40B4-BE49-F238E27FC236}">
                <a16:creationId xmlns:a16="http://schemas.microsoft.com/office/drawing/2014/main" id="{DC7A1FA8-5E6A-400E-9B79-325546CAB283}"/>
              </a:ext>
            </a:extLst>
          </p:cNvPr>
          <p:cNvSpPr>
            <a:spLocks xmlns:a="http://schemas.openxmlformats.org/drawingml/2006/main" noGrp="1"/>
          </p:cNvSpPr>
          <p:nvPr/>
        </p:nvSpPr>
        <p:spPr>
          <a:xfrm xmlns:a="http://schemas.openxmlformats.org/drawingml/2006/main">
            <a:off x="6381750" y="34099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desarrolló CHD</a:t>
            </a:r>
          </a:p>
        </p:txBody>
      </p:sp>
      <p:sp>
        <p:nvSpPr>
          <p:cNvPr id="14" name="">
            <a:extLst xmlns:a="http://schemas.openxmlformats.org/drawingml/2006/main">
              <a:ext uri="{FF2B5EF4-FFF2-40B4-BE49-F238E27FC236}">
                <a16:creationId xmlns:a16="http://schemas.microsoft.com/office/drawing/2014/main" id="{1EADA142-2CDB-4F4D-8B8B-1521C673730E}"/>
              </a:ext>
            </a:extLst>
          </p:cNvPr>
          <p:cNvSpPr>
            <a:spLocks xmlns:a="http://schemas.openxmlformats.org/drawingml/2006/main" noGrp="1"/>
          </p:cNvSpPr>
          <p:nvPr/>
        </p:nvSpPr>
        <p:spPr>
          <a:xfrm xmlns:a="http://schemas.openxmlformats.org/drawingml/2006/main">
            <a:off x="8572500" y="2952750"/>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2B8C82"/>
                </a:solidFill>
              </a:defRPr>
            </a:defPPr>
            <a:lvl1pPr algn="ctr">
              <a:defRPr sz="2250" b="1">
                <a:solidFill>
                  <a:srgbClr val="2B8C82"/>
                </a:solidFill>
              </a:defRPr>
            </a:lvl1pPr>
            <a:lvl2pPr algn="ctr">
              <a:defRPr sz="2250" b="1">
                <a:solidFill>
                  <a:srgbClr val="2B8C82"/>
                </a:solidFill>
              </a:defRPr>
            </a:lvl2pPr>
            <a:lvl3pPr algn="ctr">
              <a:defRPr sz="2250" b="1">
                <a:solidFill>
                  <a:srgbClr val="2B8C82"/>
                </a:solidFill>
              </a:defRPr>
            </a:lvl3pPr>
            <a:lvl4pPr algn="ctr">
              <a:defRPr sz="2250" b="1">
                <a:solidFill>
                  <a:srgbClr val="2B8C82"/>
                </a:solidFill>
              </a:defRPr>
            </a:lvl4pPr>
            <a:lvl5pPr algn="ctr">
              <a:defRPr sz="2250" b="1">
                <a:solidFill>
                  <a:srgbClr val="2B8C82"/>
                </a:solidFill>
              </a:defRPr>
            </a:lvl5pPr>
            <a:lvl6pPr algn="ctr">
              <a:defRPr sz="2250" b="1">
                <a:solidFill>
                  <a:srgbClr val="2B8C82"/>
                </a:solidFill>
              </a:defRPr>
            </a:lvl6pPr>
            <a:lvl7pPr algn="ctr">
              <a:defRPr sz="2250" b="1">
                <a:solidFill>
                  <a:srgbClr val="2B8C82"/>
                </a:solidFill>
              </a:defRPr>
            </a:lvl7pPr>
            <a:lvl8pPr algn="ctr">
              <a:defRPr sz="2250" b="1">
                <a:solidFill>
                  <a:srgbClr val="2B8C82"/>
                </a:solidFill>
              </a:defRPr>
            </a:lvl8pPr>
            <a:lvl9pPr algn="ctr">
              <a:defRPr sz="2250" b="1">
                <a:solidFill>
                  <a:srgbClr val="2B8C82"/>
                </a:solidFill>
              </a:defRPr>
            </a:lvl9pPr>
          </a:lstStyle>
          <a:p xmlns:a="http://schemas.openxmlformats.org/drawingml/2006/main">
            <a:pPr algn="ctr">
              <a:defRPr sz="2250" b="1">
                <a:solidFill>
                  <a:srgbClr val="2B8C82"/>
                </a:solidFill>
              </a:defRPr>
            </a:pPr>
            <a:r>
              <a:rPr sz="2250" b="1">
                <a:solidFill>
                  <a:srgbClr val="2B8C82"/>
                </a:solidFill>
              </a:rPr>
              <a:t>10 años</a:t>
            </a:r>
          </a:p>
        </p:txBody>
      </p:sp>
      <p:sp>
        <p:nvSpPr>
          <p:cNvPr id="15" name="">
            <a:extLst xmlns:a="http://schemas.openxmlformats.org/drawingml/2006/main">
              <a:ext uri="{FF2B5EF4-FFF2-40B4-BE49-F238E27FC236}">
                <a16:creationId xmlns:a16="http://schemas.microsoft.com/office/drawing/2014/main" id="{9E588101-04BF-483D-9086-7ABA1B7485DD}"/>
              </a:ext>
            </a:extLst>
          </p:cNvPr>
          <p:cNvSpPr>
            <a:spLocks xmlns:a="http://schemas.openxmlformats.org/drawingml/2006/main" noGrp="1"/>
          </p:cNvSpPr>
          <p:nvPr/>
        </p:nvSpPr>
        <p:spPr>
          <a:xfrm xmlns:a="http://schemas.openxmlformats.org/drawingml/2006/main">
            <a:off x="8572500" y="34099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horizonte del evento</a:t>
            </a:r>
          </a:p>
        </p:txBody>
      </p:sp>
      <p:sp>
        <p:nvSpPr>
          <p:cNvPr id="16" name="">
            <a:extLst xmlns:a="http://schemas.openxmlformats.org/drawingml/2006/main">
              <a:ext uri="{FF2B5EF4-FFF2-40B4-BE49-F238E27FC236}">
                <a16:creationId xmlns:a16="http://schemas.microsoft.com/office/drawing/2014/main" id="{0EAA867D-3F77-45A8-98DD-2A17F72E9F11}"/>
              </a:ext>
            </a:extLst>
          </p:cNvPr>
          <p:cNvSpPr>
            <a:spLocks xmlns:a="http://schemas.openxmlformats.org/drawingml/2006/main" noGrp="1"/>
          </p:cNvSpPr>
          <p:nvPr/>
        </p:nvSpPr>
        <p:spPr>
          <a:xfrm xmlns:a="http://schemas.openxmlformats.org/drawingml/2006/main">
            <a:off x="6572250" y="440055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1E293B"/>
                </a:solidFill>
              </a:defRPr>
            </a:defPPr>
            <a:lvl1pPr algn="ctr">
              <a:defRPr sz="1500" b="1">
                <a:solidFill>
                  <a:srgbClr val="1E293B"/>
                </a:solidFill>
              </a:defRPr>
            </a:lvl1pPr>
            <a:lvl2pPr algn="ctr">
              <a:defRPr sz="1500" b="1">
                <a:solidFill>
                  <a:srgbClr val="1E293B"/>
                </a:solidFill>
              </a:defRPr>
            </a:lvl2pPr>
            <a:lvl3pPr algn="ctr">
              <a:defRPr sz="1500" b="1">
                <a:solidFill>
                  <a:srgbClr val="1E293B"/>
                </a:solidFill>
              </a:defRPr>
            </a:lvl3pPr>
            <a:lvl4pPr algn="ctr">
              <a:defRPr sz="1500" b="1">
                <a:solidFill>
                  <a:srgbClr val="1E293B"/>
                </a:solidFill>
              </a:defRPr>
            </a:lvl4pPr>
            <a:lvl5pPr algn="ctr">
              <a:defRPr sz="1500" b="1">
                <a:solidFill>
                  <a:srgbClr val="1E293B"/>
                </a:solidFill>
              </a:defRPr>
            </a:lvl5pPr>
            <a:lvl6pPr algn="ctr">
              <a:defRPr sz="1500" b="1">
                <a:solidFill>
                  <a:srgbClr val="1E293B"/>
                </a:solidFill>
              </a:defRPr>
            </a:lvl6pPr>
            <a:lvl7pPr algn="ctr">
              <a:defRPr sz="1500" b="1">
                <a:solidFill>
                  <a:srgbClr val="1E293B"/>
                </a:solidFill>
              </a:defRPr>
            </a:lvl7pPr>
            <a:lvl8pPr algn="ctr">
              <a:defRPr sz="1500" b="1">
                <a:solidFill>
                  <a:srgbClr val="1E293B"/>
                </a:solidFill>
              </a:defRPr>
            </a:lvl8pPr>
            <a:lvl9pPr algn="ctr">
              <a:defRPr sz="1500" b="1">
                <a:solidFill>
                  <a:srgbClr val="1E293B"/>
                </a:solidFill>
              </a:defRPr>
            </a:lvl9pPr>
          </a:lstStyle>
          <a:p xmlns:a="http://schemas.openxmlformats.org/drawingml/2006/main">
            <a:pPr algn="ctr">
              <a:defRPr sz="1500" b="1">
                <a:solidFill>
                  <a:srgbClr val="1E293B"/>
                </a:solidFill>
              </a:defRPr>
            </a:pPr>
            <a:r>
              <a:rPr sz="1500" b="1">
                <a:solidFill>
                  <a:srgbClr val="1E293B"/>
                </a:solidFill>
              </a:rPr>
              <a:t>Variable objetivo: TenYearCHD</a:t>
            </a:r>
          </a:p>
        </p:txBody>
      </p:sp>
      <p:sp>
        <p:nvSpPr>
          <p:cNvPr id="17" name="">
            <a:extLst xmlns:a="http://schemas.openxmlformats.org/drawingml/2006/main">
              <a:ext uri="{FF2B5EF4-FFF2-40B4-BE49-F238E27FC236}">
                <a16:creationId xmlns:a16="http://schemas.microsoft.com/office/drawing/2014/main" id="{3502389F-0229-4087-B55A-D98673934C41}"/>
              </a:ext>
            </a:extLst>
          </p:cNvPr>
          <p:cNvSpPr>
            <a:spLocks xmlns:a="http://schemas.openxmlformats.org/drawingml/2006/main" noGrp="1"/>
          </p:cNvSpPr>
          <p:nvPr/>
        </p:nvSpPr>
        <p:spPr>
          <a:xfrm xmlns:a="http://schemas.openxmlformats.org/drawingml/2006/main">
            <a:off x="685800" y="65151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26274"/>
                </a:solidFill>
              </a:defRPr>
            </a:defPPr>
            <a:lvl1pPr algn="l">
              <a:defRPr sz="900" b="0">
                <a:solidFill>
                  <a:srgbClr val="526274"/>
                </a:solidFill>
              </a:defRPr>
            </a:lvl1pPr>
            <a:lvl2pPr algn="l">
              <a:defRPr sz="900" b="0">
                <a:solidFill>
                  <a:srgbClr val="526274"/>
                </a:solidFill>
              </a:defRPr>
            </a:lvl2pPr>
            <a:lvl3pPr algn="l">
              <a:defRPr sz="900" b="0">
                <a:solidFill>
                  <a:srgbClr val="526274"/>
                </a:solidFill>
              </a:defRPr>
            </a:lvl3pPr>
            <a:lvl4pPr algn="l">
              <a:defRPr sz="900" b="0">
                <a:solidFill>
                  <a:srgbClr val="526274"/>
                </a:solidFill>
              </a:defRPr>
            </a:lvl4pPr>
            <a:lvl5pPr algn="l">
              <a:defRPr sz="900" b="0">
                <a:solidFill>
                  <a:srgbClr val="526274"/>
                </a:solidFill>
              </a:defRPr>
            </a:lvl5pPr>
            <a:lvl6pPr algn="l">
              <a:defRPr sz="900" b="0">
                <a:solidFill>
                  <a:srgbClr val="526274"/>
                </a:solidFill>
              </a:defRPr>
            </a:lvl6pPr>
            <a:lvl7pPr algn="l">
              <a:defRPr sz="900" b="0">
                <a:solidFill>
                  <a:srgbClr val="526274"/>
                </a:solidFill>
              </a:defRPr>
            </a:lvl7pPr>
            <a:lvl8pPr algn="l">
              <a:defRPr sz="900" b="0">
                <a:solidFill>
                  <a:srgbClr val="526274"/>
                </a:solidFill>
              </a:defRPr>
            </a:lvl8pPr>
            <a:lvl9pPr algn="l">
              <a:defRPr sz="900" b="0">
                <a:solidFill>
                  <a:srgbClr val="526274"/>
                </a:solidFill>
              </a:defRPr>
            </a:lvl9pPr>
          </a:lstStyle>
          <a:p xmlns:a="http://schemas.openxmlformats.org/drawingml/2006/main">
            <a:pPr algn="l">
              <a:defRPr sz="900" b="0">
                <a:solidFill>
                  <a:srgbClr val="526274"/>
                </a:solidFill>
              </a:defRPr>
            </a:pPr>
            <a:r>
              <a:rPr sz="900" b="0">
                <a:solidFill>
                  <a:srgbClr val="526274"/>
                </a:solidFill>
              </a:rPr>
              <a:t>MCDI501 · Estadística Computacional</a:t>
            </a:r>
          </a:p>
        </p:txBody>
      </p:sp>
    </p:spTree>
    <p:extLst>
      <p:ext uri="{BB962C8B-B14F-4D97-AF65-F5344CB8AC3E}">
        <p14:creationId xmlns:p14="http://schemas.microsoft.com/office/powerpoint/2010/main" val="1091661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5A5B70A-2C60-4899-B462-00E6FB9C929D}"/>
              </a:ext>
            </a:extLst>
          </p:cNvPr>
          <p:cNvSpPr>
            <a:spLocks xmlns:a="http://schemas.openxmlformats.org/drawingml/2006/main" noGrp="1"/>
          </p:cNvSpPr>
          <p:nvPr/>
        </p:nvSpPr>
        <p:spPr>
          <a:xfrm xmlns:a="http://schemas.openxmlformats.org/drawingml/2006/main">
            <a:off x="685800" y="400050"/>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123456"/>
                </a:solidFill>
              </a:defRPr>
            </a:defPPr>
            <a:lvl1pPr algn="l">
              <a:defRPr sz="2400" b="1">
                <a:solidFill>
                  <a:srgbClr val="123456"/>
                </a:solidFill>
              </a:defRPr>
            </a:lvl1pPr>
            <a:lvl2pPr algn="l">
              <a:defRPr sz="2400" b="1">
                <a:solidFill>
                  <a:srgbClr val="123456"/>
                </a:solidFill>
              </a:defRPr>
            </a:lvl2pPr>
            <a:lvl3pPr algn="l">
              <a:defRPr sz="2400" b="1">
                <a:solidFill>
                  <a:srgbClr val="123456"/>
                </a:solidFill>
              </a:defRPr>
            </a:lvl3pPr>
            <a:lvl4pPr algn="l">
              <a:defRPr sz="2400" b="1">
                <a:solidFill>
                  <a:srgbClr val="123456"/>
                </a:solidFill>
              </a:defRPr>
            </a:lvl4pPr>
            <a:lvl5pPr algn="l">
              <a:defRPr sz="2400" b="1">
                <a:solidFill>
                  <a:srgbClr val="123456"/>
                </a:solidFill>
              </a:defRPr>
            </a:lvl5pPr>
            <a:lvl6pPr algn="l">
              <a:defRPr sz="2400" b="1">
                <a:solidFill>
                  <a:srgbClr val="123456"/>
                </a:solidFill>
              </a:defRPr>
            </a:lvl6pPr>
            <a:lvl7pPr algn="l">
              <a:defRPr sz="2400" b="1">
                <a:solidFill>
                  <a:srgbClr val="123456"/>
                </a:solidFill>
              </a:defRPr>
            </a:lvl7pPr>
            <a:lvl8pPr algn="l">
              <a:defRPr sz="2400" b="1">
                <a:solidFill>
                  <a:srgbClr val="123456"/>
                </a:solidFill>
              </a:defRPr>
            </a:lvl8pPr>
            <a:lvl9pPr algn="l">
              <a:defRPr sz="2400" b="1">
                <a:solidFill>
                  <a:srgbClr val="123456"/>
                </a:solidFill>
              </a:defRPr>
            </a:lvl9pPr>
          </a:lstStyle>
          <a:p xmlns:a="http://schemas.openxmlformats.org/drawingml/2006/main">
            <a:pPr algn="l">
              <a:defRPr sz="2400" b="1">
                <a:solidFill>
                  <a:srgbClr val="123456"/>
                </a:solidFill>
              </a:defRPr>
            </a:pPr>
            <a:r>
              <a:rPr sz="2400" b="1">
                <a:solidFill>
                  <a:srgbClr val="123456"/>
                </a:solidFill>
              </a:rPr>
              <a:t>Progresión S1, S2 y S3</a:t>
            </a:r>
          </a:p>
        </p:txBody>
      </p:sp>
      <p:sp>
        <p:nvSpPr>
          <p:cNvPr id="2" name="">
            <a:extLst xmlns:a="http://schemas.openxmlformats.org/drawingml/2006/main">
              <a:ext uri="{FF2B5EF4-FFF2-40B4-BE49-F238E27FC236}">
                <a16:creationId xmlns:a16="http://schemas.microsoft.com/office/drawing/2014/main" id="{D5293DC5-CC5C-42E5-BD7F-FC438BCA3DC4}"/>
              </a:ext>
            </a:extLst>
          </p:cNvPr>
          <p:cNvSpPr>
            <a:spLocks xmlns:a="http://schemas.openxmlformats.org/drawingml/2006/main" noGrp="1"/>
          </p:cNvSpPr>
          <p:nvPr/>
        </p:nvSpPr>
        <p:spPr>
          <a:xfrm xmlns:a="http://schemas.openxmlformats.org/drawingml/2006/main">
            <a:off x="685800" y="990600"/>
            <a:ext cx="108204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166B9AA-0537-4F40-ABC3-BAD8852927BA}"/>
              </a:ext>
            </a:extLst>
          </p:cNvPr>
          <p:cNvSpPr>
            <a:spLocks xmlns:a="http://schemas.openxmlformats.org/drawingml/2006/main" noGrp="1"/>
          </p:cNvSpPr>
          <p:nvPr/>
        </p:nvSpPr>
        <p:spPr>
          <a:xfrm xmlns:a="http://schemas.openxmlformats.org/drawingml/2006/main">
            <a:off x="10363200" y="419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526274"/>
                </a:solidFill>
              </a:defRPr>
            </a:defPPr>
            <a:lvl1pPr algn="r">
              <a:defRPr sz="1200" b="1">
                <a:solidFill>
                  <a:srgbClr val="526274"/>
                </a:solidFill>
              </a:defRPr>
            </a:lvl1pPr>
            <a:lvl2pPr algn="r">
              <a:defRPr sz="1200" b="1">
                <a:solidFill>
                  <a:srgbClr val="526274"/>
                </a:solidFill>
              </a:defRPr>
            </a:lvl2pPr>
            <a:lvl3pPr algn="r">
              <a:defRPr sz="1200" b="1">
                <a:solidFill>
                  <a:srgbClr val="526274"/>
                </a:solidFill>
              </a:defRPr>
            </a:lvl3pPr>
            <a:lvl4pPr algn="r">
              <a:defRPr sz="1200" b="1">
                <a:solidFill>
                  <a:srgbClr val="526274"/>
                </a:solidFill>
              </a:defRPr>
            </a:lvl4pPr>
            <a:lvl5pPr algn="r">
              <a:defRPr sz="1200" b="1">
                <a:solidFill>
                  <a:srgbClr val="526274"/>
                </a:solidFill>
              </a:defRPr>
            </a:lvl5pPr>
            <a:lvl6pPr algn="r">
              <a:defRPr sz="1200" b="1">
                <a:solidFill>
                  <a:srgbClr val="526274"/>
                </a:solidFill>
              </a:defRPr>
            </a:lvl6pPr>
            <a:lvl7pPr algn="r">
              <a:defRPr sz="1200" b="1">
                <a:solidFill>
                  <a:srgbClr val="526274"/>
                </a:solidFill>
              </a:defRPr>
            </a:lvl7pPr>
            <a:lvl8pPr algn="r">
              <a:defRPr sz="1200" b="1">
                <a:solidFill>
                  <a:srgbClr val="526274"/>
                </a:solidFill>
              </a:defRPr>
            </a:lvl8pPr>
            <a:lvl9pPr algn="r">
              <a:defRPr sz="1200" b="1">
                <a:solidFill>
                  <a:srgbClr val="526274"/>
                </a:solidFill>
              </a:defRPr>
            </a:lvl9pPr>
          </a:lstStyle>
          <a:p xmlns:a="http://schemas.openxmlformats.org/drawingml/2006/main">
            <a:pPr algn="r">
              <a:defRPr sz="1200" b="1">
                <a:solidFill>
                  <a:srgbClr val="526274"/>
                </a:solidFill>
              </a:defRPr>
            </a:pPr>
            <a:r>
              <a:rPr sz="1200" b="1">
                <a:solidFill>
                  <a:srgbClr val="526274"/>
                </a:solidFill>
              </a:rPr>
              <a:t>03</a:t>
            </a:r>
          </a:p>
        </p:txBody>
      </p:sp>
      <p:sp>
        <p:nvSpPr>
          <p:cNvPr id="4" name="">
            <a:extLst xmlns:a="http://schemas.openxmlformats.org/drawingml/2006/main">
              <a:ext uri="{FF2B5EF4-FFF2-40B4-BE49-F238E27FC236}">
                <a16:creationId xmlns:a16="http://schemas.microsoft.com/office/drawing/2014/main" id="{88C2CECE-51FA-4D29-B273-FC2C55BD2923}"/>
              </a:ext>
            </a:extLst>
          </p:cNvPr>
          <p:cNvSpPr>
            <a:spLocks xmlns:a="http://schemas.openxmlformats.org/drawingml/2006/main" noGrp="1"/>
          </p:cNvSpPr>
          <p:nvPr/>
        </p:nvSpPr>
        <p:spPr>
          <a:xfrm xmlns:a="http://schemas.openxmlformats.org/drawingml/2006/main">
            <a:off x="742950" y="1428750"/>
            <a:ext cx="2857500" cy="3429000"/>
          </a:xfrm>
          <a:prstGeom xmlns:a="http://schemas.openxmlformats.org/drawingml/2006/main" prst="roundRect">
            <a:avLst>
              <a:gd name="adj" fmla="val 2667"/>
            </a:avLst>
          </a:prstGeom>
          <a:solidFill xmlns:a="http://schemas.openxmlformats.org/drawingml/2006/main">
            <a:srgbClr val="EAF2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6A57ECB-00D8-4AA7-BD2A-BEB021C99A3C}"/>
              </a:ext>
            </a:extLst>
          </p:cNvPr>
          <p:cNvSpPr>
            <a:spLocks xmlns:a="http://schemas.openxmlformats.org/drawingml/2006/main" noGrp="1"/>
          </p:cNvSpPr>
          <p:nvPr/>
        </p:nvSpPr>
        <p:spPr>
          <a:xfrm xmlns:a="http://schemas.openxmlformats.org/drawingml/2006/main">
            <a:off x="742950" y="1428750"/>
            <a:ext cx="2857500" cy="7620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199400-53DC-4D26-83BC-ECE328595D3A}"/>
              </a:ext>
            </a:extLst>
          </p:cNvPr>
          <p:cNvSpPr>
            <a:spLocks xmlns:a="http://schemas.openxmlformats.org/drawingml/2006/main" noGrp="1"/>
          </p:cNvSpPr>
          <p:nvPr/>
        </p:nvSpPr>
        <p:spPr>
          <a:xfrm xmlns:a="http://schemas.openxmlformats.org/drawingml/2006/main">
            <a:off x="952500" y="17145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6B87"/>
                </a:solidFill>
              </a:defRPr>
            </a:defPPr>
            <a:lvl1pPr algn="l">
              <a:defRPr sz="1725" b="1">
                <a:solidFill>
                  <a:srgbClr val="176B87"/>
                </a:solidFill>
              </a:defRPr>
            </a:lvl1pPr>
            <a:lvl2pPr algn="l">
              <a:defRPr sz="1725" b="1">
                <a:solidFill>
                  <a:srgbClr val="176B87"/>
                </a:solidFill>
              </a:defRPr>
            </a:lvl2pPr>
            <a:lvl3pPr algn="l">
              <a:defRPr sz="1725" b="1">
                <a:solidFill>
                  <a:srgbClr val="176B87"/>
                </a:solidFill>
              </a:defRPr>
            </a:lvl3pPr>
            <a:lvl4pPr algn="l">
              <a:defRPr sz="1725" b="1">
                <a:solidFill>
                  <a:srgbClr val="176B87"/>
                </a:solidFill>
              </a:defRPr>
            </a:lvl4pPr>
            <a:lvl5pPr algn="l">
              <a:defRPr sz="1725" b="1">
                <a:solidFill>
                  <a:srgbClr val="176B87"/>
                </a:solidFill>
              </a:defRPr>
            </a:lvl5pPr>
            <a:lvl6pPr algn="l">
              <a:defRPr sz="1725" b="1">
                <a:solidFill>
                  <a:srgbClr val="176B87"/>
                </a:solidFill>
              </a:defRPr>
            </a:lvl6pPr>
            <a:lvl7pPr algn="l">
              <a:defRPr sz="1725" b="1">
                <a:solidFill>
                  <a:srgbClr val="176B87"/>
                </a:solidFill>
              </a:defRPr>
            </a:lvl7pPr>
            <a:lvl8pPr algn="l">
              <a:defRPr sz="1725" b="1">
                <a:solidFill>
                  <a:srgbClr val="176B87"/>
                </a:solidFill>
              </a:defRPr>
            </a:lvl8pPr>
            <a:lvl9pPr algn="l">
              <a:defRPr sz="1725" b="1">
                <a:solidFill>
                  <a:srgbClr val="176B87"/>
                </a:solidFill>
              </a:defRPr>
            </a:lvl9pPr>
          </a:lstStyle>
          <a:p xmlns:a="http://schemas.openxmlformats.org/drawingml/2006/main">
            <a:pPr algn="l">
              <a:defRPr sz="1725" b="1">
                <a:solidFill>
                  <a:srgbClr val="176B87"/>
                </a:solidFill>
              </a:defRPr>
            </a:pPr>
            <a:r>
              <a:rPr sz="1725" b="1">
                <a:solidFill>
                  <a:srgbClr val="176B87"/>
                </a:solidFill>
              </a:rPr>
              <a:t>S1 · Diagnóstico</a:t>
            </a:r>
          </a:p>
        </p:txBody>
      </p:sp>
      <p:sp>
        <p:nvSpPr>
          <p:cNvPr id="7" name="">
            <a:extLst xmlns:a="http://schemas.openxmlformats.org/drawingml/2006/main">
              <a:ext uri="{FF2B5EF4-FFF2-40B4-BE49-F238E27FC236}">
                <a16:creationId xmlns:a16="http://schemas.microsoft.com/office/drawing/2014/main" id="{A571B1C0-F0E4-438C-B709-9C68E4014279}"/>
              </a:ext>
            </a:extLst>
          </p:cNvPr>
          <p:cNvSpPr>
            <a:spLocks xmlns:a="http://schemas.openxmlformats.org/drawingml/2006/main" noGrp="1"/>
          </p:cNvSpPr>
          <p:nvPr/>
        </p:nvSpPr>
        <p:spPr>
          <a:xfrm xmlns:a="http://schemas.openxmlformats.org/drawingml/2006/main">
            <a:off x="952500" y="2333625"/>
            <a:ext cx="24384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E293B"/>
                </a:solidFill>
              </a:defRPr>
            </a:defPPr>
            <a:lvl1pPr algn="l">
              <a:defRPr sz="1425" b="0">
                <a:solidFill>
                  <a:srgbClr val="1E293B"/>
                </a:solidFill>
              </a:defRPr>
            </a:lvl1pPr>
            <a:lvl2pPr algn="l">
              <a:defRPr sz="1425" b="0">
                <a:solidFill>
                  <a:srgbClr val="1E293B"/>
                </a:solidFill>
              </a:defRPr>
            </a:lvl2pPr>
            <a:lvl3pPr algn="l">
              <a:defRPr sz="1425" b="0">
                <a:solidFill>
                  <a:srgbClr val="1E293B"/>
                </a:solidFill>
              </a:defRPr>
            </a:lvl3pPr>
            <a:lvl4pPr algn="l">
              <a:defRPr sz="1425" b="0">
                <a:solidFill>
                  <a:srgbClr val="1E293B"/>
                </a:solidFill>
              </a:defRPr>
            </a:lvl4pPr>
            <a:lvl5pPr algn="l">
              <a:defRPr sz="1425" b="0">
                <a:solidFill>
                  <a:srgbClr val="1E293B"/>
                </a:solidFill>
              </a:defRPr>
            </a:lvl5pPr>
            <a:lvl6pPr algn="l">
              <a:defRPr sz="1425" b="0">
                <a:solidFill>
                  <a:srgbClr val="1E293B"/>
                </a:solidFill>
              </a:defRPr>
            </a:lvl6pPr>
            <a:lvl7pPr algn="l">
              <a:defRPr sz="1425" b="0">
                <a:solidFill>
                  <a:srgbClr val="1E293B"/>
                </a:solidFill>
              </a:defRPr>
            </a:lvl7pPr>
            <a:lvl8pPr algn="l">
              <a:defRPr sz="1425" b="0">
                <a:solidFill>
                  <a:srgbClr val="1E293B"/>
                </a:solidFill>
              </a:defRPr>
            </a:lvl8pPr>
            <a:lvl9pPr algn="l">
              <a:defRPr sz="1425" b="0">
                <a:solidFill>
                  <a:srgbClr val="1E293B"/>
                </a:solidFill>
              </a:defRPr>
            </a:lvl9pPr>
          </a:lstStyle>
          <a:p xmlns:a="http://schemas.openxmlformats.org/drawingml/2006/main">
            <a:pPr algn="l">
              <a:defRPr sz="1425" b="0">
                <a:solidFill>
                  <a:srgbClr val="1E293B"/>
                </a:solidFill>
              </a:defRPr>
            </a:pPr>
            <a:r>
              <a:rPr sz="1425" b="0">
                <a:solidFill>
                  <a:srgbClr val="1E293B"/>
                </a:solidFill>
              </a:rPr>
              <a:t>Exploración y calidad de datos</a:t>
            </a:r>
          </a:p>
          <a:p xmlns:a="http://schemas.openxmlformats.org/drawingml/2006/main">
            <a:r>
              <a:t/>
            </a:r>
          </a:p>
          <a:p xmlns:a="http://schemas.openxmlformats.org/drawingml/2006/main">
            <a:pPr algn="l">
              <a:defRPr sz="1425" b="0">
                <a:solidFill>
                  <a:srgbClr val="1E293B"/>
                </a:solidFill>
              </a:defRPr>
            </a:pPr>
            <a:r>
              <a:rPr sz="1425" b="0">
                <a:solidFill>
                  <a:srgbClr val="1E293B"/>
                </a:solidFill>
              </a:rPr>
              <a:t>Faltantes y valores extremos</a:t>
            </a:r>
          </a:p>
          <a:p xmlns:a="http://schemas.openxmlformats.org/drawingml/2006/main">
            <a:r>
              <a:t/>
            </a:r>
          </a:p>
          <a:p xmlns:a="http://schemas.openxmlformats.org/drawingml/2006/main">
            <a:pPr algn="l">
              <a:defRPr sz="1425" b="0">
                <a:solidFill>
                  <a:srgbClr val="1E293B"/>
                </a:solidFill>
              </a:defRPr>
            </a:pPr>
            <a:r>
              <a:rPr sz="1425" b="0">
                <a:solidFill>
                  <a:srgbClr val="1E293B"/>
                </a:solidFill>
              </a:rPr>
              <a:t>Asociaciones y pruebas de hipótesis</a:t>
            </a:r>
          </a:p>
        </p:txBody>
      </p:sp>
      <p:sp>
        <p:nvSpPr>
          <p:cNvPr id="8" name="">
            <a:extLst xmlns:a="http://schemas.openxmlformats.org/drawingml/2006/main">
              <a:ext uri="{FF2B5EF4-FFF2-40B4-BE49-F238E27FC236}">
                <a16:creationId xmlns:a16="http://schemas.microsoft.com/office/drawing/2014/main" id="{B83C2FD1-CE23-4D8F-B711-A0210408757B}"/>
              </a:ext>
            </a:extLst>
          </p:cNvPr>
          <p:cNvSpPr>
            <a:spLocks xmlns:a="http://schemas.openxmlformats.org/drawingml/2006/main" noGrp="1"/>
          </p:cNvSpPr>
          <p:nvPr/>
        </p:nvSpPr>
        <p:spPr>
          <a:xfrm xmlns:a="http://schemas.openxmlformats.org/drawingml/2006/main">
            <a:off x="4143375" y="1428750"/>
            <a:ext cx="2857500" cy="3429000"/>
          </a:xfrm>
          <a:prstGeom xmlns:a="http://schemas.openxmlformats.org/drawingml/2006/main" prst="roundRect">
            <a:avLst>
              <a:gd name="adj" fmla="val 2667"/>
            </a:avLst>
          </a:prstGeom>
          <a:solidFill xmlns:a="http://schemas.openxmlformats.org/drawingml/2006/main">
            <a:srgbClr val="EAF5F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4F77C4B-234C-4C2F-9049-FBF27E43BDE8}"/>
              </a:ext>
            </a:extLst>
          </p:cNvPr>
          <p:cNvSpPr>
            <a:spLocks xmlns:a="http://schemas.openxmlformats.org/drawingml/2006/main" noGrp="1"/>
          </p:cNvSpPr>
          <p:nvPr/>
        </p:nvSpPr>
        <p:spPr>
          <a:xfrm xmlns:a="http://schemas.openxmlformats.org/drawingml/2006/main">
            <a:off x="4143375" y="1428750"/>
            <a:ext cx="2857500" cy="76200"/>
          </a:xfrm>
          <a:prstGeom xmlns:a="http://schemas.openxmlformats.org/drawingml/2006/main" prst="rect">
            <a:avLst/>
          </a:prstGeom>
          <a:solidFill xmlns:a="http://schemas.openxmlformats.org/drawingml/2006/main">
            <a:srgbClr val="2B8C8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7181512-1053-4EA6-B5BC-B63DC35464D4}"/>
              </a:ext>
            </a:extLst>
          </p:cNvPr>
          <p:cNvSpPr>
            <a:spLocks xmlns:a="http://schemas.openxmlformats.org/drawingml/2006/main" noGrp="1"/>
          </p:cNvSpPr>
          <p:nvPr/>
        </p:nvSpPr>
        <p:spPr>
          <a:xfrm xmlns:a="http://schemas.openxmlformats.org/drawingml/2006/main">
            <a:off x="4352925" y="17145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2B8C82"/>
                </a:solidFill>
              </a:defRPr>
            </a:defPPr>
            <a:lvl1pPr algn="l">
              <a:defRPr sz="1725" b="1">
                <a:solidFill>
                  <a:srgbClr val="2B8C82"/>
                </a:solidFill>
              </a:defRPr>
            </a:lvl1pPr>
            <a:lvl2pPr algn="l">
              <a:defRPr sz="1725" b="1">
                <a:solidFill>
                  <a:srgbClr val="2B8C82"/>
                </a:solidFill>
              </a:defRPr>
            </a:lvl2pPr>
            <a:lvl3pPr algn="l">
              <a:defRPr sz="1725" b="1">
                <a:solidFill>
                  <a:srgbClr val="2B8C82"/>
                </a:solidFill>
              </a:defRPr>
            </a:lvl3pPr>
            <a:lvl4pPr algn="l">
              <a:defRPr sz="1725" b="1">
                <a:solidFill>
                  <a:srgbClr val="2B8C82"/>
                </a:solidFill>
              </a:defRPr>
            </a:lvl4pPr>
            <a:lvl5pPr algn="l">
              <a:defRPr sz="1725" b="1">
                <a:solidFill>
                  <a:srgbClr val="2B8C82"/>
                </a:solidFill>
              </a:defRPr>
            </a:lvl5pPr>
            <a:lvl6pPr algn="l">
              <a:defRPr sz="1725" b="1">
                <a:solidFill>
                  <a:srgbClr val="2B8C82"/>
                </a:solidFill>
              </a:defRPr>
            </a:lvl6pPr>
            <a:lvl7pPr algn="l">
              <a:defRPr sz="1725" b="1">
                <a:solidFill>
                  <a:srgbClr val="2B8C82"/>
                </a:solidFill>
              </a:defRPr>
            </a:lvl7pPr>
            <a:lvl8pPr algn="l">
              <a:defRPr sz="1725" b="1">
                <a:solidFill>
                  <a:srgbClr val="2B8C82"/>
                </a:solidFill>
              </a:defRPr>
            </a:lvl8pPr>
            <a:lvl9pPr algn="l">
              <a:defRPr sz="1725" b="1">
                <a:solidFill>
                  <a:srgbClr val="2B8C82"/>
                </a:solidFill>
              </a:defRPr>
            </a:lvl9pPr>
          </a:lstStyle>
          <a:p xmlns:a="http://schemas.openxmlformats.org/drawingml/2006/main">
            <a:pPr algn="l">
              <a:defRPr sz="1725" b="1">
                <a:solidFill>
                  <a:srgbClr val="2B8C82"/>
                </a:solidFill>
              </a:defRPr>
            </a:pPr>
            <a:r>
              <a:rPr sz="1725" b="1">
                <a:solidFill>
                  <a:srgbClr val="2B8C82"/>
                </a:solidFill>
              </a:rPr>
              <a:t>S2 · Estabilidad</a:t>
            </a:r>
          </a:p>
        </p:txBody>
      </p:sp>
      <p:sp>
        <p:nvSpPr>
          <p:cNvPr id="11" name="">
            <a:extLst xmlns:a="http://schemas.openxmlformats.org/drawingml/2006/main">
              <a:ext uri="{FF2B5EF4-FFF2-40B4-BE49-F238E27FC236}">
                <a16:creationId xmlns:a16="http://schemas.microsoft.com/office/drawing/2014/main" id="{2F085331-5965-49B5-AA1F-7824315B7094}"/>
              </a:ext>
            </a:extLst>
          </p:cNvPr>
          <p:cNvSpPr>
            <a:spLocks xmlns:a="http://schemas.openxmlformats.org/drawingml/2006/main" noGrp="1"/>
          </p:cNvSpPr>
          <p:nvPr/>
        </p:nvSpPr>
        <p:spPr>
          <a:xfrm xmlns:a="http://schemas.openxmlformats.org/drawingml/2006/main">
            <a:off x="4352925" y="2333625"/>
            <a:ext cx="24384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E293B"/>
                </a:solidFill>
              </a:defRPr>
            </a:defPPr>
            <a:lvl1pPr algn="l">
              <a:defRPr sz="1425" b="0">
                <a:solidFill>
                  <a:srgbClr val="1E293B"/>
                </a:solidFill>
              </a:defRPr>
            </a:lvl1pPr>
            <a:lvl2pPr algn="l">
              <a:defRPr sz="1425" b="0">
                <a:solidFill>
                  <a:srgbClr val="1E293B"/>
                </a:solidFill>
              </a:defRPr>
            </a:lvl2pPr>
            <a:lvl3pPr algn="l">
              <a:defRPr sz="1425" b="0">
                <a:solidFill>
                  <a:srgbClr val="1E293B"/>
                </a:solidFill>
              </a:defRPr>
            </a:lvl3pPr>
            <a:lvl4pPr algn="l">
              <a:defRPr sz="1425" b="0">
                <a:solidFill>
                  <a:srgbClr val="1E293B"/>
                </a:solidFill>
              </a:defRPr>
            </a:lvl4pPr>
            <a:lvl5pPr algn="l">
              <a:defRPr sz="1425" b="0">
                <a:solidFill>
                  <a:srgbClr val="1E293B"/>
                </a:solidFill>
              </a:defRPr>
            </a:lvl5pPr>
            <a:lvl6pPr algn="l">
              <a:defRPr sz="1425" b="0">
                <a:solidFill>
                  <a:srgbClr val="1E293B"/>
                </a:solidFill>
              </a:defRPr>
            </a:lvl6pPr>
            <a:lvl7pPr algn="l">
              <a:defRPr sz="1425" b="0">
                <a:solidFill>
                  <a:srgbClr val="1E293B"/>
                </a:solidFill>
              </a:defRPr>
            </a:lvl7pPr>
            <a:lvl8pPr algn="l">
              <a:defRPr sz="1425" b="0">
                <a:solidFill>
                  <a:srgbClr val="1E293B"/>
                </a:solidFill>
              </a:defRPr>
            </a:lvl8pPr>
            <a:lvl9pPr algn="l">
              <a:defRPr sz="1425" b="0">
                <a:solidFill>
                  <a:srgbClr val="1E293B"/>
                </a:solidFill>
              </a:defRPr>
            </a:lvl9pPr>
          </a:lstStyle>
          <a:p xmlns:a="http://schemas.openxmlformats.org/drawingml/2006/main">
            <a:pPr algn="l">
              <a:defRPr sz="1425" b="0">
                <a:solidFill>
                  <a:srgbClr val="1E293B"/>
                </a:solidFill>
              </a:defRPr>
            </a:pPr>
            <a:r>
              <a:rPr sz="1425" b="0">
                <a:solidFill>
                  <a:srgbClr val="1E293B"/>
                </a:solidFill>
              </a:rPr>
              <a:t>Bootstrap y permutación</a:t>
            </a:r>
          </a:p>
          <a:p xmlns:a="http://schemas.openxmlformats.org/drawingml/2006/main">
            <a:r>
              <a:t/>
            </a:r>
          </a:p>
          <a:p xmlns:a="http://schemas.openxmlformats.org/drawingml/2006/main">
            <a:pPr algn="l">
              <a:defRPr sz="1425" b="0">
                <a:solidFill>
                  <a:srgbClr val="1E293B"/>
                </a:solidFill>
              </a:defRPr>
            </a:pPr>
            <a:r>
              <a:rPr sz="1425" b="0">
                <a:solidFill>
                  <a:srgbClr val="1E293B"/>
                </a:solidFill>
              </a:rPr>
              <a:t>Monte Carlo: variación de tasas</a:t>
            </a:r>
          </a:p>
          <a:p xmlns:a="http://schemas.openxmlformats.org/drawingml/2006/main">
            <a:r>
              <a:t/>
            </a:r>
          </a:p>
          <a:p xmlns:a="http://schemas.openxmlformats.org/drawingml/2006/main">
            <a:pPr algn="l">
              <a:defRPr sz="1425" b="0">
                <a:solidFill>
                  <a:srgbClr val="1E293B"/>
                </a:solidFill>
              </a:defRPr>
            </a:pPr>
            <a:r>
              <a:rPr sz="1425" b="0">
                <a:solidFill>
                  <a:srgbClr val="1E293B"/>
                </a:solidFill>
              </a:rPr>
              <a:t>Robustez frente a valores extremos</a:t>
            </a:r>
          </a:p>
        </p:txBody>
      </p:sp>
      <p:sp>
        <p:nvSpPr>
          <p:cNvPr id="12" name="">
            <a:extLst xmlns:a="http://schemas.openxmlformats.org/drawingml/2006/main">
              <a:ext uri="{FF2B5EF4-FFF2-40B4-BE49-F238E27FC236}">
                <a16:creationId xmlns:a16="http://schemas.microsoft.com/office/drawing/2014/main" id="{F7C8E571-EC29-47C3-BC4D-8172634C03C7}"/>
              </a:ext>
            </a:extLst>
          </p:cNvPr>
          <p:cNvSpPr>
            <a:spLocks xmlns:a="http://schemas.openxmlformats.org/drawingml/2006/main" noGrp="1"/>
          </p:cNvSpPr>
          <p:nvPr/>
        </p:nvSpPr>
        <p:spPr>
          <a:xfrm xmlns:a="http://schemas.openxmlformats.org/drawingml/2006/main">
            <a:off x="7543800" y="1428750"/>
            <a:ext cx="3905250" cy="3429000"/>
          </a:xfrm>
          <a:prstGeom xmlns:a="http://schemas.openxmlformats.org/drawingml/2006/main" prst="roundRect">
            <a:avLst>
              <a:gd name="adj" fmla="val 2222"/>
            </a:avLst>
          </a:prstGeom>
          <a:solidFill xmlns:a="http://schemas.openxmlformats.org/drawingml/2006/main">
            <a:srgbClr val="F8EF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C4749A2-2C6B-48A7-998B-B53599F7A50F}"/>
              </a:ext>
            </a:extLst>
          </p:cNvPr>
          <p:cNvSpPr>
            <a:spLocks xmlns:a="http://schemas.openxmlformats.org/drawingml/2006/main" noGrp="1"/>
          </p:cNvSpPr>
          <p:nvPr/>
        </p:nvSpPr>
        <p:spPr>
          <a:xfrm xmlns:a="http://schemas.openxmlformats.org/drawingml/2006/main">
            <a:off x="7543800" y="1428750"/>
            <a:ext cx="3905250" cy="76200"/>
          </a:xfrm>
          <a:prstGeom xmlns:a="http://schemas.openxmlformats.org/drawingml/2006/main" prst="rect">
            <a:avLst/>
          </a:prstGeom>
          <a:solidFill xmlns:a="http://schemas.openxmlformats.org/drawingml/2006/main">
            <a:srgbClr val="D96C4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754925E-DBC0-4C3D-9BA5-FDDAAC1D77BC}"/>
              </a:ext>
            </a:extLst>
          </p:cNvPr>
          <p:cNvSpPr>
            <a:spLocks xmlns:a="http://schemas.openxmlformats.org/drawingml/2006/main" noGrp="1"/>
          </p:cNvSpPr>
          <p:nvPr/>
        </p:nvSpPr>
        <p:spPr>
          <a:xfrm xmlns:a="http://schemas.openxmlformats.org/drawingml/2006/main">
            <a:off x="7753350" y="1714500"/>
            <a:ext cx="3486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D96C4A"/>
                </a:solidFill>
              </a:defRPr>
            </a:defPPr>
            <a:lvl1pPr algn="l">
              <a:defRPr sz="1725" b="1">
                <a:solidFill>
                  <a:srgbClr val="D96C4A"/>
                </a:solidFill>
              </a:defRPr>
            </a:lvl1pPr>
            <a:lvl2pPr algn="l">
              <a:defRPr sz="1725" b="1">
                <a:solidFill>
                  <a:srgbClr val="D96C4A"/>
                </a:solidFill>
              </a:defRPr>
            </a:lvl2pPr>
            <a:lvl3pPr algn="l">
              <a:defRPr sz="1725" b="1">
                <a:solidFill>
                  <a:srgbClr val="D96C4A"/>
                </a:solidFill>
              </a:defRPr>
            </a:lvl3pPr>
            <a:lvl4pPr algn="l">
              <a:defRPr sz="1725" b="1">
                <a:solidFill>
                  <a:srgbClr val="D96C4A"/>
                </a:solidFill>
              </a:defRPr>
            </a:lvl4pPr>
            <a:lvl5pPr algn="l">
              <a:defRPr sz="1725" b="1">
                <a:solidFill>
                  <a:srgbClr val="D96C4A"/>
                </a:solidFill>
              </a:defRPr>
            </a:lvl5pPr>
            <a:lvl6pPr algn="l">
              <a:defRPr sz="1725" b="1">
                <a:solidFill>
                  <a:srgbClr val="D96C4A"/>
                </a:solidFill>
              </a:defRPr>
            </a:lvl6pPr>
            <a:lvl7pPr algn="l">
              <a:defRPr sz="1725" b="1">
                <a:solidFill>
                  <a:srgbClr val="D96C4A"/>
                </a:solidFill>
              </a:defRPr>
            </a:lvl7pPr>
            <a:lvl8pPr algn="l">
              <a:defRPr sz="1725" b="1">
                <a:solidFill>
                  <a:srgbClr val="D96C4A"/>
                </a:solidFill>
              </a:defRPr>
            </a:lvl8pPr>
            <a:lvl9pPr algn="l">
              <a:defRPr sz="1725" b="1">
                <a:solidFill>
                  <a:srgbClr val="D96C4A"/>
                </a:solidFill>
              </a:defRPr>
            </a:lvl9pPr>
          </a:lstStyle>
          <a:p xmlns:a="http://schemas.openxmlformats.org/drawingml/2006/main">
            <a:pPr algn="l">
              <a:defRPr sz="1725" b="1">
                <a:solidFill>
                  <a:srgbClr val="D96C4A"/>
                </a:solidFill>
              </a:defRPr>
            </a:pPr>
            <a:r>
              <a:rPr sz="1725" b="1">
                <a:solidFill>
                  <a:srgbClr val="D96C4A"/>
                </a:solidFill>
              </a:rPr>
              <a:t>S3 · Predicción</a:t>
            </a:r>
          </a:p>
        </p:txBody>
      </p:sp>
      <p:sp>
        <p:nvSpPr>
          <p:cNvPr id="15" name="">
            <a:extLst xmlns:a="http://schemas.openxmlformats.org/drawingml/2006/main">
              <a:ext uri="{FF2B5EF4-FFF2-40B4-BE49-F238E27FC236}">
                <a16:creationId xmlns:a16="http://schemas.microsoft.com/office/drawing/2014/main" id="{3DAF0780-86FE-486A-B996-DA982ECEDF49}"/>
              </a:ext>
            </a:extLst>
          </p:cNvPr>
          <p:cNvSpPr>
            <a:spLocks xmlns:a="http://schemas.openxmlformats.org/drawingml/2006/main" noGrp="1"/>
          </p:cNvSpPr>
          <p:nvPr/>
        </p:nvSpPr>
        <p:spPr>
          <a:xfrm xmlns:a="http://schemas.openxmlformats.org/drawingml/2006/main">
            <a:off x="7753350" y="2333625"/>
            <a:ext cx="34861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E293B"/>
                </a:solidFill>
              </a:defRPr>
            </a:defPPr>
            <a:lvl1pPr algn="l">
              <a:defRPr sz="1425" b="0">
                <a:solidFill>
                  <a:srgbClr val="1E293B"/>
                </a:solidFill>
              </a:defRPr>
            </a:lvl1pPr>
            <a:lvl2pPr algn="l">
              <a:defRPr sz="1425" b="0">
                <a:solidFill>
                  <a:srgbClr val="1E293B"/>
                </a:solidFill>
              </a:defRPr>
            </a:lvl2pPr>
            <a:lvl3pPr algn="l">
              <a:defRPr sz="1425" b="0">
                <a:solidFill>
                  <a:srgbClr val="1E293B"/>
                </a:solidFill>
              </a:defRPr>
            </a:lvl3pPr>
            <a:lvl4pPr algn="l">
              <a:defRPr sz="1425" b="0">
                <a:solidFill>
                  <a:srgbClr val="1E293B"/>
                </a:solidFill>
              </a:defRPr>
            </a:lvl4pPr>
            <a:lvl5pPr algn="l">
              <a:defRPr sz="1425" b="0">
                <a:solidFill>
                  <a:srgbClr val="1E293B"/>
                </a:solidFill>
              </a:defRPr>
            </a:lvl5pPr>
            <a:lvl6pPr algn="l">
              <a:defRPr sz="1425" b="0">
                <a:solidFill>
                  <a:srgbClr val="1E293B"/>
                </a:solidFill>
              </a:defRPr>
            </a:lvl6pPr>
            <a:lvl7pPr algn="l">
              <a:defRPr sz="1425" b="0">
                <a:solidFill>
                  <a:srgbClr val="1E293B"/>
                </a:solidFill>
              </a:defRPr>
            </a:lvl7pPr>
            <a:lvl8pPr algn="l">
              <a:defRPr sz="1425" b="0">
                <a:solidFill>
                  <a:srgbClr val="1E293B"/>
                </a:solidFill>
              </a:defRPr>
            </a:lvl8pPr>
            <a:lvl9pPr algn="l">
              <a:defRPr sz="1425" b="0">
                <a:solidFill>
                  <a:srgbClr val="1E293B"/>
                </a:solidFill>
              </a:defRPr>
            </a:lvl9pPr>
          </a:lstStyle>
          <a:p xmlns:a="http://schemas.openxmlformats.org/drawingml/2006/main">
            <a:pPr algn="l">
              <a:defRPr sz="1425" b="0">
                <a:solidFill>
                  <a:srgbClr val="1E293B"/>
                </a:solidFill>
              </a:defRPr>
            </a:pPr>
            <a:r>
              <a:rPr sz="1425" b="0">
                <a:solidFill>
                  <a:srgbClr val="1E293B"/>
                </a:solidFill>
              </a:rPr>
              <a:t>Imputación y preparación</a:t>
            </a:r>
          </a:p>
          <a:p xmlns:a="http://schemas.openxmlformats.org/drawingml/2006/main">
            <a:r>
              <a:t/>
            </a:r>
          </a:p>
          <a:p xmlns:a="http://schemas.openxmlformats.org/drawingml/2006/main">
            <a:pPr algn="l">
              <a:defRPr sz="1425" b="0">
                <a:solidFill>
                  <a:srgbClr val="1E293B"/>
                </a:solidFill>
              </a:defRPr>
            </a:pPr>
            <a:r>
              <a:rPr sz="1425" b="0">
                <a:solidFill>
                  <a:srgbClr val="1E293B"/>
                </a:solidFill>
              </a:rPr>
              <a:t>Tres regresiones logísticas</a:t>
            </a:r>
          </a:p>
          <a:p xmlns:a="http://schemas.openxmlformats.org/drawingml/2006/main">
            <a:r>
              <a:t/>
            </a:r>
          </a:p>
          <a:p xmlns:a="http://schemas.openxmlformats.org/drawingml/2006/main">
            <a:pPr algn="l">
              <a:defRPr sz="1425" b="0">
                <a:solidFill>
                  <a:srgbClr val="1E293B"/>
                </a:solidFill>
              </a:defRPr>
            </a:pPr>
            <a:r>
              <a:rPr sz="1425" b="0">
                <a:solidFill>
                  <a:srgbClr val="1E293B"/>
                </a:solidFill>
              </a:rPr>
              <a:t>Evaluación, diagnósticos y sensibilidad</a:t>
            </a:r>
          </a:p>
        </p:txBody>
      </p:sp>
      <p:sp>
        <p:nvSpPr>
          <p:cNvPr id="16" name="">
            <a:extLst xmlns:a="http://schemas.openxmlformats.org/drawingml/2006/main">
              <a:ext uri="{FF2B5EF4-FFF2-40B4-BE49-F238E27FC236}">
                <a16:creationId xmlns:a16="http://schemas.microsoft.com/office/drawing/2014/main" id="{998F4077-2D60-42FC-8A3D-1D84F7849796}"/>
              </a:ext>
            </a:extLst>
          </p:cNvPr>
          <p:cNvSpPr>
            <a:spLocks xmlns:a="http://schemas.openxmlformats.org/drawingml/2006/main" noGrp="1"/>
          </p:cNvSpPr>
          <p:nvPr/>
        </p:nvSpPr>
        <p:spPr>
          <a:xfrm xmlns:a="http://schemas.openxmlformats.org/drawingml/2006/main">
            <a:off x="1000125" y="5286375"/>
            <a:ext cx="1019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23456"/>
                </a:solidFill>
              </a:defRPr>
            </a:defPPr>
            <a:lvl1pPr algn="ctr">
              <a:defRPr sz="1575" b="1">
                <a:solidFill>
                  <a:srgbClr val="123456"/>
                </a:solidFill>
              </a:defRPr>
            </a:lvl1pPr>
            <a:lvl2pPr algn="ctr">
              <a:defRPr sz="1575" b="1">
                <a:solidFill>
                  <a:srgbClr val="123456"/>
                </a:solidFill>
              </a:defRPr>
            </a:lvl2pPr>
            <a:lvl3pPr algn="ctr">
              <a:defRPr sz="1575" b="1">
                <a:solidFill>
                  <a:srgbClr val="123456"/>
                </a:solidFill>
              </a:defRPr>
            </a:lvl3pPr>
            <a:lvl4pPr algn="ctr">
              <a:defRPr sz="1575" b="1">
                <a:solidFill>
                  <a:srgbClr val="123456"/>
                </a:solidFill>
              </a:defRPr>
            </a:lvl4pPr>
            <a:lvl5pPr algn="ctr">
              <a:defRPr sz="1575" b="1">
                <a:solidFill>
                  <a:srgbClr val="123456"/>
                </a:solidFill>
              </a:defRPr>
            </a:lvl5pPr>
            <a:lvl6pPr algn="ctr">
              <a:defRPr sz="1575" b="1">
                <a:solidFill>
                  <a:srgbClr val="123456"/>
                </a:solidFill>
              </a:defRPr>
            </a:lvl6pPr>
            <a:lvl7pPr algn="ctr">
              <a:defRPr sz="1575" b="1">
                <a:solidFill>
                  <a:srgbClr val="123456"/>
                </a:solidFill>
              </a:defRPr>
            </a:lvl7pPr>
            <a:lvl8pPr algn="ctr">
              <a:defRPr sz="1575" b="1">
                <a:solidFill>
                  <a:srgbClr val="123456"/>
                </a:solidFill>
              </a:defRPr>
            </a:lvl8pPr>
            <a:lvl9pPr algn="ctr">
              <a:defRPr sz="1575" b="1">
                <a:solidFill>
                  <a:srgbClr val="123456"/>
                </a:solidFill>
              </a:defRPr>
            </a:lvl9pPr>
          </a:lstStyle>
          <a:p xmlns:a="http://schemas.openxmlformats.org/drawingml/2006/main">
            <a:pPr algn="ctr">
              <a:defRPr sz="1575" b="1">
                <a:solidFill>
                  <a:srgbClr val="123456"/>
                </a:solidFill>
              </a:defRPr>
            </a:pPr>
            <a:r>
              <a:rPr sz="1575" b="1">
                <a:solidFill>
                  <a:srgbClr val="123456"/>
                </a:solidFill>
              </a:rPr>
              <a:t>S1 destacó edad y presión; S2 probó estabilidad; S3 llevó esa evidencia a la preparación y comparación</a:t>
            </a:r>
          </a:p>
        </p:txBody>
      </p:sp>
      <p:sp>
        <p:nvSpPr>
          <p:cNvPr id="17" name="">
            <a:extLst xmlns:a="http://schemas.openxmlformats.org/drawingml/2006/main">
              <a:ext uri="{FF2B5EF4-FFF2-40B4-BE49-F238E27FC236}">
                <a16:creationId xmlns:a16="http://schemas.microsoft.com/office/drawing/2014/main" id="{0C4E9AF5-4010-48D7-8078-586447DC4667}"/>
              </a:ext>
            </a:extLst>
          </p:cNvPr>
          <p:cNvSpPr>
            <a:spLocks xmlns:a="http://schemas.openxmlformats.org/drawingml/2006/main" noGrp="1"/>
          </p:cNvSpPr>
          <p:nvPr/>
        </p:nvSpPr>
        <p:spPr>
          <a:xfrm xmlns:a="http://schemas.openxmlformats.org/drawingml/2006/main">
            <a:off x="685800" y="65151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26274"/>
                </a:solidFill>
              </a:defRPr>
            </a:defPPr>
            <a:lvl1pPr algn="l">
              <a:defRPr sz="900" b="0">
                <a:solidFill>
                  <a:srgbClr val="526274"/>
                </a:solidFill>
              </a:defRPr>
            </a:lvl1pPr>
            <a:lvl2pPr algn="l">
              <a:defRPr sz="900" b="0">
                <a:solidFill>
                  <a:srgbClr val="526274"/>
                </a:solidFill>
              </a:defRPr>
            </a:lvl2pPr>
            <a:lvl3pPr algn="l">
              <a:defRPr sz="900" b="0">
                <a:solidFill>
                  <a:srgbClr val="526274"/>
                </a:solidFill>
              </a:defRPr>
            </a:lvl3pPr>
            <a:lvl4pPr algn="l">
              <a:defRPr sz="900" b="0">
                <a:solidFill>
                  <a:srgbClr val="526274"/>
                </a:solidFill>
              </a:defRPr>
            </a:lvl4pPr>
            <a:lvl5pPr algn="l">
              <a:defRPr sz="900" b="0">
                <a:solidFill>
                  <a:srgbClr val="526274"/>
                </a:solidFill>
              </a:defRPr>
            </a:lvl5pPr>
            <a:lvl6pPr algn="l">
              <a:defRPr sz="900" b="0">
                <a:solidFill>
                  <a:srgbClr val="526274"/>
                </a:solidFill>
              </a:defRPr>
            </a:lvl6pPr>
            <a:lvl7pPr algn="l">
              <a:defRPr sz="900" b="0">
                <a:solidFill>
                  <a:srgbClr val="526274"/>
                </a:solidFill>
              </a:defRPr>
            </a:lvl7pPr>
            <a:lvl8pPr algn="l">
              <a:defRPr sz="900" b="0">
                <a:solidFill>
                  <a:srgbClr val="526274"/>
                </a:solidFill>
              </a:defRPr>
            </a:lvl8pPr>
            <a:lvl9pPr algn="l">
              <a:defRPr sz="900" b="0">
                <a:solidFill>
                  <a:srgbClr val="526274"/>
                </a:solidFill>
              </a:defRPr>
            </a:lvl9pPr>
          </a:lstStyle>
          <a:p xmlns:a="http://schemas.openxmlformats.org/drawingml/2006/main">
            <a:pPr algn="l">
              <a:defRPr sz="900" b="0">
                <a:solidFill>
                  <a:srgbClr val="526274"/>
                </a:solidFill>
              </a:defRPr>
            </a:pPr>
            <a:r>
              <a:rPr sz="900" b="0">
                <a:solidFill>
                  <a:srgbClr val="526274"/>
                </a:solidFill>
              </a:rPr>
              <a:t>MCDI501 · Estadística Computacional</a:t>
            </a:r>
          </a:p>
        </p:txBody>
      </p:sp>
    </p:spTree>
    <p:extLst>
      <p:ext uri="{BB962C8B-B14F-4D97-AF65-F5344CB8AC3E}">
        <p14:creationId xmlns:p14="http://schemas.microsoft.com/office/powerpoint/2010/main" val="2155776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F89DCA-37F8-4B3C-A515-764A26907857}"/>
              </a:ext>
            </a:extLst>
          </p:cNvPr>
          <p:cNvSpPr>
            <a:spLocks xmlns:a="http://schemas.openxmlformats.org/drawingml/2006/main" noGrp="1"/>
          </p:cNvSpPr>
          <p:nvPr/>
        </p:nvSpPr>
        <p:spPr>
          <a:xfrm xmlns:a="http://schemas.openxmlformats.org/drawingml/2006/main">
            <a:off x="704850" y="123825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23456"/>
                </a:solidFill>
              </a:defRPr>
            </a:defPPr>
            <a:lvl1pPr algn="l">
              <a:defRPr sz="1800" b="1">
                <a:solidFill>
                  <a:srgbClr val="123456"/>
                </a:solidFill>
              </a:defRPr>
            </a:lvl1pPr>
            <a:lvl2pPr algn="l">
              <a:defRPr sz="1800" b="1">
                <a:solidFill>
                  <a:srgbClr val="123456"/>
                </a:solidFill>
              </a:defRPr>
            </a:lvl2pPr>
            <a:lvl3pPr algn="l">
              <a:defRPr sz="1800" b="1">
                <a:solidFill>
                  <a:srgbClr val="123456"/>
                </a:solidFill>
              </a:defRPr>
            </a:lvl3pPr>
            <a:lvl4pPr algn="l">
              <a:defRPr sz="1800" b="1">
                <a:solidFill>
                  <a:srgbClr val="123456"/>
                </a:solidFill>
              </a:defRPr>
            </a:lvl4pPr>
            <a:lvl5pPr algn="l">
              <a:defRPr sz="1800" b="1">
                <a:solidFill>
                  <a:srgbClr val="123456"/>
                </a:solidFill>
              </a:defRPr>
            </a:lvl5pPr>
            <a:lvl6pPr algn="l">
              <a:defRPr sz="1800" b="1">
                <a:solidFill>
                  <a:srgbClr val="123456"/>
                </a:solidFill>
              </a:defRPr>
            </a:lvl6pPr>
            <a:lvl7pPr algn="l">
              <a:defRPr sz="1800" b="1">
                <a:solidFill>
                  <a:srgbClr val="123456"/>
                </a:solidFill>
              </a:defRPr>
            </a:lvl7pPr>
            <a:lvl8pPr algn="l">
              <a:defRPr sz="1800" b="1">
                <a:solidFill>
                  <a:srgbClr val="123456"/>
                </a:solidFill>
              </a:defRPr>
            </a:lvl8pPr>
            <a:lvl9pPr algn="l">
              <a:defRPr sz="1800" b="1">
                <a:solidFill>
                  <a:srgbClr val="123456"/>
                </a:solidFill>
              </a:defRPr>
            </a:lvl9pPr>
          </a:lstStyle>
          <a:p xmlns:a="http://schemas.openxmlformats.org/drawingml/2006/main">
            <a:pPr algn="l">
              <a:defRPr sz="1800" b="1">
                <a:solidFill>
                  <a:srgbClr val="123456"/>
                </a:solidFill>
              </a:defRPr>
            </a:pPr>
            <a:r>
              <a:rPr sz="1800" b="1">
                <a:solidFill>
                  <a:srgbClr val="123456"/>
                </a:solidFill>
              </a:rPr>
              <a:t>Glucosa concentró el mayor porcentaje de faltantes: 9,16 %</a:t>
            </a:r>
          </a:p>
        </p:txBody>
      </p:sp>
      <p:sp>
        <p:nvSpPr>
          <p:cNvPr id="2" name="">
            <a:extLst xmlns:a="http://schemas.openxmlformats.org/drawingml/2006/main">
              <a:ext uri="{FF2B5EF4-FFF2-40B4-BE49-F238E27FC236}">
                <a16:creationId xmlns:a16="http://schemas.microsoft.com/office/drawing/2014/main" id="{32CEC618-D8A1-4C6B-8D34-B99BD06598C0}"/>
              </a:ext>
            </a:extLst>
          </p:cNvPr>
          <p:cNvSpPr>
            <a:spLocks xmlns:a="http://schemas.openxmlformats.org/drawingml/2006/main" noGrp="1"/>
          </p:cNvSpPr>
          <p:nvPr/>
        </p:nvSpPr>
        <p:spPr>
          <a:xfrm xmlns:a="http://schemas.openxmlformats.org/drawingml/2006/main">
            <a:off x="704850" y="21431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76B87"/>
                </a:solidFill>
              </a:defRPr>
            </a:defPPr>
            <a:lvl1pPr algn="l">
              <a:defRPr sz="1350" b="1">
                <a:solidFill>
                  <a:srgbClr val="176B87"/>
                </a:solidFill>
              </a:defRPr>
            </a:lvl1pPr>
            <a:lvl2pPr algn="l">
              <a:defRPr sz="1350" b="1">
                <a:solidFill>
                  <a:srgbClr val="176B87"/>
                </a:solidFill>
              </a:defRPr>
            </a:lvl2pPr>
            <a:lvl3pPr algn="l">
              <a:defRPr sz="1350" b="1">
                <a:solidFill>
                  <a:srgbClr val="176B87"/>
                </a:solidFill>
              </a:defRPr>
            </a:lvl3pPr>
            <a:lvl4pPr algn="l">
              <a:defRPr sz="1350" b="1">
                <a:solidFill>
                  <a:srgbClr val="176B87"/>
                </a:solidFill>
              </a:defRPr>
            </a:lvl4pPr>
            <a:lvl5pPr algn="l">
              <a:defRPr sz="1350" b="1">
                <a:solidFill>
                  <a:srgbClr val="176B87"/>
                </a:solidFill>
              </a:defRPr>
            </a:lvl5pPr>
            <a:lvl6pPr algn="l">
              <a:defRPr sz="1350" b="1">
                <a:solidFill>
                  <a:srgbClr val="176B87"/>
                </a:solidFill>
              </a:defRPr>
            </a:lvl6pPr>
            <a:lvl7pPr algn="l">
              <a:defRPr sz="1350" b="1">
                <a:solidFill>
                  <a:srgbClr val="176B87"/>
                </a:solidFill>
              </a:defRPr>
            </a:lvl7pPr>
            <a:lvl8pPr algn="l">
              <a:defRPr sz="1350" b="1">
                <a:solidFill>
                  <a:srgbClr val="176B87"/>
                </a:solidFill>
              </a:defRPr>
            </a:lvl8pPr>
            <a:lvl9pPr algn="l">
              <a:defRPr sz="1350" b="1">
                <a:solidFill>
                  <a:srgbClr val="176B87"/>
                </a:solidFill>
              </a:defRPr>
            </a:lvl9pPr>
          </a:lstStyle>
          <a:p xmlns:a="http://schemas.openxmlformats.org/drawingml/2006/main">
            <a:pPr algn="l">
              <a:defRPr sz="1350" b="1">
                <a:solidFill>
                  <a:srgbClr val="176B87"/>
                </a:solidFill>
              </a:defRPr>
            </a:pPr>
            <a:r>
              <a:rPr sz="1350" b="1">
                <a:solidFill>
                  <a:srgbClr val="176B87"/>
                </a:solidFill>
              </a:rPr>
              <a:t>Estrategias comparadas</a:t>
            </a:r>
          </a:p>
        </p:txBody>
      </p:sp>
      <p:sp>
        <p:nvSpPr>
          <p:cNvPr id="3" name="">
            <a:extLst xmlns:a="http://schemas.openxmlformats.org/drawingml/2006/main">
              <a:ext uri="{FF2B5EF4-FFF2-40B4-BE49-F238E27FC236}">
                <a16:creationId xmlns:a16="http://schemas.microsoft.com/office/drawing/2014/main" id="{C76A1D5A-1E9D-46F4-8A84-203217818E1D}"/>
              </a:ext>
            </a:extLst>
          </p:cNvPr>
          <p:cNvSpPr>
            <a:spLocks xmlns:a="http://schemas.openxmlformats.org/drawingml/2006/main" noGrp="1"/>
          </p:cNvSpPr>
          <p:nvPr/>
        </p:nvSpPr>
        <p:spPr>
          <a:xfrm xmlns:a="http://schemas.openxmlformats.org/drawingml/2006/main">
            <a:off x="704850" y="2552700"/>
            <a:ext cx="3810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E293B"/>
                </a:solidFill>
              </a:defRPr>
            </a:defPPr>
            <a:lvl1pPr algn="l">
              <a:defRPr sz="1500" b="0">
                <a:solidFill>
                  <a:srgbClr val="1E293B"/>
                </a:solidFill>
              </a:defRPr>
            </a:lvl1pPr>
            <a:lvl2pPr algn="l">
              <a:defRPr sz="1500" b="0">
                <a:solidFill>
                  <a:srgbClr val="1E293B"/>
                </a:solidFill>
              </a:defRPr>
            </a:lvl2pPr>
            <a:lvl3pPr algn="l">
              <a:defRPr sz="1500" b="0">
                <a:solidFill>
                  <a:srgbClr val="1E293B"/>
                </a:solidFill>
              </a:defRPr>
            </a:lvl3pPr>
            <a:lvl4pPr algn="l">
              <a:defRPr sz="1500" b="0">
                <a:solidFill>
                  <a:srgbClr val="1E293B"/>
                </a:solidFill>
              </a:defRPr>
            </a:lvl4pPr>
            <a:lvl5pPr algn="l">
              <a:defRPr sz="1500" b="0">
                <a:solidFill>
                  <a:srgbClr val="1E293B"/>
                </a:solidFill>
              </a:defRPr>
            </a:lvl5pPr>
            <a:lvl6pPr algn="l">
              <a:defRPr sz="1500" b="0">
                <a:solidFill>
                  <a:srgbClr val="1E293B"/>
                </a:solidFill>
              </a:defRPr>
            </a:lvl6pPr>
            <a:lvl7pPr algn="l">
              <a:defRPr sz="1500" b="0">
                <a:solidFill>
                  <a:srgbClr val="1E293B"/>
                </a:solidFill>
              </a:defRPr>
            </a:lvl7pPr>
            <a:lvl8pPr algn="l">
              <a:defRPr sz="1500" b="0">
                <a:solidFill>
                  <a:srgbClr val="1E293B"/>
                </a:solidFill>
              </a:defRPr>
            </a:lvl8pPr>
            <a:lvl9pPr algn="l">
              <a:defRPr sz="1500" b="0">
                <a:solidFill>
                  <a:srgbClr val="1E293B"/>
                </a:solidFill>
              </a:defRPr>
            </a:lvl9pPr>
          </a:lstStyle>
          <a:p xmlns:a="http://schemas.openxmlformats.org/drawingml/2006/main">
            <a:pPr algn="l">
              <a:defRPr sz="1500" b="0">
                <a:solidFill>
                  <a:srgbClr val="1E293B"/>
                </a:solidFill>
              </a:defRPr>
            </a:pPr>
            <a:r>
              <a:rPr sz="1500" b="0">
                <a:solidFill>
                  <a:srgbClr val="1E293B"/>
                </a:solidFill>
              </a:rPr>
              <a:t>Eliminación de casos incompletos</a:t>
            </a:r>
          </a:p>
          <a:p xmlns:a="http://schemas.openxmlformats.org/drawingml/2006/main">
            <a:pPr algn="l">
              <a:defRPr sz="1500" b="0">
                <a:solidFill>
                  <a:srgbClr val="1E293B"/>
                </a:solidFill>
              </a:defRPr>
            </a:pPr>
            <a:r>
              <a:rPr sz="1500" b="0">
                <a:solidFill>
                  <a:srgbClr val="1E293B"/>
                </a:solidFill>
              </a:rPr>
              <a:t>Imputación simple</a:t>
            </a:r>
          </a:p>
          <a:p xmlns:a="http://schemas.openxmlformats.org/drawingml/2006/main">
            <a:pPr algn="l">
              <a:defRPr sz="1500" b="0">
                <a:solidFill>
                  <a:srgbClr val="1E293B"/>
                </a:solidFill>
              </a:defRPr>
            </a:pPr>
            <a:r>
              <a:rPr sz="1500" b="0">
                <a:solidFill>
                  <a:srgbClr val="1E293B"/>
                </a:solidFill>
              </a:rPr>
              <a:t>Imputación mediante regresión</a:t>
            </a:r>
          </a:p>
        </p:txBody>
      </p:sp>
      <p:sp>
        <p:nvSpPr>
          <p:cNvPr id="4" name="">
            <a:extLst xmlns:a="http://schemas.openxmlformats.org/drawingml/2006/main">
              <a:ext uri="{FF2B5EF4-FFF2-40B4-BE49-F238E27FC236}">
                <a16:creationId xmlns:a16="http://schemas.microsoft.com/office/drawing/2014/main" id="{B1999D24-E9A0-43FB-8DA1-A6E089D41082}"/>
              </a:ext>
            </a:extLst>
          </p:cNvPr>
          <p:cNvSpPr>
            <a:spLocks xmlns:a="http://schemas.openxmlformats.org/drawingml/2006/main" noGrp="1"/>
          </p:cNvSpPr>
          <p:nvPr/>
        </p:nvSpPr>
        <p:spPr>
          <a:xfrm xmlns:a="http://schemas.openxmlformats.org/drawingml/2006/main">
            <a:off x="704850" y="3981450"/>
            <a:ext cx="3857625" cy="1143000"/>
          </a:xfrm>
          <a:prstGeom xmlns:a="http://schemas.openxmlformats.org/drawingml/2006/main" prst="roundRect">
            <a:avLst>
              <a:gd name="adj" fmla="val 6667"/>
            </a:avLst>
          </a:prstGeom>
          <a:solidFill xmlns:a="http://schemas.openxmlformats.org/drawingml/2006/main">
            <a:srgbClr val="EAF5F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CD23469-93E2-4B4F-8299-173A4E2065D1}"/>
              </a:ext>
            </a:extLst>
          </p:cNvPr>
          <p:cNvSpPr>
            <a:spLocks xmlns:a="http://schemas.openxmlformats.org/drawingml/2006/main" noGrp="1"/>
          </p:cNvSpPr>
          <p:nvPr/>
        </p:nvSpPr>
        <p:spPr>
          <a:xfrm xmlns:a="http://schemas.openxmlformats.org/drawingml/2006/main">
            <a:off x="914400" y="41719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2B8C82"/>
                </a:solidFill>
              </a:defRPr>
            </a:defPPr>
            <a:lvl1pPr algn="l">
              <a:defRPr sz="1275" b="1">
                <a:solidFill>
                  <a:srgbClr val="2B8C82"/>
                </a:solidFill>
              </a:defRPr>
            </a:lvl1pPr>
            <a:lvl2pPr algn="l">
              <a:defRPr sz="1275" b="1">
                <a:solidFill>
                  <a:srgbClr val="2B8C82"/>
                </a:solidFill>
              </a:defRPr>
            </a:lvl2pPr>
            <a:lvl3pPr algn="l">
              <a:defRPr sz="1275" b="1">
                <a:solidFill>
                  <a:srgbClr val="2B8C82"/>
                </a:solidFill>
              </a:defRPr>
            </a:lvl3pPr>
            <a:lvl4pPr algn="l">
              <a:defRPr sz="1275" b="1">
                <a:solidFill>
                  <a:srgbClr val="2B8C82"/>
                </a:solidFill>
              </a:defRPr>
            </a:lvl4pPr>
            <a:lvl5pPr algn="l">
              <a:defRPr sz="1275" b="1">
                <a:solidFill>
                  <a:srgbClr val="2B8C82"/>
                </a:solidFill>
              </a:defRPr>
            </a:lvl5pPr>
            <a:lvl6pPr algn="l">
              <a:defRPr sz="1275" b="1">
                <a:solidFill>
                  <a:srgbClr val="2B8C82"/>
                </a:solidFill>
              </a:defRPr>
            </a:lvl6pPr>
            <a:lvl7pPr algn="l">
              <a:defRPr sz="1275" b="1">
                <a:solidFill>
                  <a:srgbClr val="2B8C82"/>
                </a:solidFill>
              </a:defRPr>
            </a:lvl7pPr>
            <a:lvl8pPr algn="l">
              <a:defRPr sz="1275" b="1">
                <a:solidFill>
                  <a:srgbClr val="2B8C82"/>
                </a:solidFill>
              </a:defRPr>
            </a:lvl8pPr>
            <a:lvl9pPr algn="l">
              <a:defRPr sz="1275" b="1">
                <a:solidFill>
                  <a:srgbClr val="2B8C82"/>
                </a:solidFill>
              </a:defRPr>
            </a:lvl9pPr>
          </a:lstStyle>
          <a:p xmlns:a="http://schemas.openxmlformats.org/drawingml/2006/main">
            <a:pPr algn="l">
              <a:defRPr sz="1275" b="1">
                <a:solidFill>
                  <a:srgbClr val="2B8C82"/>
                </a:solidFill>
              </a:defRPr>
            </a:pPr>
            <a:r>
              <a:rPr sz="1275" b="1">
                <a:solidFill>
                  <a:srgbClr val="2B8C82"/>
                </a:solidFill>
              </a:rPr>
              <a:t>Decisión</a:t>
            </a:r>
          </a:p>
        </p:txBody>
      </p:sp>
      <p:sp>
        <p:nvSpPr>
          <p:cNvPr id="6" name="">
            <a:extLst xmlns:a="http://schemas.openxmlformats.org/drawingml/2006/main">
              <a:ext uri="{FF2B5EF4-FFF2-40B4-BE49-F238E27FC236}">
                <a16:creationId xmlns:a16="http://schemas.microsoft.com/office/drawing/2014/main" id="{8C418F16-0BB9-4E3C-B54E-4D4E2004584D}"/>
              </a:ext>
            </a:extLst>
          </p:cNvPr>
          <p:cNvSpPr>
            <a:spLocks xmlns:a="http://schemas.openxmlformats.org/drawingml/2006/main" noGrp="1"/>
          </p:cNvSpPr>
          <p:nvPr/>
        </p:nvSpPr>
        <p:spPr>
          <a:xfrm xmlns:a="http://schemas.openxmlformats.org/drawingml/2006/main">
            <a:off x="914400" y="4467225"/>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E293B"/>
                </a:solidFill>
              </a:defRPr>
            </a:defPPr>
            <a:lvl1pPr algn="l">
              <a:defRPr sz="1350" b="0">
                <a:solidFill>
                  <a:srgbClr val="1E293B"/>
                </a:solidFill>
              </a:defRPr>
            </a:lvl1pPr>
            <a:lvl2pPr algn="l">
              <a:defRPr sz="1350" b="0">
                <a:solidFill>
                  <a:srgbClr val="1E293B"/>
                </a:solidFill>
              </a:defRPr>
            </a:lvl2pPr>
            <a:lvl3pPr algn="l">
              <a:defRPr sz="1350" b="0">
                <a:solidFill>
                  <a:srgbClr val="1E293B"/>
                </a:solidFill>
              </a:defRPr>
            </a:lvl3pPr>
            <a:lvl4pPr algn="l">
              <a:defRPr sz="1350" b="0">
                <a:solidFill>
                  <a:srgbClr val="1E293B"/>
                </a:solidFill>
              </a:defRPr>
            </a:lvl4pPr>
            <a:lvl5pPr algn="l">
              <a:defRPr sz="1350" b="0">
                <a:solidFill>
                  <a:srgbClr val="1E293B"/>
                </a:solidFill>
              </a:defRPr>
            </a:lvl5pPr>
            <a:lvl6pPr algn="l">
              <a:defRPr sz="1350" b="0">
                <a:solidFill>
                  <a:srgbClr val="1E293B"/>
                </a:solidFill>
              </a:defRPr>
            </a:lvl6pPr>
            <a:lvl7pPr algn="l">
              <a:defRPr sz="1350" b="0">
                <a:solidFill>
                  <a:srgbClr val="1E293B"/>
                </a:solidFill>
              </a:defRPr>
            </a:lvl7pPr>
            <a:lvl8pPr algn="l">
              <a:defRPr sz="1350" b="0">
                <a:solidFill>
                  <a:srgbClr val="1E293B"/>
                </a:solidFill>
              </a:defRPr>
            </a:lvl8pPr>
            <a:lvl9pPr algn="l">
              <a:defRPr sz="1350" b="0">
                <a:solidFill>
                  <a:srgbClr val="1E293B"/>
                </a:solidFill>
              </a:defRPr>
            </a:lvl9pPr>
          </a:lstStyle>
          <a:p xmlns:a="http://schemas.openxmlformats.org/drawingml/2006/main">
            <a:pPr algn="l">
              <a:defRPr sz="1350" b="0">
                <a:solidFill>
                  <a:srgbClr val="1E293B"/>
                </a:solidFill>
              </a:defRPr>
            </a:pPr>
            <a:r>
              <a:rPr sz="1350" b="0">
                <a:solidFill>
                  <a:srgbClr val="1E293B"/>
                </a:solidFill>
              </a:rPr>
              <a:t>La regresión conservó toda la muestra y usó información de varias variables, aunque no superó claramente a la imputación simple.</a:t>
            </a:r>
          </a:p>
        </p:txBody>
      </p:sp>
      <p:pic>
        <p:nvPicPr>
          <p:cNvPr id="7" name="">
            <a:extLst xmlns:a="http://schemas.openxmlformats.org/drawingml/2006/main">
              <a:ext uri="{FF2B5EF4-FFF2-40B4-BE49-F238E27FC236}">
                <a16:creationId xmlns:a16="http://schemas.microsoft.com/office/drawing/2014/main" id="{7D8F1B2D-0ACC-4006-A43A-2BF57CBEACA3}"/>
              </a:ext>
            </a:extLst>
          </p:cNvPr>
          <p:cNvPicPr>
            <a:picLocks xmlns:a="http://schemas.openxmlformats.org/drawingml/2006/main" noChangeAspect="1"/>
          </p:cNvPicPr>
          <p:nvPr/>
        </p:nvPicPr>
        <p:blipFill>
          <a:blip xmlns:r="http://schemas.openxmlformats.org/officeDocument/2006/relationships" xmlns:a="http://schemas.openxmlformats.org/drawingml/2006/main" r:embed="Rf24266a28d4a43e4"/>
          <a:stretch xmlns:a="http://schemas.openxmlformats.org/drawingml/2006/main"/>
        </p:blipFill>
        <p:spPr>
          <a:xfrm xmlns:a="http://schemas.openxmlformats.org/drawingml/2006/main">
            <a:off x="4762500" y="1966811"/>
            <a:ext cx="6762750" cy="273387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FF14663-8E74-4A5B-B8AC-32F7CC35CABF}"/>
              </a:ext>
            </a:extLst>
          </p:cNvPr>
          <p:cNvSpPr>
            <a:spLocks xmlns:a="http://schemas.openxmlformats.org/drawingml/2006/main" noGrp="1"/>
          </p:cNvSpPr>
          <p:nvPr/>
        </p:nvSpPr>
        <p:spPr>
          <a:xfrm xmlns:a="http://schemas.openxmlformats.org/drawingml/2006/main">
            <a:off x="685800" y="400050"/>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123456"/>
                </a:solidFill>
              </a:defRPr>
            </a:defPPr>
            <a:lvl1pPr algn="l">
              <a:defRPr sz="2400" b="1">
                <a:solidFill>
                  <a:srgbClr val="123456"/>
                </a:solidFill>
              </a:defRPr>
            </a:lvl1pPr>
            <a:lvl2pPr algn="l">
              <a:defRPr sz="2400" b="1">
                <a:solidFill>
                  <a:srgbClr val="123456"/>
                </a:solidFill>
              </a:defRPr>
            </a:lvl2pPr>
            <a:lvl3pPr algn="l">
              <a:defRPr sz="2400" b="1">
                <a:solidFill>
                  <a:srgbClr val="123456"/>
                </a:solidFill>
              </a:defRPr>
            </a:lvl3pPr>
            <a:lvl4pPr algn="l">
              <a:defRPr sz="2400" b="1">
                <a:solidFill>
                  <a:srgbClr val="123456"/>
                </a:solidFill>
              </a:defRPr>
            </a:lvl4pPr>
            <a:lvl5pPr algn="l">
              <a:defRPr sz="2400" b="1">
                <a:solidFill>
                  <a:srgbClr val="123456"/>
                </a:solidFill>
              </a:defRPr>
            </a:lvl5pPr>
            <a:lvl6pPr algn="l">
              <a:defRPr sz="2400" b="1">
                <a:solidFill>
                  <a:srgbClr val="123456"/>
                </a:solidFill>
              </a:defRPr>
            </a:lvl6pPr>
            <a:lvl7pPr algn="l">
              <a:defRPr sz="2400" b="1">
                <a:solidFill>
                  <a:srgbClr val="123456"/>
                </a:solidFill>
              </a:defRPr>
            </a:lvl7pPr>
            <a:lvl8pPr algn="l">
              <a:defRPr sz="2400" b="1">
                <a:solidFill>
                  <a:srgbClr val="123456"/>
                </a:solidFill>
              </a:defRPr>
            </a:lvl8pPr>
            <a:lvl9pPr algn="l">
              <a:defRPr sz="2400" b="1">
                <a:solidFill>
                  <a:srgbClr val="123456"/>
                </a:solidFill>
              </a:defRPr>
            </a:lvl9pPr>
          </a:lstStyle>
          <a:p xmlns:a="http://schemas.openxmlformats.org/drawingml/2006/main">
            <a:pPr algn="l">
              <a:defRPr sz="2400" b="1">
                <a:solidFill>
                  <a:srgbClr val="123456"/>
                </a:solidFill>
              </a:defRPr>
            </a:pPr>
            <a:r>
              <a:rPr sz="2400" b="1">
                <a:solidFill>
                  <a:srgbClr val="123456"/>
                </a:solidFill>
              </a:rPr>
              <a:t>Datos faltantes e imputación</a:t>
            </a:r>
          </a:p>
        </p:txBody>
      </p:sp>
      <p:sp>
        <p:nvSpPr>
          <p:cNvPr id="9" name="">
            <a:extLst xmlns:a="http://schemas.openxmlformats.org/drawingml/2006/main">
              <a:ext uri="{FF2B5EF4-FFF2-40B4-BE49-F238E27FC236}">
                <a16:creationId xmlns:a16="http://schemas.microsoft.com/office/drawing/2014/main" id="{66D80E4A-D174-4D20-97EE-8838D582DD79}"/>
              </a:ext>
            </a:extLst>
          </p:cNvPr>
          <p:cNvSpPr>
            <a:spLocks xmlns:a="http://schemas.openxmlformats.org/drawingml/2006/main" noGrp="1"/>
          </p:cNvSpPr>
          <p:nvPr/>
        </p:nvSpPr>
        <p:spPr>
          <a:xfrm xmlns:a="http://schemas.openxmlformats.org/drawingml/2006/main">
            <a:off x="685800" y="990600"/>
            <a:ext cx="108204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7E293F8-73A6-41FE-A43C-DC2232ABF77E}"/>
              </a:ext>
            </a:extLst>
          </p:cNvPr>
          <p:cNvSpPr>
            <a:spLocks xmlns:a="http://schemas.openxmlformats.org/drawingml/2006/main" noGrp="1"/>
          </p:cNvSpPr>
          <p:nvPr/>
        </p:nvSpPr>
        <p:spPr>
          <a:xfrm xmlns:a="http://schemas.openxmlformats.org/drawingml/2006/main">
            <a:off x="10363200" y="419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526274"/>
                </a:solidFill>
              </a:defRPr>
            </a:defPPr>
            <a:lvl1pPr algn="r">
              <a:defRPr sz="1200" b="1">
                <a:solidFill>
                  <a:srgbClr val="526274"/>
                </a:solidFill>
              </a:defRPr>
            </a:lvl1pPr>
            <a:lvl2pPr algn="r">
              <a:defRPr sz="1200" b="1">
                <a:solidFill>
                  <a:srgbClr val="526274"/>
                </a:solidFill>
              </a:defRPr>
            </a:lvl2pPr>
            <a:lvl3pPr algn="r">
              <a:defRPr sz="1200" b="1">
                <a:solidFill>
                  <a:srgbClr val="526274"/>
                </a:solidFill>
              </a:defRPr>
            </a:lvl3pPr>
            <a:lvl4pPr algn="r">
              <a:defRPr sz="1200" b="1">
                <a:solidFill>
                  <a:srgbClr val="526274"/>
                </a:solidFill>
              </a:defRPr>
            </a:lvl4pPr>
            <a:lvl5pPr algn="r">
              <a:defRPr sz="1200" b="1">
                <a:solidFill>
                  <a:srgbClr val="526274"/>
                </a:solidFill>
              </a:defRPr>
            </a:lvl5pPr>
            <a:lvl6pPr algn="r">
              <a:defRPr sz="1200" b="1">
                <a:solidFill>
                  <a:srgbClr val="526274"/>
                </a:solidFill>
              </a:defRPr>
            </a:lvl6pPr>
            <a:lvl7pPr algn="r">
              <a:defRPr sz="1200" b="1">
                <a:solidFill>
                  <a:srgbClr val="526274"/>
                </a:solidFill>
              </a:defRPr>
            </a:lvl7pPr>
            <a:lvl8pPr algn="r">
              <a:defRPr sz="1200" b="1">
                <a:solidFill>
                  <a:srgbClr val="526274"/>
                </a:solidFill>
              </a:defRPr>
            </a:lvl8pPr>
            <a:lvl9pPr algn="r">
              <a:defRPr sz="1200" b="1">
                <a:solidFill>
                  <a:srgbClr val="526274"/>
                </a:solidFill>
              </a:defRPr>
            </a:lvl9pPr>
          </a:lstStyle>
          <a:p xmlns:a="http://schemas.openxmlformats.org/drawingml/2006/main">
            <a:pPr algn="r">
              <a:defRPr sz="1200" b="1">
                <a:solidFill>
                  <a:srgbClr val="526274"/>
                </a:solidFill>
              </a:defRPr>
            </a:pPr>
            <a:r>
              <a:rPr sz="1200" b="1">
                <a:solidFill>
                  <a:srgbClr val="526274"/>
                </a:solidFill>
              </a:rPr>
              <a:t>04</a:t>
            </a:r>
          </a:p>
        </p:txBody>
      </p:sp>
      <p:sp>
        <p:nvSpPr>
          <p:cNvPr id="11" name="">
            <a:extLst xmlns:a="http://schemas.openxmlformats.org/drawingml/2006/main">
              <a:ext uri="{FF2B5EF4-FFF2-40B4-BE49-F238E27FC236}">
                <a16:creationId xmlns:a16="http://schemas.microsoft.com/office/drawing/2014/main" id="{BC887C84-1A88-4909-8D46-0E9C318B57DF}"/>
              </a:ext>
            </a:extLst>
          </p:cNvPr>
          <p:cNvSpPr>
            <a:spLocks xmlns:a="http://schemas.openxmlformats.org/drawingml/2006/main" noGrp="1"/>
          </p:cNvSpPr>
          <p:nvPr/>
        </p:nvSpPr>
        <p:spPr>
          <a:xfrm xmlns:a="http://schemas.openxmlformats.org/drawingml/2006/main">
            <a:off x="685800" y="65151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26274"/>
                </a:solidFill>
              </a:defRPr>
            </a:defPPr>
            <a:lvl1pPr algn="l">
              <a:defRPr sz="900" b="0">
                <a:solidFill>
                  <a:srgbClr val="526274"/>
                </a:solidFill>
              </a:defRPr>
            </a:lvl1pPr>
            <a:lvl2pPr algn="l">
              <a:defRPr sz="900" b="0">
                <a:solidFill>
                  <a:srgbClr val="526274"/>
                </a:solidFill>
              </a:defRPr>
            </a:lvl2pPr>
            <a:lvl3pPr algn="l">
              <a:defRPr sz="900" b="0">
                <a:solidFill>
                  <a:srgbClr val="526274"/>
                </a:solidFill>
              </a:defRPr>
            </a:lvl3pPr>
            <a:lvl4pPr algn="l">
              <a:defRPr sz="900" b="0">
                <a:solidFill>
                  <a:srgbClr val="526274"/>
                </a:solidFill>
              </a:defRPr>
            </a:lvl4pPr>
            <a:lvl5pPr algn="l">
              <a:defRPr sz="900" b="0">
                <a:solidFill>
                  <a:srgbClr val="526274"/>
                </a:solidFill>
              </a:defRPr>
            </a:lvl5pPr>
            <a:lvl6pPr algn="l">
              <a:defRPr sz="900" b="0">
                <a:solidFill>
                  <a:srgbClr val="526274"/>
                </a:solidFill>
              </a:defRPr>
            </a:lvl6pPr>
            <a:lvl7pPr algn="l">
              <a:defRPr sz="900" b="0">
                <a:solidFill>
                  <a:srgbClr val="526274"/>
                </a:solidFill>
              </a:defRPr>
            </a:lvl7pPr>
            <a:lvl8pPr algn="l">
              <a:defRPr sz="900" b="0">
                <a:solidFill>
                  <a:srgbClr val="526274"/>
                </a:solidFill>
              </a:defRPr>
            </a:lvl8pPr>
            <a:lvl9pPr algn="l">
              <a:defRPr sz="900" b="0">
                <a:solidFill>
                  <a:srgbClr val="526274"/>
                </a:solidFill>
              </a:defRPr>
            </a:lvl9pPr>
          </a:lstStyle>
          <a:p xmlns:a="http://schemas.openxmlformats.org/drawingml/2006/main">
            <a:pPr algn="l">
              <a:defRPr sz="900" b="0">
                <a:solidFill>
                  <a:srgbClr val="526274"/>
                </a:solidFill>
              </a:defRPr>
            </a:pPr>
            <a:r>
              <a:rPr sz="900" b="0">
                <a:solidFill>
                  <a:srgbClr val="526274"/>
                </a:solidFill>
              </a:rPr>
              <a:t>MCDI501 · Estadística Computacional</a:t>
            </a:r>
          </a:p>
        </p:txBody>
      </p:sp>
    </p:spTree>
    <p:extLst>
      <p:ext uri="{BB962C8B-B14F-4D97-AF65-F5344CB8AC3E}">
        <p14:creationId xmlns:p14="http://schemas.microsoft.com/office/powerpoint/2010/main" val="11266886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17E965-6232-4576-99C1-5019B480241F}"/>
              </a:ext>
            </a:extLst>
          </p:cNvPr>
          <p:cNvSpPr>
            <a:spLocks xmlns:a="http://schemas.openxmlformats.org/drawingml/2006/main" noGrp="1"/>
          </p:cNvSpPr>
          <p:nvPr/>
        </p:nvSpPr>
        <p:spPr>
          <a:xfrm xmlns:a="http://schemas.openxmlformats.org/drawingml/2006/main">
            <a:off x="685800" y="400050"/>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123456"/>
                </a:solidFill>
              </a:defRPr>
            </a:defPPr>
            <a:lvl1pPr algn="l">
              <a:defRPr sz="2400" b="1">
                <a:solidFill>
                  <a:srgbClr val="123456"/>
                </a:solidFill>
              </a:defRPr>
            </a:lvl1pPr>
            <a:lvl2pPr algn="l">
              <a:defRPr sz="2400" b="1">
                <a:solidFill>
                  <a:srgbClr val="123456"/>
                </a:solidFill>
              </a:defRPr>
            </a:lvl2pPr>
            <a:lvl3pPr algn="l">
              <a:defRPr sz="2400" b="1">
                <a:solidFill>
                  <a:srgbClr val="123456"/>
                </a:solidFill>
              </a:defRPr>
            </a:lvl3pPr>
            <a:lvl4pPr algn="l">
              <a:defRPr sz="2400" b="1">
                <a:solidFill>
                  <a:srgbClr val="123456"/>
                </a:solidFill>
              </a:defRPr>
            </a:lvl4pPr>
            <a:lvl5pPr algn="l">
              <a:defRPr sz="2400" b="1">
                <a:solidFill>
                  <a:srgbClr val="123456"/>
                </a:solidFill>
              </a:defRPr>
            </a:lvl5pPr>
            <a:lvl6pPr algn="l">
              <a:defRPr sz="2400" b="1">
                <a:solidFill>
                  <a:srgbClr val="123456"/>
                </a:solidFill>
              </a:defRPr>
            </a:lvl6pPr>
            <a:lvl7pPr algn="l">
              <a:defRPr sz="2400" b="1">
                <a:solidFill>
                  <a:srgbClr val="123456"/>
                </a:solidFill>
              </a:defRPr>
            </a:lvl7pPr>
            <a:lvl8pPr algn="l">
              <a:defRPr sz="2400" b="1">
                <a:solidFill>
                  <a:srgbClr val="123456"/>
                </a:solidFill>
              </a:defRPr>
            </a:lvl8pPr>
            <a:lvl9pPr algn="l">
              <a:defRPr sz="2400" b="1">
                <a:solidFill>
                  <a:srgbClr val="123456"/>
                </a:solidFill>
              </a:defRPr>
            </a:lvl9pPr>
          </a:lstStyle>
          <a:p xmlns:a="http://schemas.openxmlformats.org/drawingml/2006/main">
            <a:pPr algn="l">
              <a:defRPr sz="2400" b="1">
                <a:solidFill>
                  <a:srgbClr val="123456"/>
                </a:solidFill>
              </a:defRPr>
            </a:pPr>
            <a:r>
              <a:rPr sz="2400" b="1">
                <a:solidFill>
                  <a:srgbClr val="123456"/>
                </a:solidFill>
              </a:rPr>
              <a:t>Tres modelos logísticos</a:t>
            </a:r>
          </a:p>
        </p:txBody>
      </p:sp>
      <p:sp>
        <p:nvSpPr>
          <p:cNvPr id="2" name="">
            <a:extLst xmlns:a="http://schemas.openxmlformats.org/drawingml/2006/main">
              <a:ext uri="{FF2B5EF4-FFF2-40B4-BE49-F238E27FC236}">
                <a16:creationId xmlns:a16="http://schemas.microsoft.com/office/drawing/2014/main" id="{BA06A674-2CEA-4F10-B3CA-EBF4319F8869}"/>
              </a:ext>
            </a:extLst>
          </p:cNvPr>
          <p:cNvSpPr>
            <a:spLocks xmlns:a="http://schemas.openxmlformats.org/drawingml/2006/main" noGrp="1"/>
          </p:cNvSpPr>
          <p:nvPr/>
        </p:nvSpPr>
        <p:spPr>
          <a:xfrm xmlns:a="http://schemas.openxmlformats.org/drawingml/2006/main">
            <a:off x="685800" y="990600"/>
            <a:ext cx="108204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21F9F6A-B102-4DC8-B79C-D3E0977CF80B}"/>
              </a:ext>
            </a:extLst>
          </p:cNvPr>
          <p:cNvSpPr>
            <a:spLocks xmlns:a="http://schemas.openxmlformats.org/drawingml/2006/main" noGrp="1"/>
          </p:cNvSpPr>
          <p:nvPr/>
        </p:nvSpPr>
        <p:spPr>
          <a:xfrm xmlns:a="http://schemas.openxmlformats.org/drawingml/2006/main">
            <a:off x="10363200" y="419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526274"/>
                </a:solidFill>
              </a:defRPr>
            </a:defPPr>
            <a:lvl1pPr algn="r">
              <a:defRPr sz="1200" b="1">
                <a:solidFill>
                  <a:srgbClr val="526274"/>
                </a:solidFill>
              </a:defRPr>
            </a:lvl1pPr>
            <a:lvl2pPr algn="r">
              <a:defRPr sz="1200" b="1">
                <a:solidFill>
                  <a:srgbClr val="526274"/>
                </a:solidFill>
              </a:defRPr>
            </a:lvl2pPr>
            <a:lvl3pPr algn="r">
              <a:defRPr sz="1200" b="1">
                <a:solidFill>
                  <a:srgbClr val="526274"/>
                </a:solidFill>
              </a:defRPr>
            </a:lvl3pPr>
            <a:lvl4pPr algn="r">
              <a:defRPr sz="1200" b="1">
                <a:solidFill>
                  <a:srgbClr val="526274"/>
                </a:solidFill>
              </a:defRPr>
            </a:lvl4pPr>
            <a:lvl5pPr algn="r">
              <a:defRPr sz="1200" b="1">
                <a:solidFill>
                  <a:srgbClr val="526274"/>
                </a:solidFill>
              </a:defRPr>
            </a:lvl5pPr>
            <a:lvl6pPr algn="r">
              <a:defRPr sz="1200" b="1">
                <a:solidFill>
                  <a:srgbClr val="526274"/>
                </a:solidFill>
              </a:defRPr>
            </a:lvl6pPr>
            <a:lvl7pPr algn="r">
              <a:defRPr sz="1200" b="1">
                <a:solidFill>
                  <a:srgbClr val="526274"/>
                </a:solidFill>
              </a:defRPr>
            </a:lvl7pPr>
            <a:lvl8pPr algn="r">
              <a:defRPr sz="1200" b="1">
                <a:solidFill>
                  <a:srgbClr val="526274"/>
                </a:solidFill>
              </a:defRPr>
            </a:lvl8pPr>
            <a:lvl9pPr algn="r">
              <a:defRPr sz="1200" b="1">
                <a:solidFill>
                  <a:srgbClr val="526274"/>
                </a:solidFill>
              </a:defRPr>
            </a:lvl9pPr>
          </a:lstStyle>
          <a:p xmlns:a="http://schemas.openxmlformats.org/drawingml/2006/main">
            <a:pPr algn="r">
              <a:defRPr sz="1200" b="1">
                <a:solidFill>
                  <a:srgbClr val="526274"/>
                </a:solidFill>
              </a:defRPr>
            </a:pPr>
            <a:r>
              <a:rPr sz="1200" b="1">
                <a:solidFill>
                  <a:srgbClr val="526274"/>
                </a:solidFill>
              </a:rPr>
              <a:t>05</a:t>
            </a:r>
          </a:p>
        </p:txBody>
      </p:sp>
      <p:sp>
        <p:nvSpPr>
          <p:cNvPr id="4" name="">
            <a:extLst xmlns:a="http://schemas.openxmlformats.org/drawingml/2006/main">
              <a:ext uri="{FF2B5EF4-FFF2-40B4-BE49-F238E27FC236}">
                <a16:creationId xmlns:a16="http://schemas.microsoft.com/office/drawing/2014/main" id="{2FE6E547-316B-488E-9C50-496757979A6B}"/>
              </a:ext>
            </a:extLst>
          </p:cNvPr>
          <p:cNvSpPr>
            <a:spLocks xmlns:a="http://schemas.openxmlformats.org/drawingml/2006/main" noGrp="1"/>
          </p:cNvSpPr>
          <p:nvPr/>
        </p:nvSpPr>
        <p:spPr>
          <a:xfrm xmlns:a="http://schemas.openxmlformats.org/drawingml/2006/main">
            <a:off x="723900" y="1200150"/>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E293B"/>
                </a:solidFill>
              </a:defRPr>
            </a:defPPr>
            <a:lvl1pPr algn="l">
              <a:defRPr sz="1650" b="1">
                <a:solidFill>
                  <a:srgbClr val="1E293B"/>
                </a:solidFill>
              </a:defRPr>
            </a:lvl1pPr>
            <a:lvl2pPr algn="l">
              <a:defRPr sz="1650" b="1">
                <a:solidFill>
                  <a:srgbClr val="1E293B"/>
                </a:solidFill>
              </a:defRPr>
            </a:lvl2pPr>
            <a:lvl3pPr algn="l">
              <a:defRPr sz="1650" b="1">
                <a:solidFill>
                  <a:srgbClr val="1E293B"/>
                </a:solidFill>
              </a:defRPr>
            </a:lvl3pPr>
            <a:lvl4pPr algn="l">
              <a:defRPr sz="1650" b="1">
                <a:solidFill>
                  <a:srgbClr val="1E293B"/>
                </a:solidFill>
              </a:defRPr>
            </a:lvl4pPr>
            <a:lvl5pPr algn="l">
              <a:defRPr sz="1650" b="1">
                <a:solidFill>
                  <a:srgbClr val="1E293B"/>
                </a:solidFill>
              </a:defRPr>
            </a:lvl5pPr>
            <a:lvl6pPr algn="l">
              <a:defRPr sz="1650" b="1">
                <a:solidFill>
                  <a:srgbClr val="1E293B"/>
                </a:solidFill>
              </a:defRPr>
            </a:lvl6pPr>
            <a:lvl7pPr algn="l">
              <a:defRPr sz="1650" b="1">
                <a:solidFill>
                  <a:srgbClr val="1E293B"/>
                </a:solidFill>
              </a:defRPr>
            </a:lvl7pPr>
            <a:lvl8pPr algn="l">
              <a:defRPr sz="1650" b="1">
                <a:solidFill>
                  <a:srgbClr val="1E293B"/>
                </a:solidFill>
              </a:defRPr>
            </a:lvl8pPr>
            <a:lvl9pPr algn="l">
              <a:defRPr sz="1650" b="1">
                <a:solidFill>
                  <a:srgbClr val="1E293B"/>
                </a:solidFill>
              </a:defRPr>
            </a:lvl9pPr>
          </a:lstStyle>
          <a:p xmlns:a="http://schemas.openxmlformats.org/drawingml/2006/main">
            <a:pPr algn="l">
              <a:defRPr sz="1650" b="1">
                <a:solidFill>
                  <a:srgbClr val="1E293B"/>
                </a:solidFill>
              </a:defRPr>
            </a:pPr>
            <a:r>
              <a:rPr sz="1650" b="1">
                <a:solidFill>
                  <a:srgbClr val="1E293B"/>
                </a:solidFill>
              </a:rPr>
              <a:t>La comparación separó selección de variables y evaluación en prueba</a:t>
            </a:r>
          </a:p>
        </p:txBody>
      </p:sp>
      <p:graphicFrame>
        <p:nvGraphicFramePr>
          <p:cNvPr id="5" name="">
            <a:extLst xmlns:a="http://schemas.openxmlformats.org/drawingml/2006/main">
              <a:ext uri="{FF2B5EF4-FFF2-40B4-BE49-F238E27FC236}">
                <a16:creationId xmlns:a16="http://schemas.microsoft.com/office/drawing/2014/main" id="{01DADBA0-1797-43BB-86E2-493BD7C65B90}"/>
              </a:ext>
            </a:extLst>
          </p:cNvPr>
          <p:cNvGraphicFramePr/>
          <p:nvPr/>
        </p:nvGraphicFramePr>
        <p:xfrm>
          <a:off xmlns:a="http://schemas.openxmlformats.org/drawingml/2006/main" x="723900" y="1809750"/>
          <a:ext xmlns:a="http://schemas.openxmlformats.org/drawingml/2006/main" cx="10744200" cy="2476500"/>
        </p:xfrm>
        <a:graphic xmlns:a="http://schemas.openxmlformats.org/drawingml/2006/main">
          <a:graphicData uri="http://schemas.openxmlformats.org/drawingml/2006/table">
            <a:tbl>
              <a:tblPr firstRow="1" bandRow="1"/>
              <a:tblGrid>
                <a:gridCol w="2381250"/>
                <a:gridCol w="1238250"/>
                <a:gridCol w="1666875"/>
                <a:gridCol w="1666875"/>
                <a:gridCol w="1666875"/>
                <a:gridCol w="1666875"/>
              </a:tblGrid>
              <a:tr h="619125">
                <a:tc>
                  <a:txBody>
                    <a:bodyPr/>
                    <a:lstStyle/>
                    <a:p>
                      <a:pPr algn="ctr"/>
                      <a:r>
                        <a:rPr sz="1275" b="1">
                          <a:solidFill>
                            <a:srgbClr val="FFFFFF"/>
                          </a:solidFill>
                        </a:rPr>
                        <a:t>Modelo</a:t>
                      </a:r>
                    </a:p>
                  </a:txBody>
                  <a:tcPr marL="91440" marR="91440" marT="45720" marB="45720">
                    <a:lnL w="9525">
                      <a:solidFill>
                        <a:srgbClr val="D7E0E8"/>
                      </a:solidFill>
                      <a:prstDash val="solid"/>
                    </a:lnL>
                    <a:lnR w="9525">
                      <a:solidFill>
                        <a:srgbClr val="D7E0E8"/>
                      </a:solidFill>
                      <a:prstDash val="solid"/>
                    </a:lnR>
                    <a:lnT w="9525">
                      <a:solidFill>
                        <a:srgbClr val="D7E0E8"/>
                      </a:solidFill>
                      <a:prstDash val="solid"/>
                    </a:lnT>
                    <a:lnB w="9525">
                      <a:solidFill>
                        <a:srgbClr val="D7E0E8"/>
                      </a:solidFill>
                      <a:prstDash val="solid"/>
                    </a:lnB>
                    <a:solidFill>
                      <a:srgbClr val="123456"/>
                    </a:solidFill>
                  </a:tcPr>
                </a:tc>
                <a:tc>
                  <a:txBody>
                    <a:bodyPr/>
                    <a:lstStyle/>
                    <a:p>
                      <a:pPr algn="ctr"/>
                      <a:r>
                        <a:rPr sz="1275" b="1">
                          <a:solidFill>
                            <a:srgbClr val="FFFFFF"/>
                          </a:solidFill>
                        </a:rPr>
                        <a:t>Variables</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23456"/>
                    </a:solidFill>
                  </a:tcPr>
                </a:tc>
                <a:tc>
                  <a:txBody>
                    <a:bodyPr/>
                    <a:lstStyle/>
                    <a:p>
                      <a:pPr algn="ctr"/>
                      <a:r>
                        <a:rPr sz="1275" b="1">
                          <a:solidFill>
                            <a:srgbClr val="FFFFFF"/>
                          </a:solidFill>
                        </a:rPr>
                        <a:t>CV-AUC</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23456"/>
                    </a:solidFill>
                  </a:tcPr>
                </a:tc>
                <a:tc>
                  <a:txBody>
                    <a:bodyPr/>
                    <a:lstStyle/>
                    <a:p>
                      <a:pPr algn="ctr"/>
                      <a:r>
                        <a:rPr sz="1275" b="1">
                          <a:solidFill>
                            <a:srgbClr val="FFFFFF"/>
                          </a:solidFill>
                        </a:rPr>
                        <a:t>AUC prueba</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23456"/>
                    </a:solidFill>
                  </a:tcPr>
                </a:tc>
                <a:tc>
                  <a:txBody>
                    <a:bodyPr/>
                    <a:lstStyle/>
                    <a:p>
                      <a:pPr algn="ctr"/>
                      <a:r>
                        <a:rPr sz="1275" b="1">
                          <a:solidFill>
                            <a:srgbClr val="FFFFFF"/>
                          </a:solidFill>
                        </a:rPr>
                        <a:t>Sensibilidad</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23456"/>
                    </a:solidFill>
                  </a:tcPr>
                </a:tc>
                <a:tc>
                  <a:txBody>
                    <a:bodyPr/>
                    <a:lstStyle/>
                    <a:p>
                      <a:pPr algn="ctr"/>
                      <a:r>
                        <a:rPr sz="1275" b="1">
                          <a:solidFill>
                            <a:srgbClr val="FFFFFF"/>
                          </a:solidFill>
                        </a:rPr>
                        <a:t>F1</a:t>
                      </a:r>
                    </a:p>
                  </a:txBody>
                  <a:tcPr marL="91440" marR="91440" marT="45720" marB="45720">
                    <a:lnR w="9525">
                      <a:solidFill>
                        <a:srgbClr val="D7E0E8"/>
                      </a:solidFill>
                      <a:prstDash val="solid"/>
                    </a:lnR>
                    <a:lnT w="9525">
                      <a:solidFill>
                        <a:srgbClr val="D7E0E8"/>
                      </a:solidFill>
                      <a:prstDash val="solid"/>
                    </a:lnT>
                    <a:lnB w="9525">
                      <a:solidFill>
                        <a:srgbClr val="D7E0E8"/>
                      </a:solidFill>
                      <a:prstDash val="solid"/>
                    </a:lnB>
                    <a:solidFill>
                      <a:srgbClr val="123456"/>
                    </a:solidFill>
                  </a:tcPr>
                </a:tc>
              </a:tr>
              <a:tr h="619125">
                <a:tc>
                  <a:txBody>
                    <a:bodyPr/>
                    <a:lstStyle/>
                    <a:p>
                      <a:pPr algn="l"/>
                      <a:r>
                        <a:rPr sz="1275">
                          <a:solidFill>
                            <a:srgbClr val="1E293B"/>
                          </a:solidFill>
                        </a:rPr>
                        <a:t>M1 · S1/S2</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tcPr>
                </a:tc>
                <a:tc>
                  <a:txBody>
                    <a:bodyPr/>
                    <a:lstStyle/>
                    <a:p>
                      <a:pPr algn="ctr"/>
                      <a:r>
                        <a:rPr sz="1275">
                          <a:solidFill>
                            <a:srgbClr val="1E293B"/>
                          </a:solidFill>
                        </a:rPr>
                        <a:t>7</a:t>
                      </a:r>
                    </a:p>
                  </a:txBody>
                  <a:tcPr marL="91440" marR="91440" marT="45720" marB="45720">
                    <a:lnR w="9525">
                      <a:solidFill>
                        <a:srgbClr val="D7E0E8"/>
                      </a:solidFill>
                      <a:prstDash val="solid"/>
                    </a:lnR>
                    <a:lnB w="9525">
                      <a:solidFill>
                        <a:srgbClr val="D7E0E8"/>
                      </a:solidFill>
                      <a:prstDash val="solid"/>
                    </a:lnB>
                  </a:tcPr>
                </a:tc>
                <a:tc>
                  <a:txBody>
                    <a:bodyPr/>
                    <a:lstStyle/>
                    <a:p>
                      <a:pPr algn="ctr"/>
                      <a:r>
                        <a:rPr sz="1275">
                          <a:solidFill>
                            <a:srgbClr val="1E293B"/>
                          </a:solidFill>
                        </a:rPr>
                        <a:t>0,7197</a:t>
                      </a:r>
                    </a:p>
                  </a:txBody>
                  <a:tcPr marL="91440" marR="91440" marT="45720" marB="45720">
                    <a:lnR w="9525">
                      <a:solidFill>
                        <a:srgbClr val="D7E0E8"/>
                      </a:solidFill>
                      <a:prstDash val="solid"/>
                    </a:lnR>
                    <a:lnB w="9525">
                      <a:solidFill>
                        <a:srgbClr val="D7E0E8"/>
                      </a:solidFill>
                      <a:prstDash val="solid"/>
                    </a:lnB>
                  </a:tcPr>
                </a:tc>
                <a:tc>
                  <a:txBody>
                    <a:bodyPr/>
                    <a:lstStyle/>
                    <a:p>
                      <a:pPr algn="ctr"/>
                      <a:r>
                        <a:rPr sz="1275">
                          <a:solidFill>
                            <a:srgbClr val="1E293B"/>
                          </a:solidFill>
                        </a:rPr>
                        <a:t>0,6728</a:t>
                      </a:r>
                    </a:p>
                  </a:txBody>
                  <a:tcPr marL="91440" marR="91440" marT="45720" marB="45720">
                    <a:lnR w="9525">
                      <a:solidFill>
                        <a:srgbClr val="D7E0E8"/>
                      </a:solidFill>
                      <a:prstDash val="solid"/>
                    </a:lnR>
                    <a:lnB w="9525">
                      <a:solidFill>
                        <a:srgbClr val="D7E0E8"/>
                      </a:solidFill>
                      <a:prstDash val="solid"/>
                    </a:lnB>
                  </a:tcPr>
                </a:tc>
                <a:tc>
                  <a:txBody>
                    <a:bodyPr/>
                    <a:lstStyle/>
                    <a:p>
                      <a:pPr algn="ctr"/>
                      <a:r>
                        <a:rPr sz="1275">
                          <a:solidFill>
                            <a:srgbClr val="1E293B"/>
                          </a:solidFill>
                        </a:rPr>
                        <a:t>0,6373</a:t>
                      </a:r>
                    </a:p>
                  </a:txBody>
                  <a:tcPr marL="91440" marR="91440" marT="45720" marB="45720">
                    <a:lnR w="9525">
                      <a:solidFill>
                        <a:srgbClr val="D7E0E8"/>
                      </a:solidFill>
                      <a:prstDash val="solid"/>
                    </a:lnR>
                    <a:lnB w="9525">
                      <a:solidFill>
                        <a:srgbClr val="D7E0E8"/>
                      </a:solidFill>
                      <a:prstDash val="solid"/>
                    </a:lnB>
                  </a:tcPr>
                </a:tc>
                <a:tc>
                  <a:txBody>
                    <a:bodyPr/>
                    <a:lstStyle/>
                    <a:p>
                      <a:pPr algn="ctr"/>
                      <a:r>
                        <a:rPr sz="1275">
                          <a:solidFill>
                            <a:srgbClr val="1E293B"/>
                          </a:solidFill>
                        </a:rPr>
                        <a:t>0,3426</a:t>
                      </a:r>
                    </a:p>
                  </a:txBody>
                  <a:tcPr marL="91440" marR="91440" marT="45720" marB="45720">
                    <a:lnR w="9525">
                      <a:solidFill>
                        <a:srgbClr val="D7E0E8"/>
                      </a:solidFill>
                      <a:prstDash val="solid"/>
                    </a:lnR>
                    <a:lnB w="9525">
                      <a:solidFill>
                        <a:srgbClr val="D7E0E8"/>
                      </a:solidFill>
                      <a:prstDash val="solid"/>
                    </a:lnB>
                  </a:tcPr>
                </a:tc>
              </a:tr>
              <a:tr h="619125">
                <a:tc>
                  <a:txBody>
                    <a:bodyPr/>
                    <a:lstStyle/>
                    <a:p>
                      <a:pPr algn="l"/>
                      <a:r>
                        <a:rPr sz="1275">
                          <a:solidFill>
                            <a:srgbClr val="1E293B"/>
                          </a:solidFill>
                        </a:rPr>
                        <a:t>M2 · Stepwise</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tcPr>
                </a:tc>
                <a:tc>
                  <a:txBody>
                    <a:bodyPr/>
                    <a:lstStyle/>
                    <a:p>
                      <a:pPr algn="ctr"/>
                      <a:r>
                        <a:rPr sz="1275">
                          <a:solidFill>
                            <a:srgbClr val="1E293B"/>
                          </a:solidFill>
                        </a:rPr>
                        <a:t>8</a:t>
                      </a:r>
                    </a:p>
                  </a:txBody>
                  <a:tcPr marL="91440" marR="91440" marT="45720" marB="45720">
                    <a:lnR w="9525">
                      <a:solidFill>
                        <a:srgbClr val="D7E0E8"/>
                      </a:solidFill>
                      <a:prstDash val="solid"/>
                    </a:lnR>
                    <a:lnB w="9525">
                      <a:solidFill>
                        <a:srgbClr val="D7E0E8"/>
                      </a:solidFill>
                      <a:prstDash val="solid"/>
                    </a:lnB>
                  </a:tcPr>
                </a:tc>
                <a:tc>
                  <a:txBody>
                    <a:bodyPr/>
                    <a:lstStyle/>
                    <a:p>
                      <a:pPr algn="ctr"/>
                      <a:r>
                        <a:rPr sz="1275">
                          <a:solidFill>
                            <a:srgbClr val="1E293B"/>
                          </a:solidFill>
                        </a:rPr>
                        <a:t>0,7346</a:t>
                      </a:r>
                    </a:p>
                  </a:txBody>
                  <a:tcPr marL="91440" marR="91440" marT="45720" marB="45720">
                    <a:lnR w="9525">
                      <a:solidFill>
                        <a:srgbClr val="D7E0E8"/>
                      </a:solidFill>
                      <a:prstDash val="solid"/>
                    </a:lnR>
                    <a:lnB w="9525">
                      <a:solidFill>
                        <a:srgbClr val="D7E0E8"/>
                      </a:solidFill>
                      <a:prstDash val="solid"/>
                    </a:lnB>
                  </a:tcPr>
                </a:tc>
                <a:tc>
                  <a:txBody>
                    <a:bodyPr/>
                    <a:lstStyle/>
                    <a:p>
                      <a:pPr algn="ctr"/>
                      <a:r>
                        <a:rPr sz="1275">
                          <a:solidFill>
                            <a:srgbClr val="1E293B"/>
                          </a:solidFill>
                        </a:rPr>
                        <a:t>0,6953</a:t>
                      </a:r>
                    </a:p>
                  </a:txBody>
                  <a:tcPr marL="91440" marR="91440" marT="45720" marB="45720">
                    <a:lnR w="9525">
                      <a:solidFill>
                        <a:srgbClr val="D7E0E8"/>
                      </a:solidFill>
                      <a:prstDash val="solid"/>
                    </a:lnR>
                    <a:lnB w="9525">
                      <a:solidFill>
                        <a:srgbClr val="D7E0E8"/>
                      </a:solidFill>
                      <a:prstDash val="solid"/>
                    </a:lnB>
                  </a:tcPr>
                </a:tc>
                <a:tc>
                  <a:txBody>
                    <a:bodyPr/>
                    <a:lstStyle/>
                    <a:p>
                      <a:pPr algn="ctr"/>
                      <a:r>
                        <a:rPr sz="1275">
                          <a:solidFill>
                            <a:srgbClr val="1E293B"/>
                          </a:solidFill>
                        </a:rPr>
                        <a:t>0,6218</a:t>
                      </a:r>
                    </a:p>
                  </a:txBody>
                  <a:tcPr marL="91440" marR="91440" marT="45720" marB="45720">
                    <a:lnR w="9525">
                      <a:solidFill>
                        <a:srgbClr val="D7E0E8"/>
                      </a:solidFill>
                      <a:prstDash val="solid"/>
                    </a:lnR>
                    <a:lnB w="9525">
                      <a:solidFill>
                        <a:srgbClr val="D7E0E8"/>
                      </a:solidFill>
                      <a:prstDash val="solid"/>
                    </a:lnB>
                  </a:tcPr>
                </a:tc>
                <a:tc>
                  <a:txBody>
                    <a:bodyPr/>
                    <a:lstStyle/>
                    <a:p>
                      <a:pPr algn="ctr"/>
                      <a:r>
                        <a:rPr sz="1275">
                          <a:solidFill>
                            <a:srgbClr val="1E293B"/>
                          </a:solidFill>
                        </a:rPr>
                        <a:t>0,3509</a:t>
                      </a:r>
                    </a:p>
                  </a:txBody>
                  <a:tcPr marL="91440" marR="91440" marT="45720" marB="45720">
                    <a:lnR w="9525">
                      <a:solidFill>
                        <a:srgbClr val="D7E0E8"/>
                      </a:solidFill>
                      <a:prstDash val="solid"/>
                    </a:lnR>
                    <a:lnB w="9525">
                      <a:solidFill>
                        <a:srgbClr val="D7E0E8"/>
                      </a:solidFill>
                      <a:prstDash val="solid"/>
                    </a:lnB>
                  </a:tcPr>
                </a:tc>
              </a:tr>
              <a:tr h="619125">
                <a:tc>
                  <a:txBody>
                    <a:bodyPr/>
                    <a:lstStyle/>
                    <a:p>
                      <a:pPr algn="l"/>
                      <a:r>
                        <a:rPr sz="1275">
                          <a:solidFill>
                            <a:srgbClr val="1E293B"/>
                          </a:solidFill>
                        </a:rPr>
                        <a:t>M3 · BIC</a:t>
                      </a:r>
                    </a:p>
                  </a:txBody>
                  <a:tcPr marL="91440" marR="91440" marT="45720" marB="45720">
                    <a:lnL w="9525">
                      <a:solidFill>
                        <a:srgbClr val="D7E0E8"/>
                      </a:solidFill>
                      <a:prstDash val="solid"/>
                    </a:lnL>
                    <a:lnR w="9525">
                      <a:solidFill>
                        <a:srgbClr val="D7E0E8"/>
                      </a:solidFill>
                      <a:prstDash val="solid"/>
                    </a:lnR>
                    <a:lnB w="9525">
                      <a:solidFill>
                        <a:srgbClr val="D7E0E8"/>
                      </a:solidFill>
                      <a:prstDash val="solid"/>
                    </a:lnB>
                    <a:solidFill>
                      <a:srgbClr val="EAF5F3"/>
                    </a:solidFill>
                  </a:tcPr>
                </a:tc>
                <a:tc>
                  <a:txBody>
                    <a:bodyPr/>
                    <a:lstStyle/>
                    <a:p>
                      <a:pPr algn="ctr"/>
                      <a:r>
                        <a:rPr sz="1275">
                          <a:solidFill>
                            <a:srgbClr val="1E293B"/>
                          </a:solidFill>
                        </a:rPr>
                        <a:t>5</a:t>
                      </a:r>
                    </a:p>
                  </a:txBody>
                  <a:tcPr marL="91440" marR="91440" marT="45720" marB="45720">
                    <a:lnR w="9525">
                      <a:solidFill>
                        <a:srgbClr val="D7E0E8"/>
                      </a:solidFill>
                      <a:prstDash val="solid"/>
                    </a:lnR>
                    <a:lnB w="9525">
                      <a:solidFill>
                        <a:srgbClr val="D7E0E8"/>
                      </a:solidFill>
                      <a:prstDash val="solid"/>
                    </a:lnB>
                    <a:solidFill>
                      <a:srgbClr val="EAF5F3"/>
                    </a:solidFill>
                  </a:tcPr>
                </a:tc>
                <a:tc>
                  <a:txBody>
                    <a:bodyPr/>
                    <a:lstStyle/>
                    <a:p>
                      <a:pPr algn="ctr"/>
                      <a:r>
                        <a:rPr sz="1275">
                          <a:solidFill>
                            <a:srgbClr val="1E293B"/>
                          </a:solidFill>
                        </a:rPr>
                        <a:t>0,7336</a:t>
                      </a:r>
                    </a:p>
                  </a:txBody>
                  <a:tcPr marL="91440" marR="91440" marT="45720" marB="45720">
                    <a:lnR w="9525">
                      <a:solidFill>
                        <a:srgbClr val="D7E0E8"/>
                      </a:solidFill>
                      <a:prstDash val="solid"/>
                    </a:lnR>
                    <a:lnB w="9525">
                      <a:solidFill>
                        <a:srgbClr val="D7E0E8"/>
                      </a:solidFill>
                      <a:prstDash val="solid"/>
                    </a:lnB>
                    <a:solidFill>
                      <a:srgbClr val="EAF5F3"/>
                    </a:solidFill>
                  </a:tcPr>
                </a:tc>
                <a:tc>
                  <a:txBody>
                    <a:bodyPr/>
                    <a:lstStyle/>
                    <a:p>
                      <a:pPr algn="ctr"/>
                      <a:r>
                        <a:rPr sz="1275">
                          <a:solidFill>
                            <a:srgbClr val="1E293B"/>
                          </a:solidFill>
                        </a:rPr>
                        <a:t>0,7026</a:t>
                      </a:r>
                    </a:p>
                  </a:txBody>
                  <a:tcPr marL="91440" marR="91440" marT="45720" marB="45720">
                    <a:lnR w="9525">
                      <a:solidFill>
                        <a:srgbClr val="D7E0E8"/>
                      </a:solidFill>
                      <a:prstDash val="solid"/>
                    </a:lnR>
                    <a:lnB w="9525">
                      <a:solidFill>
                        <a:srgbClr val="D7E0E8"/>
                      </a:solidFill>
                      <a:prstDash val="solid"/>
                    </a:lnB>
                    <a:solidFill>
                      <a:srgbClr val="EAF5F3"/>
                    </a:solidFill>
                  </a:tcPr>
                </a:tc>
                <a:tc>
                  <a:txBody>
                    <a:bodyPr/>
                    <a:lstStyle/>
                    <a:p>
                      <a:pPr algn="ctr"/>
                      <a:r>
                        <a:rPr sz="1275">
                          <a:solidFill>
                            <a:srgbClr val="1E293B"/>
                          </a:solidFill>
                        </a:rPr>
                        <a:t>0,6010</a:t>
                      </a:r>
                    </a:p>
                  </a:txBody>
                  <a:tcPr marL="91440" marR="91440" marT="45720" marB="45720">
                    <a:lnR w="9525">
                      <a:solidFill>
                        <a:srgbClr val="D7E0E8"/>
                      </a:solidFill>
                      <a:prstDash val="solid"/>
                    </a:lnR>
                    <a:lnB w="9525">
                      <a:solidFill>
                        <a:srgbClr val="D7E0E8"/>
                      </a:solidFill>
                      <a:prstDash val="solid"/>
                    </a:lnB>
                    <a:solidFill>
                      <a:srgbClr val="EAF5F3"/>
                    </a:solidFill>
                  </a:tcPr>
                </a:tc>
                <a:tc>
                  <a:txBody>
                    <a:bodyPr/>
                    <a:lstStyle/>
                    <a:p>
                      <a:pPr algn="ctr"/>
                      <a:r>
                        <a:rPr sz="1275">
                          <a:solidFill>
                            <a:srgbClr val="1E293B"/>
                          </a:solidFill>
                        </a:rPr>
                        <a:t>0,3510</a:t>
                      </a:r>
                    </a:p>
                  </a:txBody>
                  <a:tcPr marL="91440" marR="91440" marT="45720" marB="45720">
                    <a:lnR w="9525">
                      <a:solidFill>
                        <a:srgbClr val="D7E0E8"/>
                      </a:solidFill>
                      <a:prstDash val="solid"/>
                    </a:lnR>
                    <a:lnB w="9525">
                      <a:solidFill>
                        <a:srgbClr val="D7E0E8"/>
                      </a:solidFill>
                      <a:prstDash val="solid"/>
                    </a:lnB>
                    <a:solidFill>
                      <a:srgbClr val="EAF5F3"/>
                    </a:solidFill>
                  </a:tcPr>
                </a:tc>
              </a:tr>
            </a:tbl>
          </a:graphicData>
        </a:graphic>
      </p:graphicFrame>
      <p:sp>
        <p:nvSpPr>
          <p:cNvPr id="6" name="">
            <a:extLst xmlns:a="http://schemas.openxmlformats.org/drawingml/2006/main">
              <a:ext uri="{FF2B5EF4-FFF2-40B4-BE49-F238E27FC236}">
                <a16:creationId xmlns:a16="http://schemas.microsoft.com/office/drawing/2014/main" id="{53520DE6-F324-4E75-BC49-96925847924D}"/>
              </a:ext>
            </a:extLst>
          </p:cNvPr>
          <p:cNvSpPr>
            <a:spLocks xmlns:a="http://schemas.openxmlformats.org/drawingml/2006/main" noGrp="1"/>
          </p:cNvSpPr>
          <p:nvPr/>
        </p:nvSpPr>
        <p:spPr>
          <a:xfrm xmlns:a="http://schemas.openxmlformats.org/drawingml/2006/main">
            <a:off x="1028700" y="4714875"/>
            <a:ext cx="10134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00" b="1">
                <a:solidFill>
                  <a:srgbClr val="2B8C82"/>
                </a:solidFill>
              </a:defRPr>
            </a:defPPr>
            <a:lvl1pPr algn="ctr">
              <a:defRPr sz="1800" b="1">
                <a:solidFill>
                  <a:srgbClr val="2B8C82"/>
                </a:solidFill>
              </a:defRPr>
            </a:lvl1pPr>
            <a:lvl2pPr algn="ctr">
              <a:defRPr sz="1800" b="1">
                <a:solidFill>
                  <a:srgbClr val="2B8C82"/>
                </a:solidFill>
              </a:defRPr>
            </a:lvl2pPr>
            <a:lvl3pPr algn="ctr">
              <a:defRPr sz="1800" b="1">
                <a:solidFill>
                  <a:srgbClr val="2B8C82"/>
                </a:solidFill>
              </a:defRPr>
            </a:lvl3pPr>
            <a:lvl4pPr algn="ctr">
              <a:defRPr sz="1800" b="1">
                <a:solidFill>
                  <a:srgbClr val="2B8C82"/>
                </a:solidFill>
              </a:defRPr>
            </a:lvl4pPr>
            <a:lvl5pPr algn="ctr">
              <a:defRPr sz="1800" b="1">
                <a:solidFill>
                  <a:srgbClr val="2B8C82"/>
                </a:solidFill>
              </a:defRPr>
            </a:lvl5pPr>
            <a:lvl6pPr algn="ctr">
              <a:defRPr sz="1800" b="1">
                <a:solidFill>
                  <a:srgbClr val="2B8C82"/>
                </a:solidFill>
              </a:defRPr>
            </a:lvl6pPr>
            <a:lvl7pPr algn="ctr">
              <a:defRPr sz="1800" b="1">
                <a:solidFill>
                  <a:srgbClr val="2B8C82"/>
                </a:solidFill>
              </a:defRPr>
            </a:lvl7pPr>
            <a:lvl8pPr algn="ctr">
              <a:defRPr sz="1800" b="1">
                <a:solidFill>
                  <a:srgbClr val="2B8C82"/>
                </a:solidFill>
              </a:defRPr>
            </a:lvl8pPr>
            <a:lvl9pPr algn="ctr">
              <a:defRPr sz="1800" b="1">
                <a:solidFill>
                  <a:srgbClr val="2B8C82"/>
                </a:solidFill>
              </a:defRPr>
            </a:lvl9pPr>
          </a:lstStyle>
          <a:p xmlns:a="http://schemas.openxmlformats.org/drawingml/2006/main">
            <a:pPr algn="ctr">
              <a:defRPr sz="1800" b="1">
                <a:solidFill>
                  <a:srgbClr val="2B8C82"/>
                </a:solidFill>
              </a:defRPr>
            </a:pPr>
            <a:r>
              <a:rPr sz="1800" b="1">
                <a:solidFill>
                  <a:srgbClr val="2B8C82"/>
                </a:solidFill>
              </a:rPr>
              <a:t>M3 quedó prácticamente empatado con M2, pero utilizó tres variables menos</a:t>
            </a:r>
          </a:p>
        </p:txBody>
      </p:sp>
      <p:sp>
        <p:nvSpPr>
          <p:cNvPr id="7" name="">
            <a:extLst xmlns:a="http://schemas.openxmlformats.org/drawingml/2006/main">
              <a:ext uri="{FF2B5EF4-FFF2-40B4-BE49-F238E27FC236}">
                <a16:creationId xmlns:a16="http://schemas.microsoft.com/office/drawing/2014/main" id="{CCD5B91F-EFFE-45A8-B362-CA1DB5DCE085}"/>
              </a:ext>
            </a:extLst>
          </p:cNvPr>
          <p:cNvSpPr>
            <a:spLocks xmlns:a="http://schemas.openxmlformats.org/drawingml/2006/main" noGrp="1"/>
          </p:cNvSpPr>
          <p:nvPr/>
        </p:nvSpPr>
        <p:spPr>
          <a:xfrm xmlns:a="http://schemas.openxmlformats.org/drawingml/2006/main">
            <a:off x="1028700" y="5238750"/>
            <a:ext cx="10134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0">
                <a:solidFill>
                  <a:srgbClr val="1E293B"/>
                </a:solidFill>
              </a:defRPr>
            </a:defPPr>
            <a:lvl1pPr algn="ctr">
              <a:defRPr sz="1500" b="0">
                <a:solidFill>
                  <a:srgbClr val="1E293B"/>
                </a:solidFill>
              </a:defRPr>
            </a:lvl1pPr>
            <a:lvl2pPr algn="ctr">
              <a:defRPr sz="1500" b="0">
                <a:solidFill>
                  <a:srgbClr val="1E293B"/>
                </a:solidFill>
              </a:defRPr>
            </a:lvl2pPr>
            <a:lvl3pPr algn="ctr">
              <a:defRPr sz="1500" b="0">
                <a:solidFill>
                  <a:srgbClr val="1E293B"/>
                </a:solidFill>
              </a:defRPr>
            </a:lvl3pPr>
            <a:lvl4pPr algn="ctr">
              <a:defRPr sz="1500" b="0">
                <a:solidFill>
                  <a:srgbClr val="1E293B"/>
                </a:solidFill>
              </a:defRPr>
            </a:lvl4pPr>
            <a:lvl5pPr algn="ctr">
              <a:defRPr sz="1500" b="0">
                <a:solidFill>
                  <a:srgbClr val="1E293B"/>
                </a:solidFill>
              </a:defRPr>
            </a:lvl5pPr>
            <a:lvl6pPr algn="ctr">
              <a:defRPr sz="1500" b="0">
                <a:solidFill>
                  <a:srgbClr val="1E293B"/>
                </a:solidFill>
              </a:defRPr>
            </a:lvl6pPr>
            <a:lvl7pPr algn="ctr">
              <a:defRPr sz="1500" b="0">
                <a:solidFill>
                  <a:srgbClr val="1E293B"/>
                </a:solidFill>
              </a:defRPr>
            </a:lvl7pPr>
            <a:lvl8pPr algn="ctr">
              <a:defRPr sz="1500" b="0">
                <a:solidFill>
                  <a:srgbClr val="1E293B"/>
                </a:solidFill>
              </a:defRPr>
            </a:lvl8pPr>
            <a:lvl9pPr algn="ctr">
              <a:defRPr sz="1500" b="0">
                <a:solidFill>
                  <a:srgbClr val="1E293B"/>
                </a:solidFill>
              </a:defRPr>
            </a:lvl9pPr>
          </a:lstStyle>
          <a:p xmlns:a="http://schemas.openxmlformats.org/drawingml/2006/main">
            <a:pPr algn="ctr">
              <a:defRPr sz="1500" b="0">
                <a:solidFill>
                  <a:srgbClr val="1E293B"/>
                </a:solidFill>
              </a:defRPr>
            </a:pPr>
            <a:r>
              <a:rPr sz="1500" b="0">
                <a:solidFill>
                  <a:srgbClr val="1E293B"/>
                </a:solidFill>
              </a:rPr>
              <a:t>Variables finales: edad, cigarrillos diarios, presión sistólica, glucosa y sexo</a:t>
            </a:r>
          </a:p>
        </p:txBody>
      </p:sp>
      <p:sp>
        <p:nvSpPr>
          <p:cNvPr id="8" name="">
            <a:extLst xmlns:a="http://schemas.openxmlformats.org/drawingml/2006/main">
              <a:ext uri="{FF2B5EF4-FFF2-40B4-BE49-F238E27FC236}">
                <a16:creationId xmlns:a16="http://schemas.microsoft.com/office/drawing/2014/main" id="{45283137-D4A8-498D-81CC-B18E2E5D8082}"/>
              </a:ext>
            </a:extLst>
          </p:cNvPr>
          <p:cNvSpPr>
            <a:spLocks xmlns:a="http://schemas.openxmlformats.org/drawingml/2006/main" noGrp="1"/>
          </p:cNvSpPr>
          <p:nvPr/>
        </p:nvSpPr>
        <p:spPr>
          <a:xfrm xmlns:a="http://schemas.openxmlformats.org/drawingml/2006/main">
            <a:off x="685800" y="65151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26274"/>
                </a:solidFill>
              </a:defRPr>
            </a:defPPr>
            <a:lvl1pPr algn="l">
              <a:defRPr sz="900" b="0">
                <a:solidFill>
                  <a:srgbClr val="526274"/>
                </a:solidFill>
              </a:defRPr>
            </a:lvl1pPr>
            <a:lvl2pPr algn="l">
              <a:defRPr sz="900" b="0">
                <a:solidFill>
                  <a:srgbClr val="526274"/>
                </a:solidFill>
              </a:defRPr>
            </a:lvl2pPr>
            <a:lvl3pPr algn="l">
              <a:defRPr sz="900" b="0">
                <a:solidFill>
                  <a:srgbClr val="526274"/>
                </a:solidFill>
              </a:defRPr>
            </a:lvl3pPr>
            <a:lvl4pPr algn="l">
              <a:defRPr sz="900" b="0">
                <a:solidFill>
                  <a:srgbClr val="526274"/>
                </a:solidFill>
              </a:defRPr>
            </a:lvl4pPr>
            <a:lvl5pPr algn="l">
              <a:defRPr sz="900" b="0">
                <a:solidFill>
                  <a:srgbClr val="526274"/>
                </a:solidFill>
              </a:defRPr>
            </a:lvl5pPr>
            <a:lvl6pPr algn="l">
              <a:defRPr sz="900" b="0">
                <a:solidFill>
                  <a:srgbClr val="526274"/>
                </a:solidFill>
              </a:defRPr>
            </a:lvl6pPr>
            <a:lvl7pPr algn="l">
              <a:defRPr sz="900" b="0">
                <a:solidFill>
                  <a:srgbClr val="526274"/>
                </a:solidFill>
              </a:defRPr>
            </a:lvl7pPr>
            <a:lvl8pPr algn="l">
              <a:defRPr sz="900" b="0">
                <a:solidFill>
                  <a:srgbClr val="526274"/>
                </a:solidFill>
              </a:defRPr>
            </a:lvl8pPr>
            <a:lvl9pPr algn="l">
              <a:defRPr sz="900" b="0">
                <a:solidFill>
                  <a:srgbClr val="526274"/>
                </a:solidFill>
              </a:defRPr>
            </a:lvl9pPr>
          </a:lstStyle>
          <a:p xmlns:a="http://schemas.openxmlformats.org/drawingml/2006/main">
            <a:pPr algn="l">
              <a:defRPr sz="900" b="0">
                <a:solidFill>
                  <a:srgbClr val="526274"/>
                </a:solidFill>
              </a:defRPr>
            </a:pPr>
            <a:r>
              <a:rPr sz="900" b="0">
                <a:solidFill>
                  <a:srgbClr val="526274"/>
                </a:solidFill>
              </a:rPr>
              <a:t>MCDI501 · Estadística Computacional</a:t>
            </a:r>
          </a:p>
        </p:txBody>
      </p:sp>
    </p:spTree>
    <p:extLst>
      <p:ext uri="{BB962C8B-B14F-4D97-AF65-F5344CB8AC3E}">
        <p14:creationId xmlns:p14="http://schemas.microsoft.com/office/powerpoint/2010/main" val="27771615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1C8267B-B44B-4F77-AF79-0171CE0D861A}"/>
              </a:ext>
            </a:extLst>
          </p:cNvPr>
          <p:cNvPicPr>
            <a:picLocks xmlns:a="http://schemas.openxmlformats.org/drawingml/2006/main" noChangeAspect="1"/>
          </p:cNvPicPr>
          <p:nvPr/>
        </p:nvPicPr>
        <p:blipFill>
          <a:blip xmlns:r="http://schemas.openxmlformats.org/officeDocument/2006/relationships" xmlns:a="http://schemas.openxmlformats.org/drawingml/2006/main" r:embed="Rd7f269ba502c42b0"/>
          <a:stretch xmlns:a="http://schemas.openxmlformats.org/drawingml/2006/main"/>
        </p:blipFill>
        <p:spPr>
          <a:xfrm xmlns:a="http://schemas.openxmlformats.org/drawingml/2006/main">
            <a:off x="2139701" y="1143000"/>
            <a:ext cx="7912598" cy="39052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3850A4-E336-4F9C-BC42-15FF6C343845}"/>
              </a:ext>
            </a:extLst>
          </p:cNvPr>
          <p:cNvSpPr>
            <a:spLocks xmlns:a="http://schemas.openxmlformats.org/drawingml/2006/main" noGrp="1"/>
          </p:cNvSpPr>
          <p:nvPr/>
        </p:nvSpPr>
        <p:spPr>
          <a:xfrm xmlns:a="http://schemas.openxmlformats.org/drawingml/2006/main">
            <a:off x="685800" y="400050"/>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123456"/>
                </a:solidFill>
              </a:defRPr>
            </a:defPPr>
            <a:lvl1pPr algn="l">
              <a:defRPr sz="2400" b="1">
                <a:solidFill>
                  <a:srgbClr val="123456"/>
                </a:solidFill>
              </a:defRPr>
            </a:lvl1pPr>
            <a:lvl2pPr algn="l">
              <a:defRPr sz="2400" b="1">
                <a:solidFill>
                  <a:srgbClr val="123456"/>
                </a:solidFill>
              </a:defRPr>
            </a:lvl2pPr>
            <a:lvl3pPr algn="l">
              <a:defRPr sz="2400" b="1">
                <a:solidFill>
                  <a:srgbClr val="123456"/>
                </a:solidFill>
              </a:defRPr>
            </a:lvl3pPr>
            <a:lvl4pPr algn="l">
              <a:defRPr sz="2400" b="1">
                <a:solidFill>
                  <a:srgbClr val="123456"/>
                </a:solidFill>
              </a:defRPr>
            </a:lvl4pPr>
            <a:lvl5pPr algn="l">
              <a:defRPr sz="2400" b="1">
                <a:solidFill>
                  <a:srgbClr val="123456"/>
                </a:solidFill>
              </a:defRPr>
            </a:lvl5pPr>
            <a:lvl6pPr algn="l">
              <a:defRPr sz="2400" b="1">
                <a:solidFill>
                  <a:srgbClr val="123456"/>
                </a:solidFill>
              </a:defRPr>
            </a:lvl6pPr>
            <a:lvl7pPr algn="l">
              <a:defRPr sz="2400" b="1">
                <a:solidFill>
                  <a:srgbClr val="123456"/>
                </a:solidFill>
              </a:defRPr>
            </a:lvl7pPr>
            <a:lvl8pPr algn="l">
              <a:defRPr sz="2400" b="1">
                <a:solidFill>
                  <a:srgbClr val="123456"/>
                </a:solidFill>
              </a:defRPr>
            </a:lvl8pPr>
            <a:lvl9pPr algn="l">
              <a:defRPr sz="2400" b="1">
                <a:solidFill>
                  <a:srgbClr val="123456"/>
                </a:solidFill>
              </a:defRPr>
            </a:lvl9pPr>
          </a:lstStyle>
          <a:p xmlns:a="http://schemas.openxmlformats.org/drawingml/2006/main">
            <a:pPr algn="l">
              <a:defRPr sz="2400" b="1">
                <a:solidFill>
                  <a:srgbClr val="123456"/>
                </a:solidFill>
              </a:defRPr>
            </a:pPr>
            <a:r>
              <a:rPr sz="2400" b="1">
                <a:solidFill>
                  <a:srgbClr val="123456"/>
                </a:solidFill>
              </a:rPr>
              <a:t>Desempeño predictivo</a:t>
            </a:r>
          </a:p>
        </p:txBody>
      </p:sp>
      <p:sp>
        <p:nvSpPr>
          <p:cNvPr id="3" name="">
            <a:extLst xmlns:a="http://schemas.openxmlformats.org/drawingml/2006/main">
              <a:ext uri="{FF2B5EF4-FFF2-40B4-BE49-F238E27FC236}">
                <a16:creationId xmlns:a16="http://schemas.microsoft.com/office/drawing/2014/main" id="{7809DE16-2075-4448-B2D6-FEEF3DBA768C}"/>
              </a:ext>
            </a:extLst>
          </p:cNvPr>
          <p:cNvSpPr>
            <a:spLocks xmlns:a="http://schemas.openxmlformats.org/drawingml/2006/main" noGrp="1"/>
          </p:cNvSpPr>
          <p:nvPr/>
        </p:nvSpPr>
        <p:spPr>
          <a:xfrm xmlns:a="http://schemas.openxmlformats.org/drawingml/2006/main">
            <a:off x="685800" y="990600"/>
            <a:ext cx="108204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51F9447-47AA-4B03-92BD-DA802EADE373}"/>
              </a:ext>
            </a:extLst>
          </p:cNvPr>
          <p:cNvSpPr>
            <a:spLocks xmlns:a="http://schemas.openxmlformats.org/drawingml/2006/main" noGrp="1"/>
          </p:cNvSpPr>
          <p:nvPr/>
        </p:nvSpPr>
        <p:spPr>
          <a:xfrm xmlns:a="http://schemas.openxmlformats.org/drawingml/2006/main">
            <a:off x="10363200" y="419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526274"/>
                </a:solidFill>
              </a:defRPr>
            </a:defPPr>
            <a:lvl1pPr algn="r">
              <a:defRPr sz="1200" b="1">
                <a:solidFill>
                  <a:srgbClr val="526274"/>
                </a:solidFill>
              </a:defRPr>
            </a:lvl1pPr>
            <a:lvl2pPr algn="r">
              <a:defRPr sz="1200" b="1">
                <a:solidFill>
                  <a:srgbClr val="526274"/>
                </a:solidFill>
              </a:defRPr>
            </a:lvl2pPr>
            <a:lvl3pPr algn="r">
              <a:defRPr sz="1200" b="1">
                <a:solidFill>
                  <a:srgbClr val="526274"/>
                </a:solidFill>
              </a:defRPr>
            </a:lvl3pPr>
            <a:lvl4pPr algn="r">
              <a:defRPr sz="1200" b="1">
                <a:solidFill>
                  <a:srgbClr val="526274"/>
                </a:solidFill>
              </a:defRPr>
            </a:lvl4pPr>
            <a:lvl5pPr algn="r">
              <a:defRPr sz="1200" b="1">
                <a:solidFill>
                  <a:srgbClr val="526274"/>
                </a:solidFill>
              </a:defRPr>
            </a:lvl5pPr>
            <a:lvl6pPr algn="r">
              <a:defRPr sz="1200" b="1">
                <a:solidFill>
                  <a:srgbClr val="526274"/>
                </a:solidFill>
              </a:defRPr>
            </a:lvl6pPr>
            <a:lvl7pPr algn="r">
              <a:defRPr sz="1200" b="1">
                <a:solidFill>
                  <a:srgbClr val="526274"/>
                </a:solidFill>
              </a:defRPr>
            </a:lvl7pPr>
            <a:lvl8pPr algn="r">
              <a:defRPr sz="1200" b="1">
                <a:solidFill>
                  <a:srgbClr val="526274"/>
                </a:solidFill>
              </a:defRPr>
            </a:lvl8pPr>
            <a:lvl9pPr algn="r">
              <a:defRPr sz="1200" b="1">
                <a:solidFill>
                  <a:srgbClr val="526274"/>
                </a:solidFill>
              </a:defRPr>
            </a:lvl9pPr>
          </a:lstStyle>
          <a:p xmlns:a="http://schemas.openxmlformats.org/drawingml/2006/main">
            <a:pPr algn="r">
              <a:defRPr sz="1200" b="1">
                <a:solidFill>
                  <a:srgbClr val="526274"/>
                </a:solidFill>
              </a:defRPr>
            </a:pPr>
            <a:r>
              <a:rPr sz="1200" b="1">
                <a:solidFill>
                  <a:srgbClr val="526274"/>
                </a:solidFill>
              </a:rPr>
              <a:t>06</a:t>
            </a:r>
          </a:p>
        </p:txBody>
      </p:sp>
      <p:sp>
        <p:nvSpPr>
          <p:cNvPr id="5" name="">
            <a:extLst xmlns:a="http://schemas.openxmlformats.org/drawingml/2006/main">
              <a:ext uri="{FF2B5EF4-FFF2-40B4-BE49-F238E27FC236}">
                <a16:creationId xmlns:a16="http://schemas.microsoft.com/office/drawing/2014/main" id="{8950F965-6DAF-4958-B9A2-AF141B880238}"/>
              </a:ext>
            </a:extLst>
          </p:cNvPr>
          <p:cNvSpPr>
            <a:spLocks xmlns:a="http://schemas.openxmlformats.org/drawingml/2006/main" noGrp="1"/>
          </p:cNvSpPr>
          <p:nvPr/>
        </p:nvSpPr>
        <p:spPr>
          <a:xfrm xmlns:a="http://schemas.openxmlformats.org/drawingml/2006/main">
            <a:off x="1143000" y="5219700"/>
            <a:ext cx="171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176B87"/>
                </a:solidFill>
              </a:defRPr>
            </a:defPPr>
            <a:lvl1pPr algn="ctr">
              <a:defRPr sz="2250" b="1">
                <a:solidFill>
                  <a:srgbClr val="176B87"/>
                </a:solidFill>
              </a:defRPr>
            </a:lvl1pPr>
            <a:lvl2pPr algn="ctr">
              <a:defRPr sz="2250" b="1">
                <a:solidFill>
                  <a:srgbClr val="176B87"/>
                </a:solidFill>
              </a:defRPr>
            </a:lvl2pPr>
            <a:lvl3pPr algn="ctr">
              <a:defRPr sz="2250" b="1">
                <a:solidFill>
                  <a:srgbClr val="176B87"/>
                </a:solidFill>
              </a:defRPr>
            </a:lvl3pPr>
            <a:lvl4pPr algn="ctr">
              <a:defRPr sz="2250" b="1">
                <a:solidFill>
                  <a:srgbClr val="176B87"/>
                </a:solidFill>
              </a:defRPr>
            </a:lvl4pPr>
            <a:lvl5pPr algn="ctr">
              <a:defRPr sz="2250" b="1">
                <a:solidFill>
                  <a:srgbClr val="176B87"/>
                </a:solidFill>
              </a:defRPr>
            </a:lvl5pPr>
            <a:lvl6pPr algn="ctr">
              <a:defRPr sz="2250" b="1">
                <a:solidFill>
                  <a:srgbClr val="176B87"/>
                </a:solidFill>
              </a:defRPr>
            </a:lvl6pPr>
            <a:lvl7pPr algn="ctr">
              <a:defRPr sz="2250" b="1">
                <a:solidFill>
                  <a:srgbClr val="176B87"/>
                </a:solidFill>
              </a:defRPr>
            </a:lvl7pPr>
            <a:lvl8pPr algn="ctr">
              <a:defRPr sz="2250" b="1">
                <a:solidFill>
                  <a:srgbClr val="176B87"/>
                </a:solidFill>
              </a:defRPr>
            </a:lvl8pPr>
            <a:lvl9pPr algn="ctr">
              <a:defRPr sz="2250" b="1">
                <a:solidFill>
                  <a:srgbClr val="176B87"/>
                </a:solidFill>
              </a:defRPr>
            </a:lvl9pPr>
          </a:lstStyle>
          <a:p xmlns:a="http://schemas.openxmlformats.org/drawingml/2006/main">
            <a:pPr algn="ctr">
              <a:defRPr sz="2250" b="1">
                <a:solidFill>
                  <a:srgbClr val="176B87"/>
                </a:solidFill>
              </a:defRPr>
            </a:pPr>
            <a:r>
              <a:rPr sz="2250" b="1">
                <a:solidFill>
                  <a:srgbClr val="176B87"/>
                </a:solidFill>
              </a:rPr>
              <a:t>0,7026</a:t>
            </a:r>
          </a:p>
        </p:txBody>
      </p:sp>
      <p:sp>
        <p:nvSpPr>
          <p:cNvPr id="6" name="">
            <a:extLst xmlns:a="http://schemas.openxmlformats.org/drawingml/2006/main">
              <a:ext uri="{FF2B5EF4-FFF2-40B4-BE49-F238E27FC236}">
                <a16:creationId xmlns:a16="http://schemas.microsoft.com/office/drawing/2014/main" id="{D91CBB6B-7A13-4282-B704-214CD9ACA9B4}"/>
              </a:ext>
            </a:extLst>
          </p:cNvPr>
          <p:cNvSpPr>
            <a:spLocks xmlns:a="http://schemas.openxmlformats.org/drawingml/2006/main" noGrp="1"/>
          </p:cNvSpPr>
          <p:nvPr/>
        </p:nvSpPr>
        <p:spPr>
          <a:xfrm xmlns:a="http://schemas.openxmlformats.org/drawingml/2006/main">
            <a:off x="1143000" y="56769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AUC</a:t>
            </a:r>
          </a:p>
        </p:txBody>
      </p:sp>
      <p:sp>
        <p:nvSpPr>
          <p:cNvPr id="7" name="">
            <a:extLst xmlns:a="http://schemas.openxmlformats.org/drawingml/2006/main">
              <a:ext uri="{FF2B5EF4-FFF2-40B4-BE49-F238E27FC236}">
                <a16:creationId xmlns:a16="http://schemas.microsoft.com/office/drawing/2014/main" id="{234BB375-EA33-4FCE-B774-39E8CDD8127A}"/>
              </a:ext>
            </a:extLst>
          </p:cNvPr>
          <p:cNvSpPr>
            <a:spLocks xmlns:a="http://schemas.openxmlformats.org/drawingml/2006/main" noGrp="1"/>
          </p:cNvSpPr>
          <p:nvPr/>
        </p:nvSpPr>
        <p:spPr>
          <a:xfrm xmlns:a="http://schemas.openxmlformats.org/drawingml/2006/main">
            <a:off x="3476625" y="5219700"/>
            <a:ext cx="171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2B8C82"/>
                </a:solidFill>
              </a:defRPr>
            </a:defPPr>
            <a:lvl1pPr algn="ctr">
              <a:defRPr sz="2250" b="1">
                <a:solidFill>
                  <a:srgbClr val="2B8C82"/>
                </a:solidFill>
              </a:defRPr>
            </a:lvl1pPr>
            <a:lvl2pPr algn="ctr">
              <a:defRPr sz="2250" b="1">
                <a:solidFill>
                  <a:srgbClr val="2B8C82"/>
                </a:solidFill>
              </a:defRPr>
            </a:lvl2pPr>
            <a:lvl3pPr algn="ctr">
              <a:defRPr sz="2250" b="1">
                <a:solidFill>
                  <a:srgbClr val="2B8C82"/>
                </a:solidFill>
              </a:defRPr>
            </a:lvl3pPr>
            <a:lvl4pPr algn="ctr">
              <a:defRPr sz="2250" b="1">
                <a:solidFill>
                  <a:srgbClr val="2B8C82"/>
                </a:solidFill>
              </a:defRPr>
            </a:lvl4pPr>
            <a:lvl5pPr algn="ctr">
              <a:defRPr sz="2250" b="1">
                <a:solidFill>
                  <a:srgbClr val="2B8C82"/>
                </a:solidFill>
              </a:defRPr>
            </a:lvl5pPr>
            <a:lvl6pPr algn="ctr">
              <a:defRPr sz="2250" b="1">
                <a:solidFill>
                  <a:srgbClr val="2B8C82"/>
                </a:solidFill>
              </a:defRPr>
            </a:lvl6pPr>
            <a:lvl7pPr algn="ctr">
              <a:defRPr sz="2250" b="1">
                <a:solidFill>
                  <a:srgbClr val="2B8C82"/>
                </a:solidFill>
              </a:defRPr>
            </a:lvl7pPr>
            <a:lvl8pPr algn="ctr">
              <a:defRPr sz="2250" b="1">
                <a:solidFill>
                  <a:srgbClr val="2B8C82"/>
                </a:solidFill>
              </a:defRPr>
            </a:lvl8pPr>
            <a:lvl9pPr algn="ctr">
              <a:defRPr sz="2250" b="1">
                <a:solidFill>
                  <a:srgbClr val="2B8C82"/>
                </a:solidFill>
              </a:defRPr>
            </a:lvl9pPr>
          </a:lstStyle>
          <a:p xmlns:a="http://schemas.openxmlformats.org/drawingml/2006/main">
            <a:pPr algn="ctr">
              <a:defRPr sz="2250" b="1">
                <a:solidFill>
                  <a:srgbClr val="2B8C82"/>
                </a:solidFill>
              </a:defRPr>
            </a:pPr>
            <a:r>
              <a:rPr sz="2250" b="1">
                <a:solidFill>
                  <a:srgbClr val="2B8C82"/>
                </a:solidFill>
              </a:rPr>
              <a:t>0,6010</a:t>
            </a:r>
          </a:p>
        </p:txBody>
      </p:sp>
      <p:sp>
        <p:nvSpPr>
          <p:cNvPr id="8" name="">
            <a:extLst xmlns:a="http://schemas.openxmlformats.org/drawingml/2006/main">
              <a:ext uri="{FF2B5EF4-FFF2-40B4-BE49-F238E27FC236}">
                <a16:creationId xmlns:a16="http://schemas.microsoft.com/office/drawing/2014/main" id="{2D304DFC-0122-44A3-9FA1-772EAE20D367}"/>
              </a:ext>
            </a:extLst>
          </p:cNvPr>
          <p:cNvSpPr>
            <a:spLocks xmlns:a="http://schemas.openxmlformats.org/drawingml/2006/main" noGrp="1"/>
          </p:cNvSpPr>
          <p:nvPr/>
        </p:nvSpPr>
        <p:spPr>
          <a:xfrm xmlns:a="http://schemas.openxmlformats.org/drawingml/2006/main">
            <a:off x="3476625" y="56769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sensibilidad</a:t>
            </a:r>
          </a:p>
        </p:txBody>
      </p:sp>
      <p:sp>
        <p:nvSpPr>
          <p:cNvPr id="9" name="">
            <a:extLst xmlns:a="http://schemas.openxmlformats.org/drawingml/2006/main">
              <a:ext uri="{FF2B5EF4-FFF2-40B4-BE49-F238E27FC236}">
                <a16:creationId xmlns:a16="http://schemas.microsoft.com/office/drawing/2014/main" id="{7192BD94-C5FC-4EA0-B93F-C87E1292A3B8}"/>
              </a:ext>
            </a:extLst>
          </p:cNvPr>
          <p:cNvSpPr>
            <a:spLocks xmlns:a="http://schemas.openxmlformats.org/drawingml/2006/main" noGrp="1"/>
          </p:cNvSpPr>
          <p:nvPr/>
        </p:nvSpPr>
        <p:spPr>
          <a:xfrm xmlns:a="http://schemas.openxmlformats.org/drawingml/2006/main">
            <a:off x="5810250" y="5219700"/>
            <a:ext cx="171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D96C4A"/>
                </a:solidFill>
              </a:defRPr>
            </a:defPPr>
            <a:lvl1pPr algn="ctr">
              <a:defRPr sz="2250" b="1">
                <a:solidFill>
                  <a:srgbClr val="D96C4A"/>
                </a:solidFill>
              </a:defRPr>
            </a:lvl1pPr>
            <a:lvl2pPr algn="ctr">
              <a:defRPr sz="2250" b="1">
                <a:solidFill>
                  <a:srgbClr val="D96C4A"/>
                </a:solidFill>
              </a:defRPr>
            </a:lvl2pPr>
            <a:lvl3pPr algn="ctr">
              <a:defRPr sz="2250" b="1">
                <a:solidFill>
                  <a:srgbClr val="D96C4A"/>
                </a:solidFill>
              </a:defRPr>
            </a:lvl3pPr>
            <a:lvl4pPr algn="ctr">
              <a:defRPr sz="2250" b="1">
                <a:solidFill>
                  <a:srgbClr val="D96C4A"/>
                </a:solidFill>
              </a:defRPr>
            </a:lvl4pPr>
            <a:lvl5pPr algn="ctr">
              <a:defRPr sz="2250" b="1">
                <a:solidFill>
                  <a:srgbClr val="D96C4A"/>
                </a:solidFill>
              </a:defRPr>
            </a:lvl5pPr>
            <a:lvl6pPr algn="ctr">
              <a:defRPr sz="2250" b="1">
                <a:solidFill>
                  <a:srgbClr val="D96C4A"/>
                </a:solidFill>
              </a:defRPr>
            </a:lvl6pPr>
            <a:lvl7pPr algn="ctr">
              <a:defRPr sz="2250" b="1">
                <a:solidFill>
                  <a:srgbClr val="D96C4A"/>
                </a:solidFill>
              </a:defRPr>
            </a:lvl7pPr>
            <a:lvl8pPr algn="ctr">
              <a:defRPr sz="2250" b="1">
                <a:solidFill>
                  <a:srgbClr val="D96C4A"/>
                </a:solidFill>
              </a:defRPr>
            </a:lvl8pPr>
            <a:lvl9pPr algn="ctr">
              <a:defRPr sz="2250" b="1">
                <a:solidFill>
                  <a:srgbClr val="D96C4A"/>
                </a:solidFill>
              </a:defRPr>
            </a:lvl9pPr>
          </a:lstStyle>
          <a:p xmlns:a="http://schemas.openxmlformats.org/drawingml/2006/main">
            <a:pPr algn="ctr">
              <a:defRPr sz="2250" b="1">
                <a:solidFill>
                  <a:srgbClr val="D96C4A"/>
                </a:solidFill>
              </a:defRPr>
            </a:pPr>
            <a:r>
              <a:rPr sz="2250" b="1">
                <a:solidFill>
                  <a:srgbClr val="D96C4A"/>
                </a:solidFill>
              </a:rPr>
              <a:t>0,2479</a:t>
            </a:r>
          </a:p>
        </p:txBody>
      </p:sp>
      <p:sp>
        <p:nvSpPr>
          <p:cNvPr id="10" name="">
            <a:extLst xmlns:a="http://schemas.openxmlformats.org/drawingml/2006/main">
              <a:ext uri="{FF2B5EF4-FFF2-40B4-BE49-F238E27FC236}">
                <a16:creationId xmlns:a16="http://schemas.microsoft.com/office/drawing/2014/main" id="{F7C51AAF-9DE1-4040-9AAC-5B87B19BFBCD}"/>
              </a:ext>
            </a:extLst>
          </p:cNvPr>
          <p:cNvSpPr>
            <a:spLocks xmlns:a="http://schemas.openxmlformats.org/drawingml/2006/main" noGrp="1"/>
          </p:cNvSpPr>
          <p:nvPr/>
        </p:nvSpPr>
        <p:spPr>
          <a:xfrm xmlns:a="http://schemas.openxmlformats.org/drawingml/2006/main">
            <a:off x="5810250" y="56769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precisión</a:t>
            </a:r>
          </a:p>
        </p:txBody>
      </p:sp>
      <p:sp>
        <p:nvSpPr>
          <p:cNvPr id="11" name="">
            <a:extLst xmlns:a="http://schemas.openxmlformats.org/drawingml/2006/main">
              <a:ext uri="{FF2B5EF4-FFF2-40B4-BE49-F238E27FC236}">
                <a16:creationId xmlns:a16="http://schemas.microsoft.com/office/drawing/2014/main" id="{541AF934-B8E4-441C-8971-17A80507CE3A}"/>
              </a:ext>
            </a:extLst>
          </p:cNvPr>
          <p:cNvSpPr>
            <a:spLocks xmlns:a="http://schemas.openxmlformats.org/drawingml/2006/main" noGrp="1"/>
          </p:cNvSpPr>
          <p:nvPr/>
        </p:nvSpPr>
        <p:spPr>
          <a:xfrm xmlns:a="http://schemas.openxmlformats.org/drawingml/2006/main">
            <a:off x="8143875" y="5219700"/>
            <a:ext cx="171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123456"/>
                </a:solidFill>
              </a:defRPr>
            </a:defPPr>
            <a:lvl1pPr algn="ctr">
              <a:defRPr sz="2250" b="1">
                <a:solidFill>
                  <a:srgbClr val="123456"/>
                </a:solidFill>
              </a:defRPr>
            </a:lvl1pPr>
            <a:lvl2pPr algn="ctr">
              <a:defRPr sz="2250" b="1">
                <a:solidFill>
                  <a:srgbClr val="123456"/>
                </a:solidFill>
              </a:defRPr>
            </a:lvl2pPr>
            <a:lvl3pPr algn="ctr">
              <a:defRPr sz="2250" b="1">
                <a:solidFill>
                  <a:srgbClr val="123456"/>
                </a:solidFill>
              </a:defRPr>
            </a:lvl3pPr>
            <a:lvl4pPr algn="ctr">
              <a:defRPr sz="2250" b="1">
                <a:solidFill>
                  <a:srgbClr val="123456"/>
                </a:solidFill>
              </a:defRPr>
            </a:lvl4pPr>
            <a:lvl5pPr algn="ctr">
              <a:defRPr sz="2250" b="1">
                <a:solidFill>
                  <a:srgbClr val="123456"/>
                </a:solidFill>
              </a:defRPr>
            </a:lvl5pPr>
            <a:lvl6pPr algn="ctr">
              <a:defRPr sz="2250" b="1">
                <a:solidFill>
                  <a:srgbClr val="123456"/>
                </a:solidFill>
              </a:defRPr>
            </a:lvl6pPr>
            <a:lvl7pPr algn="ctr">
              <a:defRPr sz="2250" b="1">
                <a:solidFill>
                  <a:srgbClr val="123456"/>
                </a:solidFill>
              </a:defRPr>
            </a:lvl7pPr>
            <a:lvl8pPr algn="ctr">
              <a:defRPr sz="2250" b="1">
                <a:solidFill>
                  <a:srgbClr val="123456"/>
                </a:solidFill>
              </a:defRPr>
            </a:lvl8pPr>
            <a:lvl9pPr algn="ctr">
              <a:defRPr sz="2250" b="1">
                <a:solidFill>
                  <a:srgbClr val="123456"/>
                </a:solidFill>
              </a:defRPr>
            </a:lvl9pPr>
          </a:lstStyle>
          <a:p xmlns:a="http://schemas.openxmlformats.org/drawingml/2006/main">
            <a:pPr algn="ctr">
              <a:defRPr sz="2250" b="1">
                <a:solidFill>
                  <a:srgbClr val="123456"/>
                </a:solidFill>
              </a:defRPr>
            </a:pPr>
            <a:r>
              <a:rPr sz="2250" b="1">
                <a:solidFill>
                  <a:srgbClr val="123456"/>
                </a:solidFill>
              </a:rPr>
              <a:t>0,3510</a:t>
            </a:r>
          </a:p>
        </p:txBody>
      </p:sp>
      <p:sp>
        <p:nvSpPr>
          <p:cNvPr id="12" name="">
            <a:extLst xmlns:a="http://schemas.openxmlformats.org/drawingml/2006/main">
              <a:ext uri="{FF2B5EF4-FFF2-40B4-BE49-F238E27FC236}">
                <a16:creationId xmlns:a16="http://schemas.microsoft.com/office/drawing/2014/main" id="{CDC33557-A596-4AB5-9A15-0F53045E05B3}"/>
              </a:ext>
            </a:extLst>
          </p:cNvPr>
          <p:cNvSpPr>
            <a:spLocks xmlns:a="http://schemas.openxmlformats.org/drawingml/2006/main" noGrp="1"/>
          </p:cNvSpPr>
          <p:nvPr/>
        </p:nvSpPr>
        <p:spPr>
          <a:xfrm xmlns:a="http://schemas.openxmlformats.org/drawingml/2006/main">
            <a:off x="8143875" y="56769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F1: equilibrio</a:t>
            </a:r>
          </a:p>
        </p:txBody>
      </p:sp>
      <p:sp>
        <p:nvSpPr>
          <p:cNvPr id="13" name="">
            <a:extLst xmlns:a="http://schemas.openxmlformats.org/drawingml/2006/main">
              <a:ext uri="{FF2B5EF4-FFF2-40B4-BE49-F238E27FC236}">
                <a16:creationId xmlns:a16="http://schemas.microsoft.com/office/drawing/2014/main" id="{A7F31D8C-5AE6-4DB3-872C-8EB634FB3326}"/>
              </a:ext>
            </a:extLst>
          </p:cNvPr>
          <p:cNvSpPr>
            <a:spLocks xmlns:a="http://schemas.openxmlformats.org/drawingml/2006/main" noGrp="1"/>
          </p:cNvSpPr>
          <p:nvPr/>
        </p:nvSpPr>
        <p:spPr>
          <a:xfrm xmlns:a="http://schemas.openxmlformats.org/drawingml/2006/main">
            <a:off x="685800" y="65151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26274"/>
                </a:solidFill>
              </a:defRPr>
            </a:defPPr>
            <a:lvl1pPr algn="l">
              <a:defRPr sz="900" b="0">
                <a:solidFill>
                  <a:srgbClr val="526274"/>
                </a:solidFill>
              </a:defRPr>
            </a:lvl1pPr>
            <a:lvl2pPr algn="l">
              <a:defRPr sz="900" b="0">
                <a:solidFill>
                  <a:srgbClr val="526274"/>
                </a:solidFill>
              </a:defRPr>
            </a:lvl2pPr>
            <a:lvl3pPr algn="l">
              <a:defRPr sz="900" b="0">
                <a:solidFill>
                  <a:srgbClr val="526274"/>
                </a:solidFill>
              </a:defRPr>
            </a:lvl3pPr>
            <a:lvl4pPr algn="l">
              <a:defRPr sz="900" b="0">
                <a:solidFill>
                  <a:srgbClr val="526274"/>
                </a:solidFill>
              </a:defRPr>
            </a:lvl4pPr>
            <a:lvl5pPr algn="l">
              <a:defRPr sz="900" b="0">
                <a:solidFill>
                  <a:srgbClr val="526274"/>
                </a:solidFill>
              </a:defRPr>
            </a:lvl5pPr>
            <a:lvl6pPr algn="l">
              <a:defRPr sz="900" b="0">
                <a:solidFill>
                  <a:srgbClr val="526274"/>
                </a:solidFill>
              </a:defRPr>
            </a:lvl6pPr>
            <a:lvl7pPr algn="l">
              <a:defRPr sz="900" b="0">
                <a:solidFill>
                  <a:srgbClr val="526274"/>
                </a:solidFill>
              </a:defRPr>
            </a:lvl7pPr>
            <a:lvl8pPr algn="l">
              <a:defRPr sz="900" b="0">
                <a:solidFill>
                  <a:srgbClr val="526274"/>
                </a:solidFill>
              </a:defRPr>
            </a:lvl8pPr>
            <a:lvl9pPr algn="l">
              <a:defRPr sz="900" b="0">
                <a:solidFill>
                  <a:srgbClr val="526274"/>
                </a:solidFill>
              </a:defRPr>
            </a:lvl9pPr>
          </a:lstStyle>
          <a:p xmlns:a="http://schemas.openxmlformats.org/drawingml/2006/main">
            <a:pPr algn="l">
              <a:defRPr sz="900" b="0">
                <a:solidFill>
                  <a:srgbClr val="526274"/>
                </a:solidFill>
              </a:defRPr>
            </a:pPr>
            <a:r>
              <a:rPr sz="900" b="0">
                <a:solidFill>
                  <a:srgbClr val="526274"/>
                </a:solidFill>
              </a:rPr>
              <a:t>MCDI501 · Estadística Computacional</a:t>
            </a:r>
          </a:p>
        </p:txBody>
      </p:sp>
    </p:spTree>
    <p:extLst>
      <p:ext uri="{BB962C8B-B14F-4D97-AF65-F5344CB8AC3E}">
        <p14:creationId xmlns:p14="http://schemas.microsoft.com/office/powerpoint/2010/main" val="15178378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E033E92-6366-46AA-BAB0-41472C0B5A77}"/>
              </a:ext>
            </a:extLst>
          </p:cNvPr>
          <p:cNvSpPr>
            <a:spLocks xmlns:a="http://schemas.openxmlformats.org/drawingml/2006/main" noGrp="1"/>
          </p:cNvSpPr>
          <p:nvPr/>
        </p:nvSpPr>
        <p:spPr>
          <a:xfrm xmlns:a="http://schemas.openxmlformats.org/drawingml/2006/main">
            <a:off x="857250" y="13335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123456"/>
                </a:solidFill>
              </a:defRPr>
            </a:defPPr>
            <a:lvl1pPr algn="ctr">
              <a:defRPr sz="2250" b="1">
                <a:solidFill>
                  <a:srgbClr val="123456"/>
                </a:solidFill>
              </a:defRPr>
            </a:lvl1pPr>
            <a:lvl2pPr algn="ctr">
              <a:defRPr sz="2250" b="1">
                <a:solidFill>
                  <a:srgbClr val="123456"/>
                </a:solidFill>
              </a:defRPr>
            </a:lvl2pPr>
            <a:lvl3pPr algn="ctr">
              <a:defRPr sz="2250" b="1">
                <a:solidFill>
                  <a:srgbClr val="123456"/>
                </a:solidFill>
              </a:defRPr>
            </a:lvl3pPr>
            <a:lvl4pPr algn="ctr">
              <a:defRPr sz="2250" b="1">
                <a:solidFill>
                  <a:srgbClr val="123456"/>
                </a:solidFill>
              </a:defRPr>
            </a:lvl4pPr>
            <a:lvl5pPr algn="ctr">
              <a:defRPr sz="2250" b="1">
                <a:solidFill>
                  <a:srgbClr val="123456"/>
                </a:solidFill>
              </a:defRPr>
            </a:lvl5pPr>
            <a:lvl6pPr algn="ctr">
              <a:defRPr sz="2250" b="1">
                <a:solidFill>
                  <a:srgbClr val="123456"/>
                </a:solidFill>
              </a:defRPr>
            </a:lvl6pPr>
            <a:lvl7pPr algn="ctr">
              <a:defRPr sz="2250" b="1">
                <a:solidFill>
                  <a:srgbClr val="123456"/>
                </a:solidFill>
              </a:defRPr>
            </a:lvl7pPr>
            <a:lvl8pPr algn="ctr">
              <a:defRPr sz="2250" b="1">
                <a:solidFill>
                  <a:srgbClr val="123456"/>
                </a:solidFill>
              </a:defRPr>
            </a:lvl8pPr>
            <a:lvl9pPr algn="ctr">
              <a:defRPr sz="2250" b="1">
                <a:solidFill>
                  <a:srgbClr val="123456"/>
                </a:solidFill>
              </a:defRPr>
            </a:lvl9pPr>
          </a:lstStyle>
          <a:p xmlns:a="http://schemas.openxmlformats.org/drawingml/2006/main">
            <a:pPr algn="ctr">
              <a:defRPr sz="2250" b="1">
                <a:solidFill>
                  <a:srgbClr val="123456"/>
                </a:solidFill>
              </a:defRPr>
            </a:pPr>
            <a:r>
              <a:rPr sz="2250" b="1">
                <a:solidFill>
                  <a:srgbClr val="123456"/>
                </a:solidFill>
              </a:rPr>
              <a:t>1.000</a:t>
            </a:r>
          </a:p>
        </p:txBody>
      </p:sp>
      <p:sp>
        <p:nvSpPr>
          <p:cNvPr id="2" name="">
            <a:extLst xmlns:a="http://schemas.openxmlformats.org/drawingml/2006/main">
              <a:ext uri="{FF2B5EF4-FFF2-40B4-BE49-F238E27FC236}">
                <a16:creationId xmlns:a16="http://schemas.microsoft.com/office/drawing/2014/main" id="{7A2F0A6D-3919-4608-A01C-D57386FA0673}"/>
              </a:ext>
            </a:extLst>
          </p:cNvPr>
          <p:cNvSpPr>
            <a:spLocks xmlns:a="http://schemas.openxmlformats.org/drawingml/2006/main" noGrp="1"/>
          </p:cNvSpPr>
          <p:nvPr/>
        </p:nvSpPr>
        <p:spPr>
          <a:xfrm xmlns:a="http://schemas.openxmlformats.org/drawingml/2006/main">
            <a:off x="857250" y="17907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remuestras</a:t>
            </a:r>
          </a:p>
        </p:txBody>
      </p:sp>
      <p:sp>
        <p:nvSpPr>
          <p:cNvPr id="3" name="">
            <a:extLst xmlns:a="http://schemas.openxmlformats.org/drawingml/2006/main">
              <a:ext uri="{FF2B5EF4-FFF2-40B4-BE49-F238E27FC236}">
                <a16:creationId xmlns:a16="http://schemas.microsoft.com/office/drawing/2014/main" id="{84E9D2C7-838A-4312-AF26-33E055CF4E09}"/>
              </a:ext>
            </a:extLst>
          </p:cNvPr>
          <p:cNvSpPr>
            <a:spLocks xmlns:a="http://schemas.openxmlformats.org/drawingml/2006/main" noGrp="1"/>
          </p:cNvSpPr>
          <p:nvPr/>
        </p:nvSpPr>
        <p:spPr>
          <a:xfrm xmlns:a="http://schemas.openxmlformats.org/drawingml/2006/main">
            <a:off x="857250" y="2428875"/>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176B87"/>
                </a:solidFill>
              </a:defRPr>
            </a:defPPr>
            <a:lvl1pPr algn="ctr">
              <a:defRPr sz="2250" b="1">
                <a:solidFill>
                  <a:srgbClr val="176B87"/>
                </a:solidFill>
              </a:defRPr>
            </a:lvl1pPr>
            <a:lvl2pPr algn="ctr">
              <a:defRPr sz="2250" b="1">
                <a:solidFill>
                  <a:srgbClr val="176B87"/>
                </a:solidFill>
              </a:defRPr>
            </a:lvl2pPr>
            <a:lvl3pPr algn="ctr">
              <a:defRPr sz="2250" b="1">
                <a:solidFill>
                  <a:srgbClr val="176B87"/>
                </a:solidFill>
              </a:defRPr>
            </a:lvl3pPr>
            <a:lvl4pPr algn="ctr">
              <a:defRPr sz="2250" b="1">
                <a:solidFill>
                  <a:srgbClr val="176B87"/>
                </a:solidFill>
              </a:defRPr>
            </a:lvl4pPr>
            <a:lvl5pPr algn="ctr">
              <a:defRPr sz="2250" b="1">
                <a:solidFill>
                  <a:srgbClr val="176B87"/>
                </a:solidFill>
              </a:defRPr>
            </a:lvl5pPr>
            <a:lvl6pPr algn="ctr">
              <a:defRPr sz="2250" b="1">
                <a:solidFill>
                  <a:srgbClr val="176B87"/>
                </a:solidFill>
              </a:defRPr>
            </a:lvl6pPr>
            <a:lvl7pPr algn="ctr">
              <a:defRPr sz="2250" b="1">
                <a:solidFill>
                  <a:srgbClr val="176B87"/>
                </a:solidFill>
              </a:defRPr>
            </a:lvl7pPr>
            <a:lvl8pPr algn="ctr">
              <a:defRPr sz="2250" b="1">
                <a:solidFill>
                  <a:srgbClr val="176B87"/>
                </a:solidFill>
              </a:defRPr>
            </a:lvl8pPr>
            <a:lvl9pPr algn="ctr">
              <a:defRPr sz="2250" b="1">
                <a:solidFill>
                  <a:srgbClr val="176B87"/>
                </a:solidFill>
              </a:defRPr>
            </a:lvl9pPr>
          </a:lstStyle>
          <a:p xmlns:a="http://schemas.openxmlformats.org/drawingml/2006/main">
            <a:pPr algn="ctr">
              <a:defRPr sz="2250" b="1">
                <a:solidFill>
                  <a:srgbClr val="176B87"/>
                </a:solidFill>
              </a:defRPr>
            </a:pPr>
            <a:r>
              <a:rPr sz="2250" b="1">
                <a:solidFill>
                  <a:srgbClr val="176B87"/>
                </a:solidFill>
              </a:rPr>
              <a:t>95 %</a:t>
            </a:r>
          </a:p>
        </p:txBody>
      </p:sp>
      <p:sp>
        <p:nvSpPr>
          <p:cNvPr id="4" name="">
            <a:extLst xmlns:a="http://schemas.openxmlformats.org/drawingml/2006/main">
              <a:ext uri="{FF2B5EF4-FFF2-40B4-BE49-F238E27FC236}">
                <a16:creationId xmlns:a16="http://schemas.microsoft.com/office/drawing/2014/main" id="{27F338A0-BD7D-465F-8CF2-2D60031AF25E}"/>
              </a:ext>
            </a:extLst>
          </p:cNvPr>
          <p:cNvSpPr>
            <a:spLocks xmlns:a="http://schemas.openxmlformats.org/drawingml/2006/main" noGrp="1"/>
          </p:cNvSpPr>
          <p:nvPr/>
        </p:nvSpPr>
        <p:spPr>
          <a:xfrm xmlns:a="http://schemas.openxmlformats.org/drawingml/2006/main">
            <a:off x="857250" y="288607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intervalos percentil</a:t>
            </a:r>
          </a:p>
        </p:txBody>
      </p:sp>
      <p:sp>
        <p:nvSpPr>
          <p:cNvPr id="5" name="">
            <a:extLst xmlns:a="http://schemas.openxmlformats.org/drawingml/2006/main">
              <a:ext uri="{FF2B5EF4-FFF2-40B4-BE49-F238E27FC236}">
                <a16:creationId xmlns:a16="http://schemas.microsoft.com/office/drawing/2014/main" id="{480B2105-94BD-490D-B8A6-403DF7C7D2DE}"/>
              </a:ext>
            </a:extLst>
          </p:cNvPr>
          <p:cNvSpPr>
            <a:spLocks xmlns:a="http://schemas.openxmlformats.org/drawingml/2006/main" noGrp="1"/>
          </p:cNvSpPr>
          <p:nvPr/>
        </p:nvSpPr>
        <p:spPr>
          <a:xfrm xmlns:a="http://schemas.openxmlformats.org/drawingml/2006/main">
            <a:off x="857250" y="35242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250" b="1">
                <a:solidFill>
                  <a:srgbClr val="2B8C82"/>
                </a:solidFill>
              </a:defRPr>
            </a:defPPr>
            <a:lvl1pPr algn="ctr">
              <a:defRPr sz="2250" b="1">
                <a:solidFill>
                  <a:srgbClr val="2B8C82"/>
                </a:solidFill>
              </a:defRPr>
            </a:lvl1pPr>
            <a:lvl2pPr algn="ctr">
              <a:defRPr sz="2250" b="1">
                <a:solidFill>
                  <a:srgbClr val="2B8C82"/>
                </a:solidFill>
              </a:defRPr>
            </a:lvl2pPr>
            <a:lvl3pPr algn="ctr">
              <a:defRPr sz="2250" b="1">
                <a:solidFill>
                  <a:srgbClr val="2B8C82"/>
                </a:solidFill>
              </a:defRPr>
            </a:lvl3pPr>
            <a:lvl4pPr algn="ctr">
              <a:defRPr sz="2250" b="1">
                <a:solidFill>
                  <a:srgbClr val="2B8C82"/>
                </a:solidFill>
              </a:defRPr>
            </a:lvl4pPr>
            <a:lvl5pPr algn="ctr">
              <a:defRPr sz="2250" b="1">
                <a:solidFill>
                  <a:srgbClr val="2B8C82"/>
                </a:solidFill>
              </a:defRPr>
            </a:lvl5pPr>
            <a:lvl6pPr algn="ctr">
              <a:defRPr sz="2250" b="1">
                <a:solidFill>
                  <a:srgbClr val="2B8C82"/>
                </a:solidFill>
              </a:defRPr>
            </a:lvl6pPr>
            <a:lvl7pPr algn="ctr">
              <a:defRPr sz="2250" b="1">
                <a:solidFill>
                  <a:srgbClr val="2B8C82"/>
                </a:solidFill>
              </a:defRPr>
            </a:lvl7pPr>
            <a:lvl8pPr algn="ctr">
              <a:defRPr sz="2250" b="1">
                <a:solidFill>
                  <a:srgbClr val="2B8C82"/>
                </a:solidFill>
              </a:defRPr>
            </a:lvl8pPr>
            <a:lvl9pPr algn="ctr">
              <a:defRPr sz="2250" b="1">
                <a:solidFill>
                  <a:srgbClr val="2B8C82"/>
                </a:solidFill>
              </a:defRPr>
            </a:lvl9pPr>
          </a:lstStyle>
          <a:p xmlns:a="http://schemas.openxmlformats.org/drawingml/2006/main">
            <a:pPr algn="ctr">
              <a:defRPr sz="2250" b="1">
                <a:solidFill>
                  <a:srgbClr val="2B8C82"/>
                </a:solidFill>
              </a:defRPr>
            </a:pPr>
            <a:r>
              <a:rPr sz="2250" b="1">
                <a:solidFill>
                  <a:srgbClr val="2B8C82"/>
                </a:solidFill>
              </a:rPr>
              <a:t>5 de 5</a:t>
            </a:r>
          </a:p>
        </p:txBody>
      </p:sp>
      <p:sp>
        <p:nvSpPr>
          <p:cNvPr id="6" name="">
            <a:extLst xmlns:a="http://schemas.openxmlformats.org/drawingml/2006/main">
              <a:ext uri="{FF2B5EF4-FFF2-40B4-BE49-F238E27FC236}">
                <a16:creationId xmlns:a16="http://schemas.microsoft.com/office/drawing/2014/main" id="{6D9B350E-D34E-4B34-875A-CD3B00ACB6F9}"/>
              </a:ext>
            </a:extLst>
          </p:cNvPr>
          <p:cNvSpPr>
            <a:spLocks xmlns:a="http://schemas.openxmlformats.org/drawingml/2006/main" noGrp="1"/>
          </p:cNvSpPr>
          <p:nvPr/>
        </p:nvSpPr>
        <p:spPr>
          <a:xfrm xmlns:a="http://schemas.openxmlformats.org/drawingml/2006/main">
            <a:off x="857250" y="39814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26274"/>
                </a:solidFill>
              </a:defRPr>
            </a:defPPr>
            <a:lvl1pPr algn="ctr">
              <a:defRPr sz="1125" b="0">
                <a:solidFill>
                  <a:srgbClr val="526274"/>
                </a:solidFill>
              </a:defRPr>
            </a:lvl1pPr>
            <a:lvl2pPr algn="ctr">
              <a:defRPr sz="1125" b="0">
                <a:solidFill>
                  <a:srgbClr val="526274"/>
                </a:solidFill>
              </a:defRPr>
            </a:lvl2pPr>
            <a:lvl3pPr algn="ctr">
              <a:defRPr sz="1125" b="0">
                <a:solidFill>
                  <a:srgbClr val="526274"/>
                </a:solidFill>
              </a:defRPr>
            </a:lvl3pPr>
            <a:lvl4pPr algn="ctr">
              <a:defRPr sz="1125" b="0">
                <a:solidFill>
                  <a:srgbClr val="526274"/>
                </a:solidFill>
              </a:defRPr>
            </a:lvl4pPr>
            <a:lvl5pPr algn="ctr">
              <a:defRPr sz="1125" b="0">
                <a:solidFill>
                  <a:srgbClr val="526274"/>
                </a:solidFill>
              </a:defRPr>
            </a:lvl5pPr>
            <a:lvl6pPr algn="ctr">
              <a:defRPr sz="1125" b="0">
                <a:solidFill>
                  <a:srgbClr val="526274"/>
                </a:solidFill>
              </a:defRPr>
            </a:lvl6pPr>
            <a:lvl7pPr algn="ctr">
              <a:defRPr sz="1125" b="0">
                <a:solidFill>
                  <a:srgbClr val="526274"/>
                </a:solidFill>
              </a:defRPr>
            </a:lvl7pPr>
            <a:lvl8pPr algn="ctr">
              <a:defRPr sz="1125" b="0">
                <a:solidFill>
                  <a:srgbClr val="526274"/>
                </a:solidFill>
              </a:defRPr>
            </a:lvl8pPr>
            <a:lvl9pPr algn="ctr">
              <a:defRPr sz="1125" b="0">
                <a:solidFill>
                  <a:srgbClr val="526274"/>
                </a:solidFill>
              </a:defRPr>
            </a:lvl9pPr>
          </a:lstStyle>
          <a:p xmlns:a="http://schemas.openxmlformats.org/drawingml/2006/main">
            <a:pPr algn="ctr">
              <a:defRPr sz="1125" b="0">
                <a:solidFill>
                  <a:srgbClr val="526274"/>
                </a:solidFill>
              </a:defRPr>
            </a:pPr>
            <a:r>
              <a:rPr sz="1125" b="0">
                <a:solidFill>
                  <a:srgbClr val="526274"/>
                </a:solidFill>
              </a:rPr>
              <a:t>OR sobre uno</a:t>
            </a:r>
          </a:p>
        </p:txBody>
      </p:sp>
      <p:sp>
        <p:nvSpPr>
          <p:cNvPr id="7" name="">
            <a:extLst xmlns:a="http://schemas.openxmlformats.org/drawingml/2006/main">
              <a:ext uri="{FF2B5EF4-FFF2-40B4-BE49-F238E27FC236}">
                <a16:creationId xmlns:a16="http://schemas.microsoft.com/office/drawing/2014/main" id="{CB924323-FBF9-41A9-A0BE-88589719EA1C}"/>
              </a:ext>
            </a:extLst>
          </p:cNvPr>
          <p:cNvSpPr>
            <a:spLocks xmlns:a="http://schemas.openxmlformats.org/drawingml/2006/main" noGrp="1"/>
          </p:cNvSpPr>
          <p:nvPr/>
        </p:nvSpPr>
        <p:spPr>
          <a:xfrm xmlns:a="http://schemas.openxmlformats.org/drawingml/2006/main">
            <a:off x="723900" y="4762500"/>
            <a:ext cx="2952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E293B"/>
                </a:solidFill>
              </a:defRPr>
            </a:defPPr>
            <a:lvl1pPr algn="l">
              <a:defRPr sz="1425" b="0">
                <a:solidFill>
                  <a:srgbClr val="1E293B"/>
                </a:solidFill>
              </a:defRPr>
            </a:lvl1pPr>
            <a:lvl2pPr algn="l">
              <a:defRPr sz="1425" b="0">
                <a:solidFill>
                  <a:srgbClr val="1E293B"/>
                </a:solidFill>
              </a:defRPr>
            </a:lvl2pPr>
            <a:lvl3pPr algn="l">
              <a:defRPr sz="1425" b="0">
                <a:solidFill>
                  <a:srgbClr val="1E293B"/>
                </a:solidFill>
              </a:defRPr>
            </a:lvl3pPr>
            <a:lvl4pPr algn="l">
              <a:defRPr sz="1425" b="0">
                <a:solidFill>
                  <a:srgbClr val="1E293B"/>
                </a:solidFill>
              </a:defRPr>
            </a:lvl4pPr>
            <a:lvl5pPr algn="l">
              <a:defRPr sz="1425" b="0">
                <a:solidFill>
                  <a:srgbClr val="1E293B"/>
                </a:solidFill>
              </a:defRPr>
            </a:lvl5pPr>
            <a:lvl6pPr algn="l">
              <a:defRPr sz="1425" b="0">
                <a:solidFill>
                  <a:srgbClr val="1E293B"/>
                </a:solidFill>
              </a:defRPr>
            </a:lvl6pPr>
            <a:lvl7pPr algn="l">
              <a:defRPr sz="1425" b="0">
                <a:solidFill>
                  <a:srgbClr val="1E293B"/>
                </a:solidFill>
              </a:defRPr>
            </a:lvl7pPr>
            <a:lvl8pPr algn="l">
              <a:defRPr sz="1425" b="0">
                <a:solidFill>
                  <a:srgbClr val="1E293B"/>
                </a:solidFill>
              </a:defRPr>
            </a:lvl8pPr>
            <a:lvl9pPr algn="l">
              <a:defRPr sz="1425" b="0">
                <a:solidFill>
                  <a:srgbClr val="1E293B"/>
                </a:solidFill>
              </a:defRPr>
            </a:lvl9pPr>
          </a:lstStyle>
          <a:p xmlns:a="http://schemas.openxmlformats.org/drawingml/2006/main">
            <a:pPr algn="l">
              <a:defRPr sz="1425" b="0">
                <a:solidFill>
                  <a:srgbClr val="1E293B"/>
                </a:solidFill>
              </a:defRPr>
            </a:pPr>
            <a:r>
              <a:rPr sz="1425" b="0">
                <a:solidFill>
                  <a:srgbClr val="1E293B"/>
                </a:solidFill>
              </a:rPr>
              <a:t>Los coeficientes conservaron asociaciones positivas en los intervalos bootstrap. Esto respalda estabilidad interna, no causalidad ni validación externa.</a:t>
            </a:r>
          </a:p>
        </p:txBody>
      </p:sp>
      <p:pic>
        <p:nvPicPr>
          <p:cNvPr id="8" name="">
            <a:extLst xmlns:a="http://schemas.openxmlformats.org/drawingml/2006/main">
              <a:ext uri="{FF2B5EF4-FFF2-40B4-BE49-F238E27FC236}">
                <a16:creationId xmlns:a16="http://schemas.microsoft.com/office/drawing/2014/main" id="{DAC18593-F0EF-4C2F-81EB-AD613FDEE088}"/>
              </a:ext>
            </a:extLst>
          </p:cNvPr>
          <p:cNvPicPr>
            <a:picLocks xmlns:a="http://schemas.openxmlformats.org/drawingml/2006/main" noChangeAspect="1"/>
          </p:cNvPicPr>
          <p:nvPr/>
        </p:nvPicPr>
        <p:blipFill>
          <a:blip xmlns:r="http://schemas.openxmlformats.org/officeDocument/2006/relationships" xmlns:a="http://schemas.openxmlformats.org/drawingml/2006/main" r:embed="Rbe65dc9f9fea4d84"/>
          <a:stretch xmlns:a="http://schemas.openxmlformats.org/drawingml/2006/main"/>
        </p:blipFill>
        <p:spPr>
          <a:xfrm xmlns:a="http://schemas.openxmlformats.org/drawingml/2006/main">
            <a:off x="3714750" y="1727979"/>
            <a:ext cx="7620000" cy="3306792"/>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5691441-A949-4D3F-BB11-1A496A41DDFA}"/>
              </a:ext>
            </a:extLst>
          </p:cNvPr>
          <p:cNvSpPr>
            <a:spLocks xmlns:a="http://schemas.openxmlformats.org/drawingml/2006/main" noGrp="1"/>
          </p:cNvSpPr>
          <p:nvPr/>
        </p:nvSpPr>
        <p:spPr>
          <a:xfrm xmlns:a="http://schemas.openxmlformats.org/drawingml/2006/main">
            <a:off x="685800" y="400050"/>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123456"/>
                </a:solidFill>
              </a:defRPr>
            </a:defPPr>
            <a:lvl1pPr algn="l">
              <a:defRPr sz="2400" b="1">
                <a:solidFill>
                  <a:srgbClr val="123456"/>
                </a:solidFill>
              </a:defRPr>
            </a:lvl1pPr>
            <a:lvl2pPr algn="l">
              <a:defRPr sz="2400" b="1">
                <a:solidFill>
                  <a:srgbClr val="123456"/>
                </a:solidFill>
              </a:defRPr>
            </a:lvl2pPr>
            <a:lvl3pPr algn="l">
              <a:defRPr sz="2400" b="1">
                <a:solidFill>
                  <a:srgbClr val="123456"/>
                </a:solidFill>
              </a:defRPr>
            </a:lvl3pPr>
            <a:lvl4pPr algn="l">
              <a:defRPr sz="2400" b="1">
                <a:solidFill>
                  <a:srgbClr val="123456"/>
                </a:solidFill>
              </a:defRPr>
            </a:lvl4pPr>
            <a:lvl5pPr algn="l">
              <a:defRPr sz="2400" b="1">
                <a:solidFill>
                  <a:srgbClr val="123456"/>
                </a:solidFill>
              </a:defRPr>
            </a:lvl5pPr>
            <a:lvl6pPr algn="l">
              <a:defRPr sz="2400" b="1">
                <a:solidFill>
                  <a:srgbClr val="123456"/>
                </a:solidFill>
              </a:defRPr>
            </a:lvl6pPr>
            <a:lvl7pPr algn="l">
              <a:defRPr sz="2400" b="1">
                <a:solidFill>
                  <a:srgbClr val="123456"/>
                </a:solidFill>
              </a:defRPr>
            </a:lvl7pPr>
            <a:lvl8pPr algn="l">
              <a:defRPr sz="2400" b="1">
                <a:solidFill>
                  <a:srgbClr val="123456"/>
                </a:solidFill>
              </a:defRPr>
            </a:lvl8pPr>
            <a:lvl9pPr algn="l">
              <a:defRPr sz="2400" b="1">
                <a:solidFill>
                  <a:srgbClr val="123456"/>
                </a:solidFill>
              </a:defRPr>
            </a:lvl9pPr>
          </a:lstStyle>
          <a:p xmlns:a="http://schemas.openxmlformats.org/drawingml/2006/main">
            <a:pPr algn="l">
              <a:defRPr sz="2400" b="1">
                <a:solidFill>
                  <a:srgbClr val="123456"/>
                </a:solidFill>
              </a:defRPr>
            </a:pPr>
            <a:r>
              <a:rPr sz="2400" b="1">
                <a:solidFill>
                  <a:srgbClr val="123456"/>
                </a:solidFill>
              </a:rPr>
              <a:t>Estabilidad mediante bootstrap</a:t>
            </a:r>
          </a:p>
        </p:txBody>
      </p:sp>
      <p:sp>
        <p:nvSpPr>
          <p:cNvPr id="10" name="">
            <a:extLst xmlns:a="http://schemas.openxmlformats.org/drawingml/2006/main">
              <a:ext uri="{FF2B5EF4-FFF2-40B4-BE49-F238E27FC236}">
                <a16:creationId xmlns:a16="http://schemas.microsoft.com/office/drawing/2014/main" id="{5AB61352-984E-4C0D-8C07-174C542927B4}"/>
              </a:ext>
            </a:extLst>
          </p:cNvPr>
          <p:cNvSpPr>
            <a:spLocks xmlns:a="http://schemas.openxmlformats.org/drawingml/2006/main" noGrp="1"/>
          </p:cNvSpPr>
          <p:nvPr/>
        </p:nvSpPr>
        <p:spPr>
          <a:xfrm xmlns:a="http://schemas.openxmlformats.org/drawingml/2006/main">
            <a:off x="685800" y="990600"/>
            <a:ext cx="108204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FC2CDF1-6A64-424E-AEBA-530E76610A43}"/>
              </a:ext>
            </a:extLst>
          </p:cNvPr>
          <p:cNvSpPr>
            <a:spLocks xmlns:a="http://schemas.openxmlformats.org/drawingml/2006/main" noGrp="1"/>
          </p:cNvSpPr>
          <p:nvPr/>
        </p:nvSpPr>
        <p:spPr>
          <a:xfrm xmlns:a="http://schemas.openxmlformats.org/drawingml/2006/main">
            <a:off x="10363200" y="419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526274"/>
                </a:solidFill>
              </a:defRPr>
            </a:defPPr>
            <a:lvl1pPr algn="r">
              <a:defRPr sz="1200" b="1">
                <a:solidFill>
                  <a:srgbClr val="526274"/>
                </a:solidFill>
              </a:defRPr>
            </a:lvl1pPr>
            <a:lvl2pPr algn="r">
              <a:defRPr sz="1200" b="1">
                <a:solidFill>
                  <a:srgbClr val="526274"/>
                </a:solidFill>
              </a:defRPr>
            </a:lvl2pPr>
            <a:lvl3pPr algn="r">
              <a:defRPr sz="1200" b="1">
                <a:solidFill>
                  <a:srgbClr val="526274"/>
                </a:solidFill>
              </a:defRPr>
            </a:lvl3pPr>
            <a:lvl4pPr algn="r">
              <a:defRPr sz="1200" b="1">
                <a:solidFill>
                  <a:srgbClr val="526274"/>
                </a:solidFill>
              </a:defRPr>
            </a:lvl4pPr>
            <a:lvl5pPr algn="r">
              <a:defRPr sz="1200" b="1">
                <a:solidFill>
                  <a:srgbClr val="526274"/>
                </a:solidFill>
              </a:defRPr>
            </a:lvl5pPr>
            <a:lvl6pPr algn="r">
              <a:defRPr sz="1200" b="1">
                <a:solidFill>
                  <a:srgbClr val="526274"/>
                </a:solidFill>
              </a:defRPr>
            </a:lvl6pPr>
            <a:lvl7pPr algn="r">
              <a:defRPr sz="1200" b="1">
                <a:solidFill>
                  <a:srgbClr val="526274"/>
                </a:solidFill>
              </a:defRPr>
            </a:lvl7pPr>
            <a:lvl8pPr algn="r">
              <a:defRPr sz="1200" b="1">
                <a:solidFill>
                  <a:srgbClr val="526274"/>
                </a:solidFill>
              </a:defRPr>
            </a:lvl8pPr>
            <a:lvl9pPr algn="r">
              <a:defRPr sz="1200" b="1">
                <a:solidFill>
                  <a:srgbClr val="526274"/>
                </a:solidFill>
              </a:defRPr>
            </a:lvl9pPr>
          </a:lstStyle>
          <a:p xmlns:a="http://schemas.openxmlformats.org/drawingml/2006/main">
            <a:pPr algn="r">
              <a:defRPr sz="1200" b="1">
                <a:solidFill>
                  <a:srgbClr val="526274"/>
                </a:solidFill>
              </a:defRPr>
            </a:pPr>
            <a:r>
              <a:rPr sz="1200" b="1">
                <a:solidFill>
                  <a:srgbClr val="526274"/>
                </a:solidFill>
              </a:rPr>
              <a:t>07</a:t>
            </a:r>
          </a:p>
        </p:txBody>
      </p:sp>
      <p:sp>
        <p:nvSpPr>
          <p:cNvPr id="12" name="">
            <a:extLst xmlns:a="http://schemas.openxmlformats.org/drawingml/2006/main">
              <a:ext uri="{FF2B5EF4-FFF2-40B4-BE49-F238E27FC236}">
                <a16:creationId xmlns:a16="http://schemas.microsoft.com/office/drawing/2014/main" id="{DCE56571-9550-4EE2-A763-4A41198B5CDC}"/>
              </a:ext>
            </a:extLst>
          </p:cNvPr>
          <p:cNvSpPr>
            <a:spLocks xmlns:a="http://schemas.openxmlformats.org/drawingml/2006/main" noGrp="1"/>
          </p:cNvSpPr>
          <p:nvPr/>
        </p:nvSpPr>
        <p:spPr>
          <a:xfrm xmlns:a="http://schemas.openxmlformats.org/drawingml/2006/main">
            <a:off x="685800" y="65151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26274"/>
                </a:solidFill>
              </a:defRPr>
            </a:defPPr>
            <a:lvl1pPr algn="l">
              <a:defRPr sz="900" b="0">
                <a:solidFill>
                  <a:srgbClr val="526274"/>
                </a:solidFill>
              </a:defRPr>
            </a:lvl1pPr>
            <a:lvl2pPr algn="l">
              <a:defRPr sz="900" b="0">
                <a:solidFill>
                  <a:srgbClr val="526274"/>
                </a:solidFill>
              </a:defRPr>
            </a:lvl2pPr>
            <a:lvl3pPr algn="l">
              <a:defRPr sz="900" b="0">
                <a:solidFill>
                  <a:srgbClr val="526274"/>
                </a:solidFill>
              </a:defRPr>
            </a:lvl3pPr>
            <a:lvl4pPr algn="l">
              <a:defRPr sz="900" b="0">
                <a:solidFill>
                  <a:srgbClr val="526274"/>
                </a:solidFill>
              </a:defRPr>
            </a:lvl4pPr>
            <a:lvl5pPr algn="l">
              <a:defRPr sz="900" b="0">
                <a:solidFill>
                  <a:srgbClr val="526274"/>
                </a:solidFill>
              </a:defRPr>
            </a:lvl5pPr>
            <a:lvl6pPr algn="l">
              <a:defRPr sz="900" b="0">
                <a:solidFill>
                  <a:srgbClr val="526274"/>
                </a:solidFill>
              </a:defRPr>
            </a:lvl6pPr>
            <a:lvl7pPr algn="l">
              <a:defRPr sz="900" b="0">
                <a:solidFill>
                  <a:srgbClr val="526274"/>
                </a:solidFill>
              </a:defRPr>
            </a:lvl7pPr>
            <a:lvl8pPr algn="l">
              <a:defRPr sz="900" b="0">
                <a:solidFill>
                  <a:srgbClr val="526274"/>
                </a:solidFill>
              </a:defRPr>
            </a:lvl8pPr>
            <a:lvl9pPr algn="l">
              <a:defRPr sz="900" b="0">
                <a:solidFill>
                  <a:srgbClr val="526274"/>
                </a:solidFill>
              </a:defRPr>
            </a:lvl9pPr>
          </a:lstStyle>
          <a:p xmlns:a="http://schemas.openxmlformats.org/drawingml/2006/main">
            <a:pPr algn="l">
              <a:defRPr sz="900" b="0">
                <a:solidFill>
                  <a:srgbClr val="526274"/>
                </a:solidFill>
              </a:defRPr>
            </a:pPr>
            <a:r>
              <a:rPr sz="900" b="0">
                <a:solidFill>
                  <a:srgbClr val="526274"/>
                </a:solidFill>
              </a:rPr>
              <a:t>MCDI501 · Estadística Computacional</a:t>
            </a:r>
          </a:p>
        </p:txBody>
      </p:sp>
    </p:spTree>
    <p:extLst>
      <p:ext uri="{BB962C8B-B14F-4D97-AF65-F5344CB8AC3E}">
        <p14:creationId xmlns:p14="http://schemas.microsoft.com/office/powerpoint/2010/main" val="16625480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BA80F2E-0EE5-48B3-9979-22C41DEF0E43}"/>
              </a:ext>
            </a:extLst>
          </p:cNvPr>
          <p:cNvSpPr>
            <a:spLocks xmlns:a="http://schemas.openxmlformats.org/drawingml/2006/main" noGrp="1"/>
          </p:cNvSpPr>
          <p:nvPr/>
        </p:nvSpPr>
        <p:spPr>
          <a:xfrm xmlns:a="http://schemas.openxmlformats.org/drawingml/2006/main">
            <a:off x="723900" y="13811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274"/>
                </a:solidFill>
              </a:defRPr>
            </a:defPPr>
            <a:lvl1pPr algn="l">
              <a:defRPr sz="1275" b="1">
                <a:solidFill>
                  <a:srgbClr val="526274"/>
                </a:solidFill>
              </a:defRPr>
            </a:lvl1pPr>
            <a:lvl2pPr algn="l">
              <a:defRPr sz="1275" b="1">
                <a:solidFill>
                  <a:srgbClr val="526274"/>
                </a:solidFill>
              </a:defRPr>
            </a:lvl2pPr>
            <a:lvl3pPr algn="l">
              <a:defRPr sz="1275" b="1">
                <a:solidFill>
                  <a:srgbClr val="526274"/>
                </a:solidFill>
              </a:defRPr>
            </a:lvl3pPr>
            <a:lvl4pPr algn="l">
              <a:defRPr sz="1275" b="1">
                <a:solidFill>
                  <a:srgbClr val="526274"/>
                </a:solidFill>
              </a:defRPr>
            </a:lvl4pPr>
            <a:lvl5pPr algn="l">
              <a:defRPr sz="1275" b="1">
                <a:solidFill>
                  <a:srgbClr val="526274"/>
                </a:solidFill>
              </a:defRPr>
            </a:lvl5pPr>
            <a:lvl6pPr algn="l">
              <a:defRPr sz="1275" b="1">
                <a:solidFill>
                  <a:srgbClr val="526274"/>
                </a:solidFill>
              </a:defRPr>
            </a:lvl6pPr>
            <a:lvl7pPr algn="l">
              <a:defRPr sz="1275" b="1">
                <a:solidFill>
                  <a:srgbClr val="526274"/>
                </a:solidFill>
              </a:defRPr>
            </a:lvl7pPr>
            <a:lvl8pPr algn="l">
              <a:defRPr sz="1275" b="1">
                <a:solidFill>
                  <a:srgbClr val="526274"/>
                </a:solidFill>
              </a:defRPr>
            </a:lvl8pPr>
            <a:lvl9pPr algn="l">
              <a:defRPr sz="1275" b="1">
                <a:solidFill>
                  <a:srgbClr val="526274"/>
                </a:solidFill>
              </a:defRPr>
            </a:lvl9pPr>
          </a:lstStyle>
          <a:p xmlns:a="http://schemas.openxmlformats.org/drawingml/2006/main">
            <a:pPr algn="l">
              <a:defRPr sz="1275" b="1">
                <a:solidFill>
                  <a:srgbClr val="526274"/>
                </a:solidFill>
              </a:defRPr>
            </a:pPr>
            <a:r>
              <a:rPr sz="1275" b="1">
                <a:solidFill>
                  <a:srgbClr val="526274"/>
                </a:solidFill>
              </a:rPr>
              <a:t>VIF máximo</a:t>
            </a:r>
          </a:p>
        </p:txBody>
      </p:sp>
      <p:sp>
        <p:nvSpPr>
          <p:cNvPr id="2" name="">
            <a:extLst xmlns:a="http://schemas.openxmlformats.org/drawingml/2006/main">
              <a:ext uri="{FF2B5EF4-FFF2-40B4-BE49-F238E27FC236}">
                <a16:creationId xmlns:a16="http://schemas.microsoft.com/office/drawing/2014/main" id="{835F10B4-611F-4464-A124-D8A7534B4876}"/>
              </a:ext>
            </a:extLst>
          </p:cNvPr>
          <p:cNvSpPr>
            <a:spLocks xmlns:a="http://schemas.openxmlformats.org/drawingml/2006/main" noGrp="1"/>
          </p:cNvSpPr>
          <p:nvPr/>
        </p:nvSpPr>
        <p:spPr>
          <a:xfrm xmlns:a="http://schemas.openxmlformats.org/drawingml/2006/main">
            <a:off x="723900" y="169545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550" b="1">
                <a:solidFill>
                  <a:srgbClr val="2B8C82"/>
                </a:solidFill>
              </a:defRPr>
            </a:defPPr>
            <a:lvl1pPr algn="l">
              <a:defRPr sz="2550" b="1">
                <a:solidFill>
                  <a:srgbClr val="2B8C82"/>
                </a:solidFill>
              </a:defRPr>
            </a:lvl1pPr>
            <a:lvl2pPr algn="l">
              <a:defRPr sz="2550" b="1">
                <a:solidFill>
                  <a:srgbClr val="2B8C82"/>
                </a:solidFill>
              </a:defRPr>
            </a:lvl2pPr>
            <a:lvl3pPr algn="l">
              <a:defRPr sz="2550" b="1">
                <a:solidFill>
                  <a:srgbClr val="2B8C82"/>
                </a:solidFill>
              </a:defRPr>
            </a:lvl3pPr>
            <a:lvl4pPr algn="l">
              <a:defRPr sz="2550" b="1">
                <a:solidFill>
                  <a:srgbClr val="2B8C82"/>
                </a:solidFill>
              </a:defRPr>
            </a:lvl4pPr>
            <a:lvl5pPr algn="l">
              <a:defRPr sz="2550" b="1">
                <a:solidFill>
                  <a:srgbClr val="2B8C82"/>
                </a:solidFill>
              </a:defRPr>
            </a:lvl5pPr>
            <a:lvl6pPr algn="l">
              <a:defRPr sz="2550" b="1">
                <a:solidFill>
                  <a:srgbClr val="2B8C82"/>
                </a:solidFill>
              </a:defRPr>
            </a:lvl6pPr>
            <a:lvl7pPr algn="l">
              <a:defRPr sz="2550" b="1">
                <a:solidFill>
                  <a:srgbClr val="2B8C82"/>
                </a:solidFill>
              </a:defRPr>
            </a:lvl7pPr>
            <a:lvl8pPr algn="l">
              <a:defRPr sz="2550" b="1">
                <a:solidFill>
                  <a:srgbClr val="2B8C82"/>
                </a:solidFill>
              </a:defRPr>
            </a:lvl8pPr>
            <a:lvl9pPr algn="l">
              <a:defRPr sz="2550" b="1">
                <a:solidFill>
                  <a:srgbClr val="2B8C82"/>
                </a:solidFill>
              </a:defRPr>
            </a:lvl9pPr>
          </a:lstStyle>
          <a:p xmlns:a="http://schemas.openxmlformats.org/drawingml/2006/main">
            <a:pPr algn="l">
              <a:defRPr sz="2550" b="1">
                <a:solidFill>
                  <a:srgbClr val="2B8C82"/>
                </a:solidFill>
              </a:defRPr>
            </a:pPr>
            <a:r>
              <a:rPr sz="2550" b="1">
                <a:solidFill>
                  <a:srgbClr val="2B8C82"/>
                </a:solidFill>
              </a:rPr>
              <a:t>1,239</a:t>
            </a:r>
          </a:p>
        </p:txBody>
      </p:sp>
      <p:sp>
        <p:nvSpPr>
          <p:cNvPr id="3" name="">
            <a:extLst xmlns:a="http://schemas.openxmlformats.org/drawingml/2006/main">
              <a:ext uri="{FF2B5EF4-FFF2-40B4-BE49-F238E27FC236}">
                <a16:creationId xmlns:a16="http://schemas.microsoft.com/office/drawing/2014/main" id="{07028019-726A-476D-880B-6F3DC13733A4}"/>
              </a:ext>
            </a:extLst>
          </p:cNvPr>
          <p:cNvSpPr>
            <a:spLocks xmlns:a="http://schemas.openxmlformats.org/drawingml/2006/main" noGrp="1"/>
          </p:cNvSpPr>
          <p:nvPr/>
        </p:nvSpPr>
        <p:spPr>
          <a:xfrm xmlns:a="http://schemas.openxmlformats.org/drawingml/2006/main">
            <a:off x="723900" y="221932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E293B"/>
                </a:solidFill>
              </a:defRPr>
            </a:defPPr>
            <a:lvl1pPr algn="l">
              <a:defRPr sz="1350" b="0">
                <a:solidFill>
                  <a:srgbClr val="1E293B"/>
                </a:solidFill>
              </a:defRPr>
            </a:lvl1pPr>
            <a:lvl2pPr algn="l">
              <a:defRPr sz="1350" b="0">
                <a:solidFill>
                  <a:srgbClr val="1E293B"/>
                </a:solidFill>
              </a:defRPr>
            </a:lvl2pPr>
            <a:lvl3pPr algn="l">
              <a:defRPr sz="1350" b="0">
                <a:solidFill>
                  <a:srgbClr val="1E293B"/>
                </a:solidFill>
              </a:defRPr>
            </a:lvl3pPr>
            <a:lvl4pPr algn="l">
              <a:defRPr sz="1350" b="0">
                <a:solidFill>
                  <a:srgbClr val="1E293B"/>
                </a:solidFill>
              </a:defRPr>
            </a:lvl4pPr>
            <a:lvl5pPr algn="l">
              <a:defRPr sz="1350" b="0">
                <a:solidFill>
                  <a:srgbClr val="1E293B"/>
                </a:solidFill>
              </a:defRPr>
            </a:lvl5pPr>
            <a:lvl6pPr algn="l">
              <a:defRPr sz="1350" b="0">
                <a:solidFill>
                  <a:srgbClr val="1E293B"/>
                </a:solidFill>
              </a:defRPr>
            </a:lvl6pPr>
            <a:lvl7pPr algn="l">
              <a:defRPr sz="1350" b="0">
                <a:solidFill>
                  <a:srgbClr val="1E293B"/>
                </a:solidFill>
              </a:defRPr>
            </a:lvl7pPr>
            <a:lvl8pPr algn="l">
              <a:defRPr sz="1350" b="0">
                <a:solidFill>
                  <a:srgbClr val="1E293B"/>
                </a:solidFill>
              </a:defRPr>
            </a:lvl8pPr>
            <a:lvl9pPr algn="l">
              <a:defRPr sz="1350" b="0">
                <a:solidFill>
                  <a:srgbClr val="1E293B"/>
                </a:solidFill>
              </a:defRPr>
            </a:lvl9pPr>
          </a:lstStyle>
          <a:p xmlns:a="http://schemas.openxmlformats.org/drawingml/2006/main">
            <a:pPr algn="l">
              <a:defRPr sz="1350" b="0">
                <a:solidFill>
                  <a:srgbClr val="1E293B"/>
                </a:solidFill>
              </a:defRPr>
            </a:pPr>
            <a:r>
              <a:rPr sz="1350" b="0">
                <a:solidFill>
                  <a:srgbClr val="1E293B"/>
                </a:solidFill>
              </a:rPr>
              <a:t>No se observó multicolinealidad preocupante</a:t>
            </a:r>
          </a:p>
        </p:txBody>
      </p:sp>
      <p:sp>
        <p:nvSpPr>
          <p:cNvPr id="4" name="">
            <a:extLst xmlns:a="http://schemas.openxmlformats.org/drawingml/2006/main">
              <a:ext uri="{FF2B5EF4-FFF2-40B4-BE49-F238E27FC236}">
                <a16:creationId xmlns:a16="http://schemas.microsoft.com/office/drawing/2014/main" id="{FF8223F1-49B4-4673-B21E-64057AC23033}"/>
              </a:ext>
            </a:extLst>
          </p:cNvPr>
          <p:cNvSpPr>
            <a:spLocks xmlns:a="http://schemas.openxmlformats.org/drawingml/2006/main" noGrp="1"/>
          </p:cNvSpPr>
          <p:nvPr/>
        </p:nvSpPr>
        <p:spPr>
          <a:xfrm xmlns:a="http://schemas.openxmlformats.org/drawingml/2006/main">
            <a:off x="723900" y="3048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274"/>
                </a:solidFill>
              </a:defRPr>
            </a:defPPr>
            <a:lvl1pPr algn="l">
              <a:defRPr sz="1275" b="1">
                <a:solidFill>
                  <a:srgbClr val="526274"/>
                </a:solidFill>
              </a:defRPr>
            </a:lvl1pPr>
            <a:lvl2pPr algn="l">
              <a:defRPr sz="1275" b="1">
                <a:solidFill>
                  <a:srgbClr val="526274"/>
                </a:solidFill>
              </a:defRPr>
            </a:lvl2pPr>
            <a:lvl3pPr algn="l">
              <a:defRPr sz="1275" b="1">
                <a:solidFill>
                  <a:srgbClr val="526274"/>
                </a:solidFill>
              </a:defRPr>
            </a:lvl3pPr>
            <a:lvl4pPr algn="l">
              <a:defRPr sz="1275" b="1">
                <a:solidFill>
                  <a:srgbClr val="526274"/>
                </a:solidFill>
              </a:defRPr>
            </a:lvl4pPr>
            <a:lvl5pPr algn="l">
              <a:defRPr sz="1275" b="1">
                <a:solidFill>
                  <a:srgbClr val="526274"/>
                </a:solidFill>
              </a:defRPr>
            </a:lvl5pPr>
            <a:lvl6pPr algn="l">
              <a:defRPr sz="1275" b="1">
                <a:solidFill>
                  <a:srgbClr val="526274"/>
                </a:solidFill>
              </a:defRPr>
            </a:lvl6pPr>
            <a:lvl7pPr algn="l">
              <a:defRPr sz="1275" b="1">
                <a:solidFill>
                  <a:srgbClr val="526274"/>
                </a:solidFill>
              </a:defRPr>
            </a:lvl7pPr>
            <a:lvl8pPr algn="l">
              <a:defRPr sz="1275" b="1">
                <a:solidFill>
                  <a:srgbClr val="526274"/>
                </a:solidFill>
              </a:defRPr>
            </a:lvl8pPr>
            <a:lvl9pPr algn="l">
              <a:defRPr sz="1275" b="1">
                <a:solidFill>
                  <a:srgbClr val="526274"/>
                </a:solidFill>
              </a:defRPr>
            </a:lvl9pPr>
          </a:lstStyle>
          <a:p xmlns:a="http://schemas.openxmlformats.org/drawingml/2006/main">
            <a:pPr algn="l">
              <a:defRPr sz="1275" b="1">
                <a:solidFill>
                  <a:srgbClr val="526274"/>
                </a:solidFill>
              </a:defRPr>
            </a:pPr>
            <a:r>
              <a:rPr sz="1275" b="1">
                <a:solidFill>
                  <a:srgbClr val="526274"/>
                </a:solidFill>
              </a:rPr>
              <a:t>Linealidad del logit</a:t>
            </a:r>
          </a:p>
        </p:txBody>
      </p:sp>
      <p:sp>
        <p:nvSpPr>
          <p:cNvPr id="5" name="">
            <a:extLst xmlns:a="http://schemas.openxmlformats.org/drawingml/2006/main">
              <a:ext uri="{FF2B5EF4-FFF2-40B4-BE49-F238E27FC236}">
                <a16:creationId xmlns:a16="http://schemas.microsoft.com/office/drawing/2014/main" id="{B7F7C284-94AF-4FB3-9DC1-FE7B5C4685FB}"/>
              </a:ext>
            </a:extLst>
          </p:cNvPr>
          <p:cNvSpPr>
            <a:spLocks xmlns:a="http://schemas.openxmlformats.org/drawingml/2006/main" noGrp="1"/>
          </p:cNvSpPr>
          <p:nvPr/>
        </p:nvSpPr>
        <p:spPr>
          <a:xfrm xmlns:a="http://schemas.openxmlformats.org/drawingml/2006/main">
            <a:off x="723900" y="33718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D96C4A"/>
                </a:solidFill>
              </a:defRPr>
            </a:defPPr>
            <a:lvl1pPr algn="l">
              <a:defRPr sz="1800" b="1">
                <a:solidFill>
                  <a:srgbClr val="D96C4A"/>
                </a:solidFill>
              </a:defRPr>
            </a:lvl1pPr>
            <a:lvl2pPr algn="l">
              <a:defRPr sz="1800" b="1">
                <a:solidFill>
                  <a:srgbClr val="D96C4A"/>
                </a:solidFill>
              </a:defRPr>
            </a:lvl2pPr>
            <a:lvl3pPr algn="l">
              <a:defRPr sz="1800" b="1">
                <a:solidFill>
                  <a:srgbClr val="D96C4A"/>
                </a:solidFill>
              </a:defRPr>
            </a:lvl3pPr>
            <a:lvl4pPr algn="l">
              <a:defRPr sz="1800" b="1">
                <a:solidFill>
                  <a:srgbClr val="D96C4A"/>
                </a:solidFill>
              </a:defRPr>
            </a:lvl4pPr>
            <a:lvl5pPr algn="l">
              <a:defRPr sz="1800" b="1">
                <a:solidFill>
                  <a:srgbClr val="D96C4A"/>
                </a:solidFill>
              </a:defRPr>
            </a:lvl5pPr>
            <a:lvl6pPr algn="l">
              <a:defRPr sz="1800" b="1">
                <a:solidFill>
                  <a:srgbClr val="D96C4A"/>
                </a:solidFill>
              </a:defRPr>
            </a:lvl6pPr>
            <a:lvl7pPr algn="l">
              <a:defRPr sz="1800" b="1">
                <a:solidFill>
                  <a:srgbClr val="D96C4A"/>
                </a:solidFill>
              </a:defRPr>
            </a:lvl7pPr>
            <a:lvl8pPr algn="l">
              <a:defRPr sz="1800" b="1">
                <a:solidFill>
                  <a:srgbClr val="D96C4A"/>
                </a:solidFill>
              </a:defRPr>
            </a:lvl8pPr>
            <a:lvl9pPr algn="l">
              <a:defRPr sz="1800" b="1">
                <a:solidFill>
                  <a:srgbClr val="D96C4A"/>
                </a:solidFill>
              </a:defRPr>
            </a:lvl9pPr>
          </a:lstStyle>
          <a:p xmlns:a="http://schemas.openxmlformats.org/drawingml/2006/main">
            <a:pPr algn="l">
              <a:defRPr sz="1800" b="1">
                <a:solidFill>
                  <a:srgbClr val="D96C4A"/>
                </a:solidFill>
              </a:defRPr>
            </a:pPr>
            <a:r>
              <a:rPr sz="1800" b="1">
                <a:solidFill>
                  <a:srgbClr val="D96C4A"/>
                </a:solidFill>
              </a:rPr>
              <a:t>Edad: p = 0,0154</a:t>
            </a:r>
          </a:p>
        </p:txBody>
      </p:sp>
      <p:sp>
        <p:nvSpPr>
          <p:cNvPr id="6" name="">
            <a:extLst xmlns:a="http://schemas.openxmlformats.org/drawingml/2006/main">
              <a:ext uri="{FF2B5EF4-FFF2-40B4-BE49-F238E27FC236}">
                <a16:creationId xmlns:a16="http://schemas.microsoft.com/office/drawing/2014/main" id="{DD0B0EBB-C1B3-40E5-9001-6F05F2EC7A2A}"/>
              </a:ext>
            </a:extLst>
          </p:cNvPr>
          <p:cNvSpPr>
            <a:spLocks xmlns:a="http://schemas.openxmlformats.org/drawingml/2006/main" noGrp="1"/>
          </p:cNvSpPr>
          <p:nvPr/>
        </p:nvSpPr>
        <p:spPr>
          <a:xfrm xmlns:a="http://schemas.openxmlformats.org/drawingml/2006/main">
            <a:off x="723900" y="382905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E293B"/>
                </a:solidFill>
              </a:defRPr>
            </a:defPPr>
            <a:lvl1pPr algn="l">
              <a:defRPr sz="1350" b="0">
                <a:solidFill>
                  <a:srgbClr val="1E293B"/>
                </a:solidFill>
              </a:defRPr>
            </a:lvl1pPr>
            <a:lvl2pPr algn="l">
              <a:defRPr sz="1350" b="0">
                <a:solidFill>
                  <a:srgbClr val="1E293B"/>
                </a:solidFill>
              </a:defRPr>
            </a:lvl2pPr>
            <a:lvl3pPr algn="l">
              <a:defRPr sz="1350" b="0">
                <a:solidFill>
                  <a:srgbClr val="1E293B"/>
                </a:solidFill>
              </a:defRPr>
            </a:lvl3pPr>
            <a:lvl4pPr algn="l">
              <a:defRPr sz="1350" b="0">
                <a:solidFill>
                  <a:srgbClr val="1E293B"/>
                </a:solidFill>
              </a:defRPr>
            </a:lvl4pPr>
            <a:lvl5pPr algn="l">
              <a:defRPr sz="1350" b="0">
                <a:solidFill>
                  <a:srgbClr val="1E293B"/>
                </a:solidFill>
              </a:defRPr>
            </a:lvl5pPr>
            <a:lvl6pPr algn="l">
              <a:defRPr sz="1350" b="0">
                <a:solidFill>
                  <a:srgbClr val="1E293B"/>
                </a:solidFill>
              </a:defRPr>
            </a:lvl6pPr>
            <a:lvl7pPr algn="l">
              <a:defRPr sz="1350" b="0">
                <a:solidFill>
                  <a:srgbClr val="1E293B"/>
                </a:solidFill>
              </a:defRPr>
            </a:lvl7pPr>
            <a:lvl8pPr algn="l">
              <a:defRPr sz="1350" b="0">
                <a:solidFill>
                  <a:srgbClr val="1E293B"/>
                </a:solidFill>
              </a:defRPr>
            </a:lvl8pPr>
            <a:lvl9pPr algn="l">
              <a:defRPr sz="1350" b="0">
                <a:solidFill>
                  <a:srgbClr val="1E293B"/>
                </a:solidFill>
              </a:defRPr>
            </a:lvl9pPr>
          </a:lstStyle>
          <a:p xmlns:a="http://schemas.openxmlformats.org/drawingml/2006/main">
            <a:pPr algn="l">
              <a:defRPr sz="1350" b="0">
                <a:solidFill>
                  <a:srgbClr val="1E293B"/>
                </a:solidFill>
              </a:defRPr>
            </a:pPr>
            <a:r>
              <a:rPr sz="1350" b="0">
                <a:solidFill>
                  <a:srgbClr val="1E293B"/>
                </a:solidFill>
              </a:rPr>
              <a:t>El efecto de la edad no es lineal en la escala del modelo.</a:t>
            </a:r>
          </a:p>
        </p:txBody>
      </p:sp>
      <p:sp>
        <p:nvSpPr>
          <p:cNvPr id="7" name="">
            <a:extLst xmlns:a="http://schemas.openxmlformats.org/drawingml/2006/main">
              <a:ext uri="{FF2B5EF4-FFF2-40B4-BE49-F238E27FC236}">
                <a16:creationId xmlns:a16="http://schemas.microsoft.com/office/drawing/2014/main" id="{AD557B96-C9DC-4908-AA66-04CEC3A16E2E}"/>
              </a:ext>
            </a:extLst>
          </p:cNvPr>
          <p:cNvSpPr>
            <a:spLocks xmlns:a="http://schemas.openxmlformats.org/drawingml/2006/main" noGrp="1"/>
          </p:cNvSpPr>
          <p:nvPr/>
        </p:nvSpPr>
        <p:spPr>
          <a:xfrm xmlns:a="http://schemas.openxmlformats.org/drawingml/2006/main">
            <a:off x="723900" y="47625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526274"/>
                </a:solidFill>
              </a:defRPr>
            </a:defPPr>
            <a:lvl1pPr algn="l">
              <a:defRPr sz="1275" b="1">
                <a:solidFill>
                  <a:srgbClr val="526274"/>
                </a:solidFill>
              </a:defRPr>
            </a:lvl1pPr>
            <a:lvl2pPr algn="l">
              <a:defRPr sz="1275" b="1">
                <a:solidFill>
                  <a:srgbClr val="526274"/>
                </a:solidFill>
              </a:defRPr>
            </a:lvl2pPr>
            <a:lvl3pPr algn="l">
              <a:defRPr sz="1275" b="1">
                <a:solidFill>
                  <a:srgbClr val="526274"/>
                </a:solidFill>
              </a:defRPr>
            </a:lvl3pPr>
            <a:lvl4pPr algn="l">
              <a:defRPr sz="1275" b="1">
                <a:solidFill>
                  <a:srgbClr val="526274"/>
                </a:solidFill>
              </a:defRPr>
            </a:lvl4pPr>
            <a:lvl5pPr algn="l">
              <a:defRPr sz="1275" b="1">
                <a:solidFill>
                  <a:srgbClr val="526274"/>
                </a:solidFill>
              </a:defRPr>
            </a:lvl5pPr>
            <a:lvl6pPr algn="l">
              <a:defRPr sz="1275" b="1">
                <a:solidFill>
                  <a:srgbClr val="526274"/>
                </a:solidFill>
              </a:defRPr>
            </a:lvl6pPr>
            <a:lvl7pPr algn="l">
              <a:defRPr sz="1275" b="1">
                <a:solidFill>
                  <a:srgbClr val="526274"/>
                </a:solidFill>
              </a:defRPr>
            </a:lvl7pPr>
            <a:lvl8pPr algn="l">
              <a:defRPr sz="1275" b="1">
                <a:solidFill>
                  <a:srgbClr val="526274"/>
                </a:solidFill>
              </a:defRPr>
            </a:lvl8pPr>
            <a:lvl9pPr algn="l">
              <a:defRPr sz="1275" b="1">
                <a:solidFill>
                  <a:srgbClr val="526274"/>
                </a:solidFill>
              </a:defRPr>
            </a:lvl9pPr>
          </a:lstStyle>
          <a:p xmlns:a="http://schemas.openxmlformats.org/drawingml/2006/main">
            <a:pPr algn="l">
              <a:defRPr sz="1275" b="1">
                <a:solidFill>
                  <a:srgbClr val="526274"/>
                </a:solidFill>
              </a:defRPr>
            </a:pPr>
            <a:r>
              <a:rPr sz="1275" b="1">
                <a:solidFill>
                  <a:srgbClr val="526274"/>
                </a:solidFill>
              </a:rPr>
              <a:t>Influencia</a:t>
            </a:r>
          </a:p>
        </p:txBody>
      </p:sp>
      <p:sp>
        <p:nvSpPr>
          <p:cNvPr id="8" name="">
            <a:extLst xmlns:a="http://schemas.openxmlformats.org/drawingml/2006/main">
              <a:ext uri="{FF2B5EF4-FFF2-40B4-BE49-F238E27FC236}">
                <a16:creationId xmlns:a16="http://schemas.microsoft.com/office/drawing/2014/main" id="{EB5890F4-6D4E-4793-B5F2-25270F4C705B}"/>
              </a:ext>
            </a:extLst>
          </p:cNvPr>
          <p:cNvSpPr>
            <a:spLocks xmlns:a="http://schemas.openxmlformats.org/drawingml/2006/main" noGrp="1"/>
          </p:cNvSpPr>
          <p:nvPr/>
        </p:nvSpPr>
        <p:spPr>
          <a:xfrm xmlns:a="http://schemas.openxmlformats.org/drawingml/2006/main">
            <a:off x="723900" y="5000625"/>
            <a:ext cx="2952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E293B"/>
                </a:solidFill>
              </a:defRPr>
            </a:defPPr>
            <a:lvl1pPr algn="l">
              <a:defRPr sz="1275" b="0">
                <a:solidFill>
                  <a:srgbClr val="1E293B"/>
                </a:solidFill>
              </a:defRPr>
            </a:lvl1pPr>
            <a:lvl2pPr algn="l">
              <a:defRPr sz="1275" b="0">
                <a:solidFill>
                  <a:srgbClr val="1E293B"/>
                </a:solidFill>
              </a:defRPr>
            </a:lvl2pPr>
            <a:lvl3pPr algn="l">
              <a:defRPr sz="1275" b="0">
                <a:solidFill>
                  <a:srgbClr val="1E293B"/>
                </a:solidFill>
              </a:defRPr>
            </a:lvl3pPr>
            <a:lvl4pPr algn="l">
              <a:defRPr sz="1275" b="0">
                <a:solidFill>
                  <a:srgbClr val="1E293B"/>
                </a:solidFill>
              </a:defRPr>
            </a:lvl4pPr>
            <a:lvl5pPr algn="l">
              <a:defRPr sz="1275" b="0">
                <a:solidFill>
                  <a:srgbClr val="1E293B"/>
                </a:solidFill>
              </a:defRPr>
            </a:lvl5pPr>
            <a:lvl6pPr algn="l">
              <a:defRPr sz="1275" b="0">
                <a:solidFill>
                  <a:srgbClr val="1E293B"/>
                </a:solidFill>
              </a:defRPr>
            </a:lvl6pPr>
            <a:lvl7pPr algn="l">
              <a:defRPr sz="1275" b="0">
                <a:solidFill>
                  <a:srgbClr val="1E293B"/>
                </a:solidFill>
              </a:defRPr>
            </a:lvl7pPr>
            <a:lvl8pPr algn="l">
              <a:defRPr sz="1275" b="0">
                <a:solidFill>
                  <a:srgbClr val="1E293B"/>
                </a:solidFill>
              </a:defRPr>
            </a:lvl8pPr>
            <a:lvl9pPr algn="l">
              <a:defRPr sz="1275" b="0">
                <a:solidFill>
                  <a:srgbClr val="1E293B"/>
                </a:solidFill>
              </a:defRPr>
            </a:lvl9pPr>
          </a:lstStyle>
          <a:p xmlns:a="http://schemas.openxmlformats.org/drawingml/2006/main">
            <a:pPr algn="l">
              <a:defRPr sz="1275" b="0">
                <a:solidFill>
                  <a:srgbClr val="1E293B"/>
                </a:solidFill>
              </a:defRPr>
            </a:pPr>
            <a:r>
              <a:rPr sz="1275" b="0">
                <a:solidFill>
                  <a:srgbClr val="1E293B"/>
                </a:solidFill>
              </a:rPr>
              <a:t>261 casos sobre el umbral 4/n de la distancia de Cook y 81 residuos de Pearson mayores que 3 en valor absoluto</a:t>
            </a:r>
          </a:p>
        </p:txBody>
      </p:sp>
      <p:pic>
        <p:nvPicPr>
          <p:cNvPr id="9" name="">
            <a:extLst xmlns:a="http://schemas.openxmlformats.org/drawingml/2006/main">
              <a:ext uri="{FF2B5EF4-FFF2-40B4-BE49-F238E27FC236}">
                <a16:creationId xmlns:a16="http://schemas.microsoft.com/office/drawing/2014/main" id="{6363C35B-F0A7-4C9D-86D7-1EA41D1901A2}"/>
              </a:ext>
            </a:extLst>
          </p:cNvPr>
          <p:cNvPicPr>
            <a:picLocks xmlns:a="http://schemas.openxmlformats.org/drawingml/2006/main" noChangeAspect="1"/>
          </p:cNvPicPr>
          <p:nvPr/>
        </p:nvPicPr>
        <p:blipFill>
          <a:blip xmlns:r="http://schemas.openxmlformats.org/officeDocument/2006/relationships" xmlns:a="http://schemas.openxmlformats.org/drawingml/2006/main" r:embed="R8ca94d263ac445c7"/>
          <a:stretch xmlns:a="http://schemas.openxmlformats.org/drawingml/2006/main"/>
        </p:blipFill>
        <p:spPr>
          <a:xfrm xmlns:a="http://schemas.openxmlformats.org/drawingml/2006/main">
            <a:off x="3857625" y="2011948"/>
            <a:ext cx="7524750" cy="292935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086B286-CDC1-4DB2-BEE3-F85B89ABA56B}"/>
              </a:ext>
            </a:extLst>
          </p:cNvPr>
          <p:cNvSpPr>
            <a:spLocks xmlns:a="http://schemas.openxmlformats.org/drawingml/2006/main" noGrp="1"/>
          </p:cNvSpPr>
          <p:nvPr/>
        </p:nvSpPr>
        <p:spPr>
          <a:xfrm xmlns:a="http://schemas.openxmlformats.org/drawingml/2006/main">
            <a:off x="685800" y="400050"/>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123456"/>
                </a:solidFill>
              </a:defRPr>
            </a:defPPr>
            <a:lvl1pPr algn="l">
              <a:defRPr sz="2400" b="1">
                <a:solidFill>
                  <a:srgbClr val="123456"/>
                </a:solidFill>
              </a:defRPr>
            </a:lvl1pPr>
            <a:lvl2pPr algn="l">
              <a:defRPr sz="2400" b="1">
                <a:solidFill>
                  <a:srgbClr val="123456"/>
                </a:solidFill>
              </a:defRPr>
            </a:lvl2pPr>
            <a:lvl3pPr algn="l">
              <a:defRPr sz="2400" b="1">
                <a:solidFill>
                  <a:srgbClr val="123456"/>
                </a:solidFill>
              </a:defRPr>
            </a:lvl3pPr>
            <a:lvl4pPr algn="l">
              <a:defRPr sz="2400" b="1">
                <a:solidFill>
                  <a:srgbClr val="123456"/>
                </a:solidFill>
              </a:defRPr>
            </a:lvl4pPr>
            <a:lvl5pPr algn="l">
              <a:defRPr sz="2400" b="1">
                <a:solidFill>
                  <a:srgbClr val="123456"/>
                </a:solidFill>
              </a:defRPr>
            </a:lvl5pPr>
            <a:lvl6pPr algn="l">
              <a:defRPr sz="2400" b="1">
                <a:solidFill>
                  <a:srgbClr val="123456"/>
                </a:solidFill>
              </a:defRPr>
            </a:lvl6pPr>
            <a:lvl7pPr algn="l">
              <a:defRPr sz="2400" b="1">
                <a:solidFill>
                  <a:srgbClr val="123456"/>
                </a:solidFill>
              </a:defRPr>
            </a:lvl7pPr>
            <a:lvl8pPr algn="l">
              <a:defRPr sz="2400" b="1">
                <a:solidFill>
                  <a:srgbClr val="123456"/>
                </a:solidFill>
              </a:defRPr>
            </a:lvl8pPr>
            <a:lvl9pPr algn="l">
              <a:defRPr sz="2400" b="1">
                <a:solidFill>
                  <a:srgbClr val="123456"/>
                </a:solidFill>
              </a:defRPr>
            </a:lvl9pPr>
          </a:lstStyle>
          <a:p xmlns:a="http://schemas.openxmlformats.org/drawingml/2006/main">
            <a:pPr algn="l">
              <a:defRPr sz="2400" b="1">
                <a:solidFill>
                  <a:srgbClr val="123456"/>
                </a:solidFill>
              </a:defRPr>
            </a:pPr>
            <a:r>
              <a:rPr sz="2400" b="1">
                <a:solidFill>
                  <a:srgbClr val="123456"/>
                </a:solidFill>
              </a:rPr>
              <a:t>Diagnóstico de supuestos</a:t>
            </a:r>
          </a:p>
        </p:txBody>
      </p:sp>
      <p:sp>
        <p:nvSpPr>
          <p:cNvPr id="11" name="">
            <a:extLst xmlns:a="http://schemas.openxmlformats.org/drawingml/2006/main">
              <a:ext uri="{FF2B5EF4-FFF2-40B4-BE49-F238E27FC236}">
                <a16:creationId xmlns:a16="http://schemas.microsoft.com/office/drawing/2014/main" id="{0AAE006C-7ADA-44D5-93FD-464BDD311F4F}"/>
              </a:ext>
            </a:extLst>
          </p:cNvPr>
          <p:cNvSpPr>
            <a:spLocks xmlns:a="http://schemas.openxmlformats.org/drawingml/2006/main" noGrp="1"/>
          </p:cNvSpPr>
          <p:nvPr/>
        </p:nvSpPr>
        <p:spPr>
          <a:xfrm xmlns:a="http://schemas.openxmlformats.org/drawingml/2006/main">
            <a:off x="685800" y="990600"/>
            <a:ext cx="108204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8C38A8D-D412-4354-AC01-47AB17371792}"/>
              </a:ext>
            </a:extLst>
          </p:cNvPr>
          <p:cNvSpPr>
            <a:spLocks xmlns:a="http://schemas.openxmlformats.org/drawingml/2006/main" noGrp="1"/>
          </p:cNvSpPr>
          <p:nvPr/>
        </p:nvSpPr>
        <p:spPr>
          <a:xfrm xmlns:a="http://schemas.openxmlformats.org/drawingml/2006/main">
            <a:off x="10363200" y="419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526274"/>
                </a:solidFill>
              </a:defRPr>
            </a:defPPr>
            <a:lvl1pPr algn="r">
              <a:defRPr sz="1200" b="1">
                <a:solidFill>
                  <a:srgbClr val="526274"/>
                </a:solidFill>
              </a:defRPr>
            </a:lvl1pPr>
            <a:lvl2pPr algn="r">
              <a:defRPr sz="1200" b="1">
                <a:solidFill>
                  <a:srgbClr val="526274"/>
                </a:solidFill>
              </a:defRPr>
            </a:lvl2pPr>
            <a:lvl3pPr algn="r">
              <a:defRPr sz="1200" b="1">
                <a:solidFill>
                  <a:srgbClr val="526274"/>
                </a:solidFill>
              </a:defRPr>
            </a:lvl3pPr>
            <a:lvl4pPr algn="r">
              <a:defRPr sz="1200" b="1">
                <a:solidFill>
                  <a:srgbClr val="526274"/>
                </a:solidFill>
              </a:defRPr>
            </a:lvl4pPr>
            <a:lvl5pPr algn="r">
              <a:defRPr sz="1200" b="1">
                <a:solidFill>
                  <a:srgbClr val="526274"/>
                </a:solidFill>
              </a:defRPr>
            </a:lvl5pPr>
            <a:lvl6pPr algn="r">
              <a:defRPr sz="1200" b="1">
                <a:solidFill>
                  <a:srgbClr val="526274"/>
                </a:solidFill>
              </a:defRPr>
            </a:lvl6pPr>
            <a:lvl7pPr algn="r">
              <a:defRPr sz="1200" b="1">
                <a:solidFill>
                  <a:srgbClr val="526274"/>
                </a:solidFill>
              </a:defRPr>
            </a:lvl7pPr>
            <a:lvl8pPr algn="r">
              <a:defRPr sz="1200" b="1">
                <a:solidFill>
                  <a:srgbClr val="526274"/>
                </a:solidFill>
              </a:defRPr>
            </a:lvl8pPr>
            <a:lvl9pPr algn="r">
              <a:defRPr sz="1200" b="1">
                <a:solidFill>
                  <a:srgbClr val="526274"/>
                </a:solidFill>
              </a:defRPr>
            </a:lvl9pPr>
          </a:lstStyle>
          <a:p xmlns:a="http://schemas.openxmlformats.org/drawingml/2006/main">
            <a:pPr algn="r">
              <a:defRPr sz="1200" b="1">
                <a:solidFill>
                  <a:srgbClr val="526274"/>
                </a:solidFill>
              </a:defRPr>
            </a:pPr>
            <a:r>
              <a:rPr sz="1200" b="1">
                <a:solidFill>
                  <a:srgbClr val="526274"/>
                </a:solidFill>
              </a:rPr>
              <a:t>08</a:t>
            </a:r>
          </a:p>
        </p:txBody>
      </p:sp>
      <p:sp>
        <p:nvSpPr>
          <p:cNvPr id="13" name="">
            <a:extLst xmlns:a="http://schemas.openxmlformats.org/drawingml/2006/main">
              <a:ext uri="{FF2B5EF4-FFF2-40B4-BE49-F238E27FC236}">
                <a16:creationId xmlns:a16="http://schemas.microsoft.com/office/drawing/2014/main" id="{9239869A-DE15-4311-8668-548182D6655D}"/>
              </a:ext>
            </a:extLst>
          </p:cNvPr>
          <p:cNvSpPr>
            <a:spLocks xmlns:a="http://schemas.openxmlformats.org/drawingml/2006/main" noGrp="1"/>
          </p:cNvSpPr>
          <p:nvPr/>
        </p:nvSpPr>
        <p:spPr>
          <a:xfrm xmlns:a="http://schemas.openxmlformats.org/drawingml/2006/main">
            <a:off x="685800" y="65151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26274"/>
                </a:solidFill>
              </a:defRPr>
            </a:defPPr>
            <a:lvl1pPr algn="l">
              <a:defRPr sz="900" b="0">
                <a:solidFill>
                  <a:srgbClr val="526274"/>
                </a:solidFill>
              </a:defRPr>
            </a:lvl1pPr>
            <a:lvl2pPr algn="l">
              <a:defRPr sz="900" b="0">
                <a:solidFill>
                  <a:srgbClr val="526274"/>
                </a:solidFill>
              </a:defRPr>
            </a:lvl2pPr>
            <a:lvl3pPr algn="l">
              <a:defRPr sz="900" b="0">
                <a:solidFill>
                  <a:srgbClr val="526274"/>
                </a:solidFill>
              </a:defRPr>
            </a:lvl3pPr>
            <a:lvl4pPr algn="l">
              <a:defRPr sz="900" b="0">
                <a:solidFill>
                  <a:srgbClr val="526274"/>
                </a:solidFill>
              </a:defRPr>
            </a:lvl4pPr>
            <a:lvl5pPr algn="l">
              <a:defRPr sz="900" b="0">
                <a:solidFill>
                  <a:srgbClr val="526274"/>
                </a:solidFill>
              </a:defRPr>
            </a:lvl5pPr>
            <a:lvl6pPr algn="l">
              <a:defRPr sz="900" b="0">
                <a:solidFill>
                  <a:srgbClr val="526274"/>
                </a:solidFill>
              </a:defRPr>
            </a:lvl6pPr>
            <a:lvl7pPr algn="l">
              <a:defRPr sz="900" b="0">
                <a:solidFill>
                  <a:srgbClr val="526274"/>
                </a:solidFill>
              </a:defRPr>
            </a:lvl7pPr>
            <a:lvl8pPr algn="l">
              <a:defRPr sz="900" b="0">
                <a:solidFill>
                  <a:srgbClr val="526274"/>
                </a:solidFill>
              </a:defRPr>
            </a:lvl8pPr>
            <a:lvl9pPr algn="l">
              <a:defRPr sz="900" b="0">
                <a:solidFill>
                  <a:srgbClr val="526274"/>
                </a:solidFill>
              </a:defRPr>
            </a:lvl9pPr>
          </a:lstStyle>
          <a:p xmlns:a="http://schemas.openxmlformats.org/drawingml/2006/main">
            <a:pPr algn="l">
              <a:defRPr sz="900" b="0">
                <a:solidFill>
                  <a:srgbClr val="526274"/>
                </a:solidFill>
              </a:defRPr>
            </a:pPr>
            <a:r>
              <a:rPr sz="900" b="0">
                <a:solidFill>
                  <a:srgbClr val="526274"/>
                </a:solidFill>
              </a:rPr>
              <a:t>MCDI501 · Estadística Computacional</a:t>
            </a:r>
          </a:p>
        </p:txBody>
      </p:sp>
    </p:spTree>
    <p:extLst>
      <p:ext uri="{BB962C8B-B14F-4D97-AF65-F5344CB8AC3E}">
        <p14:creationId xmlns:p14="http://schemas.microsoft.com/office/powerpoint/2010/main" val="16551436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E23618-6D77-4B8D-8E51-023857AC7E77}"/>
              </a:ext>
            </a:extLst>
          </p:cNvPr>
          <p:cNvSpPr>
            <a:spLocks xmlns:a="http://schemas.openxmlformats.org/drawingml/2006/main" noGrp="1"/>
          </p:cNvSpPr>
          <p:nvPr/>
        </p:nvSpPr>
        <p:spPr>
          <a:xfrm xmlns:a="http://schemas.openxmlformats.org/drawingml/2006/main">
            <a:off x="723900" y="12858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76B87"/>
                </a:solidFill>
              </a:defRPr>
            </a:defPPr>
            <a:lvl1pPr algn="l">
              <a:defRPr sz="1350" b="1">
                <a:solidFill>
                  <a:srgbClr val="176B87"/>
                </a:solidFill>
              </a:defRPr>
            </a:lvl1pPr>
            <a:lvl2pPr algn="l">
              <a:defRPr sz="1350" b="1">
                <a:solidFill>
                  <a:srgbClr val="176B87"/>
                </a:solidFill>
              </a:defRPr>
            </a:lvl2pPr>
            <a:lvl3pPr algn="l">
              <a:defRPr sz="1350" b="1">
                <a:solidFill>
                  <a:srgbClr val="176B87"/>
                </a:solidFill>
              </a:defRPr>
            </a:lvl3pPr>
            <a:lvl4pPr algn="l">
              <a:defRPr sz="1350" b="1">
                <a:solidFill>
                  <a:srgbClr val="176B87"/>
                </a:solidFill>
              </a:defRPr>
            </a:lvl4pPr>
            <a:lvl5pPr algn="l">
              <a:defRPr sz="1350" b="1">
                <a:solidFill>
                  <a:srgbClr val="176B87"/>
                </a:solidFill>
              </a:defRPr>
            </a:lvl5pPr>
            <a:lvl6pPr algn="l">
              <a:defRPr sz="1350" b="1">
                <a:solidFill>
                  <a:srgbClr val="176B87"/>
                </a:solidFill>
              </a:defRPr>
            </a:lvl6pPr>
            <a:lvl7pPr algn="l">
              <a:defRPr sz="1350" b="1">
                <a:solidFill>
                  <a:srgbClr val="176B87"/>
                </a:solidFill>
              </a:defRPr>
            </a:lvl7pPr>
            <a:lvl8pPr algn="l">
              <a:defRPr sz="1350" b="1">
                <a:solidFill>
                  <a:srgbClr val="176B87"/>
                </a:solidFill>
              </a:defRPr>
            </a:lvl8pPr>
            <a:lvl9pPr algn="l">
              <a:defRPr sz="1350" b="1">
                <a:solidFill>
                  <a:srgbClr val="176B87"/>
                </a:solidFill>
              </a:defRPr>
            </a:lvl9pPr>
          </a:lstStyle>
          <a:p xmlns:a="http://schemas.openxmlformats.org/drawingml/2006/main">
            <a:pPr algn="l">
              <a:defRPr sz="1350" b="1">
                <a:solidFill>
                  <a:srgbClr val="176B87"/>
                </a:solidFill>
              </a:defRPr>
            </a:pPr>
            <a:r>
              <a:rPr sz="1350" b="1">
                <a:solidFill>
                  <a:srgbClr val="176B87"/>
                </a:solidFill>
              </a:rPr>
              <a:t>AUC en el mismo conjunto de prueba</a:t>
            </a:r>
          </a:p>
        </p:txBody>
      </p:sp>
      <p:sp>
        <p:nvSpPr>
          <p:cNvPr id="2" name="">
            <a:extLst xmlns:a="http://schemas.openxmlformats.org/drawingml/2006/main">
              <a:ext uri="{FF2B5EF4-FFF2-40B4-BE49-F238E27FC236}">
                <a16:creationId xmlns:a16="http://schemas.microsoft.com/office/drawing/2014/main" id="{FF300CDB-D2B2-40F1-BE31-FBB86D2A159F}"/>
              </a:ext>
            </a:extLst>
          </p:cNvPr>
          <p:cNvSpPr>
            <a:spLocks xmlns:a="http://schemas.openxmlformats.org/drawingml/2006/main" noGrp="1"/>
          </p:cNvSpPr>
          <p:nvPr/>
        </p:nvSpPr>
        <p:spPr>
          <a:xfrm xmlns:a="http://schemas.openxmlformats.org/drawingml/2006/main">
            <a:off x="723900" y="17335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E293B"/>
                </a:solidFill>
              </a:defRPr>
            </a:defPPr>
            <a:lvl1pPr algn="l">
              <a:defRPr sz="1800" b="1">
                <a:solidFill>
                  <a:srgbClr val="1E293B"/>
                </a:solidFill>
              </a:defRPr>
            </a:lvl1pPr>
            <a:lvl2pPr algn="l">
              <a:defRPr sz="1800" b="1">
                <a:solidFill>
                  <a:srgbClr val="1E293B"/>
                </a:solidFill>
              </a:defRPr>
            </a:lvl2pPr>
            <a:lvl3pPr algn="l">
              <a:defRPr sz="1800" b="1">
                <a:solidFill>
                  <a:srgbClr val="1E293B"/>
                </a:solidFill>
              </a:defRPr>
            </a:lvl3pPr>
            <a:lvl4pPr algn="l">
              <a:defRPr sz="1800" b="1">
                <a:solidFill>
                  <a:srgbClr val="1E293B"/>
                </a:solidFill>
              </a:defRPr>
            </a:lvl4pPr>
            <a:lvl5pPr algn="l">
              <a:defRPr sz="1800" b="1">
                <a:solidFill>
                  <a:srgbClr val="1E293B"/>
                </a:solidFill>
              </a:defRPr>
            </a:lvl5pPr>
            <a:lvl6pPr algn="l">
              <a:defRPr sz="1800" b="1">
                <a:solidFill>
                  <a:srgbClr val="1E293B"/>
                </a:solidFill>
              </a:defRPr>
            </a:lvl6pPr>
            <a:lvl7pPr algn="l">
              <a:defRPr sz="1800" b="1">
                <a:solidFill>
                  <a:srgbClr val="1E293B"/>
                </a:solidFill>
              </a:defRPr>
            </a:lvl7pPr>
            <a:lvl8pPr algn="l">
              <a:defRPr sz="1800" b="1">
                <a:solidFill>
                  <a:srgbClr val="1E293B"/>
                </a:solidFill>
              </a:defRPr>
            </a:lvl8pPr>
            <a:lvl9pPr algn="l">
              <a:defRPr sz="1800" b="1">
                <a:solidFill>
                  <a:srgbClr val="1E293B"/>
                </a:solidFill>
              </a:defRPr>
            </a:lvl9pPr>
          </a:lstStyle>
          <a:p xmlns:a="http://schemas.openxmlformats.org/drawingml/2006/main">
            <a:pPr algn="l">
              <a:defRPr sz="1800" b="1">
                <a:solidFill>
                  <a:srgbClr val="1E293B"/>
                </a:solidFill>
              </a:defRPr>
            </a:pPr>
            <a:r>
              <a:rPr sz="1800" b="1">
                <a:solidFill>
                  <a:srgbClr val="1E293B"/>
                </a:solidFill>
              </a:rPr>
              <a:t>Eliminación  0,7073</a:t>
            </a:r>
          </a:p>
          <a:p xmlns:a="http://schemas.openxmlformats.org/drawingml/2006/main">
            <a:pPr algn="l">
              <a:defRPr sz="1800" b="1">
                <a:solidFill>
                  <a:srgbClr val="1E293B"/>
                </a:solidFill>
              </a:defRPr>
            </a:pPr>
            <a:r>
              <a:rPr sz="1800" b="1">
                <a:solidFill>
                  <a:srgbClr val="1E293B"/>
                </a:solidFill>
              </a:rPr>
              <a:t>Simple          0,7059</a:t>
            </a:r>
          </a:p>
          <a:p xmlns:a="http://schemas.openxmlformats.org/drawingml/2006/main">
            <a:pPr algn="l">
              <a:defRPr sz="1800" b="1">
                <a:solidFill>
                  <a:srgbClr val="1E293B"/>
                </a:solidFill>
              </a:defRPr>
            </a:pPr>
            <a:r>
              <a:rPr sz="1800" b="1">
                <a:solidFill>
                  <a:srgbClr val="1E293B"/>
                </a:solidFill>
              </a:rPr>
              <a:t>Regresión     0,7059</a:t>
            </a:r>
          </a:p>
        </p:txBody>
      </p:sp>
      <p:sp>
        <p:nvSpPr>
          <p:cNvPr id="3" name="">
            <a:extLst xmlns:a="http://schemas.openxmlformats.org/drawingml/2006/main">
              <a:ext uri="{FF2B5EF4-FFF2-40B4-BE49-F238E27FC236}">
                <a16:creationId xmlns:a16="http://schemas.microsoft.com/office/drawing/2014/main" id="{16F97AA4-F4E2-40AD-8BEF-3E310A9899B8}"/>
              </a:ext>
            </a:extLst>
          </p:cNvPr>
          <p:cNvSpPr>
            <a:spLocks xmlns:a="http://schemas.openxmlformats.org/drawingml/2006/main" noGrp="1"/>
          </p:cNvSpPr>
          <p:nvPr/>
        </p:nvSpPr>
        <p:spPr>
          <a:xfrm xmlns:a="http://schemas.openxmlformats.org/drawingml/2006/main">
            <a:off x="723900" y="3286125"/>
            <a:ext cx="3238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E293B"/>
                </a:solidFill>
              </a:defRPr>
            </a:defPPr>
            <a:lvl1pPr algn="l">
              <a:defRPr sz="1500" b="0">
                <a:solidFill>
                  <a:srgbClr val="1E293B"/>
                </a:solidFill>
              </a:defRPr>
            </a:lvl1pPr>
            <a:lvl2pPr algn="l">
              <a:defRPr sz="1500" b="0">
                <a:solidFill>
                  <a:srgbClr val="1E293B"/>
                </a:solidFill>
              </a:defRPr>
            </a:lvl2pPr>
            <a:lvl3pPr algn="l">
              <a:defRPr sz="1500" b="0">
                <a:solidFill>
                  <a:srgbClr val="1E293B"/>
                </a:solidFill>
              </a:defRPr>
            </a:lvl3pPr>
            <a:lvl4pPr algn="l">
              <a:defRPr sz="1500" b="0">
                <a:solidFill>
                  <a:srgbClr val="1E293B"/>
                </a:solidFill>
              </a:defRPr>
            </a:lvl4pPr>
            <a:lvl5pPr algn="l">
              <a:defRPr sz="1500" b="0">
                <a:solidFill>
                  <a:srgbClr val="1E293B"/>
                </a:solidFill>
              </a:defRPr>
            </a:lvl5pPr>
            <a:lvl6pPr algn="l">
              <a:defRPr sz="1500" b="0">
                <a:solidFill>
                  <a:srgbClr val="1E293B"/>
                </a:solidFill>
              </a:defRPr>
            </a:lvl6pPr>
            <a:lvl7pPr algn="l">
              <a:defRPr sz="1500" b="0">
                <a:solidFill>
                  <a:srgbClr val="1E293B"/>
                </a:solidFill>
              </a:defRPr>
            </a:lvl7pPr>
            <a:lvl8pPr algn="l">
              <a:defRPr sz="1500" b="0">
                <a:solidFill>
                  <a:srgbClr val="1E293B"/>
                </a:solidFill>
              </a:defRPr>
            </a:lvl8pPr>
            <a:lvl9pPr algn="l">
              <a:defRPr sz="1500" b="0">
                <a:solidFill>
                  <a:srgbClr val="1E293B"/>
                </a:solidFill>
              </a:defRPr>
            </a:lvl9pPr>
          </a:lstStyle>
          <a:p xmlns:a="http://schemas.openxmlformats.org/drawingml/2006/main">
            <a:pPr algn="l">
              <a:defRPr sz="1500" b="0">
                <a:solidFill>
                  <a:srgbClr val="1E293B"/>
                </a:solidFill>
              </a:defRPr>
            </a:pPr>
            <a:r>
              <a:rPr sz="1500" b="0">
                <a:solidFill>
                  <a:srgbClr val="1E293B"/>
                </a:solidFill>
              </a:rPr>
              <a:t>Las conclusiones cambiaron poco entre estrategias. La eliminación perdió 427 observaciones de entrenamiento sin mostrar una ventaja predictiva clara.</a:t>
            </a:r>
          </a:p>
        </p:txBody>
      </p:sp>
      <p:sp>
        <p:nvSpPr>
          <p:cNvPr id="4" name="">
            <a:extLst xmlns:a="http://schemas.openxmlformats.org/drawingml/2006/main">
              <a:ext uri="{FF2B5EF4-FFF2-40B4-BE49-F238E27FC236}">
                <a16:creationId xmlns:a16="http://schemas.microsoft.com/office/drawing/2014/main" id="{B42D9B1F-1DE1-4EC3-9719-570C43961864}"/>
              </a:ext>
            </a:extLst>
          </p:cNvPr>
          <p:cNvSpPr>
            <a:spLocks xmlns:a="http://schemas.openxmlformats.org/drawingml/2006/main" noGrp="1"/>
          </p:cNvSpPr>
          <p:nvPr/>
        </p:nvSpPr>
        <p:spPr>
          <a:xfrm xmlns:a="http://schemas.openxmlformats.org/drawingml/2006/main">
            <a:off x="723900" y="4762500"/>
            <a:ext cx="323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26274"/>
                </a:solidFill>
              </a:defRPr>
            </a:defPPr>
            <a:lvl1pPr algn="l">
              <a:defRPr sz="1350" b="0">
                <a:solidFill>
                  <a:srgbClr val="526274"/>
                </a:solidFill>
              </a:defRPr>
            </a:lvl1pPr>
            <a:lvl2pPr algn="l">
              <a:defRPr sz="1350" b="0">
                <a:solidFill>
                  <a:srgbClr val="526274"/>
                </a:solidFill>
              </a:defRPr>
            </a:lvl2pPr>
            <a:lvl3pPr algn="l">
              <a:defRPr sz="1350" b="0">
                <a:solidFill>
                  <a:srgbClr val="526274"/>
                </a:solidFill>
              </a:defRPr>
            </a:lvl3pPr>
            <a:lvl4pPr algn="l">
              <a:defRPr sz="1350" b="0">
                <a:solidFill>
                  <a:srgbClr val="526274"/>
                </a:solidFill>
              </a:defRPr>
            </a:lvl4pPr>
            <a:lvl5pPr algn="l">
              <a:defRPr sz="1350" b="0">
                <a:solidFill>
                  <a:srgbClr val="526274"/>
                </a:solidFill>
              </a:defRPr>
            </a:lvl5pPr>
            <a:lvl6pPr algn="l">
              <a:defRPr sz="1350" b="0">
                <a:solidFill>
                  <a:srgbClr val="526274"/>
                </a:solidFill>
              </a:defRPr>
            </a:lvl6pPr>
            <a:lvl7pPr algn="l">
              <a:defRPr sz="1350" b="0">
                <a:solidFill>
                  <a:srgbClr val="526274"/>
                </a:solidFill>
              </a:defRPr>
            </a:lvl7pPr>
            <a:lvl8pPr algn="l">
              <a:defRPr sz="1350" b="0">
                <a:solidFill>
                  <a:srgbClr val="526274"/>
                </a:solidFill>
              </a:defRPr>
            </a:lvl8pPr>
            <a:lvl9pPr algn="l">
              <a:defRPr sz="1350" b="0">
                <a:solidFill>
                  <a:srgbClr val="526274"/>
                </a:solidFill>
              </a:defRPr>
            </a:lvl9pPr>
          </a:lstStyle>
          <a:p xmlns:a="http://schemas.openxmlformats.org/drawingml/2006/main">
            <a:pPr algn="l">
              <a:defRPr sz="1350" b="0">
                <a:solidFill>
                  <a:srgbClr val="526274"/>
                </a:solidFill>
              </a:defRPr>
            </a:pPr>
            <a:r>
              <a:rPr sz="1350" b="0">
                <a:solidFill>
                  <a:srgbClr val="526274"/>
                </a:solidFill>
              </a:rPr>
              <a:t>La comparación usa 1.117 casos completos de prueba, por lo que no evalúa directamente personas nuevas con faltantes.</a:t>
            </a:r>
          </a:p>
        </p:txBody>
      </p:sp>
      <p:pic>
        <p:nvPicPr>
          <p:cNvPr id="5" name="">
            <a:extLst xmlns:a="http://schemas.openxmlformats.org/drawingml/2006/main">
              <a:ext uri="{FF2B5EF4-FFF2-40B4-BE49-F238E27FC236}">
                <a16:creationId xmlns:a16="http://schemas.microsoft.com/office/drawing/2014/main" id="{0CD33764-D90F-4C28-8E49-773D7D7BC06F}"/>
              </a:ext>
            </a:extLst>
          </p:cNvPr>
          <p:cNvPicPr>
            <a:picLocks xmlns:a="http://schemas.openxmlformats.org/drawingml/2006/main" noChangeAspect="1"/>
          </p:cNvPicPr>
          <p:nvPr/>
        </p:nvPicPr>
        <p:blipFill>
          <a:blip xmlns:r="http://schemas.openxmlformats.org/officeDocument/2006/relationships" xmlns:a="http://schemas.openxmlformats.org/drawingml/2006/main" r:embed="R1522a990db9d4742"/>
          <a:stretch xmlns:a="http://schemas.openxmlformats.org/drawingml/2006/main"/>
        </p:blipFill>
        <p:spPr>
          <a:xfrm xmlns:a="http://schemas.openxmlformats.org/drawingml/2006/main">
            <a:off x="4095750" y="2050143"/>
            <a:ext cx="7239000" cy="275771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024779E-858C-4EA4-951B-5F6F771FB1BF}"/>
              </a:ext>
            </a:extLst>
          </p:cNvPr>
          <p:cNvSpPr>
            <a:spLocks xmlns:a="http://schemas.openxmlformats.org/drawingml/2006/main" noGrp="1"/>
          </p:cNvSpPr>
          <p:nvPr/>
        </p:nvSpPr>
        <p:spPr>
          <a:xfrm xmlns:a="http://schemas.openxmlformats.org/drawingml/2006/main">
            <a:off x="685800" y="400050"/>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123456"/>
                </a:solidFill>
              </a:defRPr>
            </a:defPPr>
            <a:lvl1pPr algn="l">
              <a:defRPr sz="2400" b="1">
                <a:solidFill>
                  <a:srgbClr val="123456"/>
                </a:solidFill>
              </a:defRPr>
            </a:lvl1pPr>
            <a:lvl2pPr algn="l">
              <a:defRPr sz="2400" b="1">
                <a:solidFill>
                  <a:srgbClr val="123456"/>
                </a:solidFill>
              </a:defRPr>
            </a:lvl2pPr>
            <a:lvl3pPr algn="l">
              <a:defRPr sz="2400" b="1">
                <a:solidFill>
                  <a:srgbClr val="123456"/>
                </a:solidFill>
              </a:defRPr>
            </a:lvl3pPr>
            <a:lvl4pPr algn="l">
              <a:defRPr sz="2400" b="1">
                <a:solidFill>
                  <a:srgbClr val="123456"/>
                </a:solidFill>
              </a:defRPr>
            </a:lvl4pPr>
            <a:lvl5pPr algn="l">
              <a:defRPr sz="2400" b="1">
                <a:solidFill>
                  <a:srgbClr val="123456"/>
                </a:solidFill>
              </a:defRPr>
            </a:lvl5pPr>
            <a:lvl6pPr algn="l">
              <a:defRPr sz="2400" b="1">
                <a:solidFill>
                  <a:srgbClr val="123456"/>
                </a:solidFill>
              </a:defRPr>
            </a:lvl6pPr>
            <a:lvl7pPr algn="l">
              <a:defRPr sz="2400" b="1">
                <a:solidFill>
                  <a:srgbClr val="123456"/>
                </a:solidFill>
              </a:defRPr>
            </a:lvl7pPr>
            <a:lvl8pPr algn="l">
              <a:defRPr sz="2400" b="1">
                <a:solidFill>
                  <a:srgbClr val="123456"/>
                </a:solidFill>
              </a:defRPr>
            </a:lvl8pPr>
            <a:lvl9pPr algn="l">
              <a:defRPr sz="2400" b="1">
                <a:solidFill>
                  <a:srgbClr val="123456"/>
                </a:solidFill>
              </a:defRPr>
            </a:lvl9pPr>
          </a:lstStyle>
          <a:p xmlns:a="http://schemas.openxmlformats.org/drawingml/2006/main">
            <a:pPr algn="l">
              <a:defRPr sz="2400" b="1">
                <a:solidFill>
                  <a:srgbClr val="123456"/>
                </a:solidFill>
              </a:defRPr>
            </a:pPr>
            <a:r>
              <a:rPr sz="2400" b="1">
                <a:solidFill>
                  <a:srgbClr val="123456"/>
                </a:solidFill>
              </a:rPr>
              <a:t>Impacto de la estrategia de imputación</a:t>
            </a:r>
          </a:p>
        </p:txBody>
      </p:sp>
      <p:sp>
        <p:nvSpPr>
          <p:cNvPr id="7" name="">
            <a:extLst xmlns:a="http://schemas.openxmlformats.org/drawingml/2006/main">
              <a:ext uri="{FF2B5EF4-FFF2-40B4-BE49-F238E27FC236}">
                <a16:creationId xmlns:a16="http://schemas.microsoft.com/office/drawing/2014/main" id="{B555878D-141C-45A6-B7F0-C54778231A5A}"/>
              </a:ext>
            </a:extLst>
          </p:cNvPr>
          <p:cNvSpPr>
            <a:spLocks xmlns:a="http://schemas.openxmlformats.org/drawingml/2006/main" noGrp="1"/>
          </p:cNvSpPr>
          <p:nvPr/>
        </p:nvSpPr>
        <p:spPr>
          <a:xfrm xmlns:a="http://schemas.openxmlformats.org/drawingml/2006/main">
            <a:off x="685800" y="990600"/>
            <a:ext cx="108204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AB74607-8FC7-482C-9FA4-53221E0E2708}"/>
              </a:ext>
            </a:extLst>
          </p:cNvPr>
          <p:cNvSpPr>
            <a:spLocks xmlns:a="http://schemas.openxmlformats.org/drawingml/2006/main" noGrp="1"/>
          </p:cNvSpPr>
          <p:nvPr/>
        </p:nvSpPr>
        <p:spPr>
          <a:xfrm xmlns:a="http://schemas.openxmlformats.org/drawingml/2006/main">
            <a:off x="10363200" y="419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526274"/>
                </a:solidFill>
              </a:defRPr>
            </a:defPPr>
            <a:lvl1pPr algn="r">
              <a:defRPr sz="1200" b="1">
                <a:solidFill>
                  <a:srgbClr val="526274"/>
                </a:solidFill>
              </a:defRPr>
            </a:lvl1pPr>
            <a:lvl2pPr algn="r">
              <a:defRPr sz="1200" b="1">
                <a:solidFill>
                  <a:srgbClr val="526274"/>
                </a:solidFill>
              </a:defRPr>
            </a:lvl2pPr>
            <a:lvl3pPr algn="r">
              <a:defRPr sz="1200" b="1">
                <a:solidFill>
                  <a:srgbClr val="526274"/>
                </a:solidFill>
              </a:defRPr>
            </a:lvl3pPr>
            <a:lvl4pPr algn="r">
              <a:defRPr sz="1200" b="1">
                <a:solidFill>
                  <a:srgbClr val="526274"/>
                </a:solidFill>
              </a:defRPr>
            </a:lvl4pPr>
            <a:lvl5pPr algn="r">
              <a:defRPr sz="1200" b="1">
                <a:solidFill>
                  <a:srgbClr val="526274"/>
                </a:solidFill>
              </a:defRPr>
            </a:lvl5pPr>
            <a:lvl6pPr algn="r">
              <a:defRPr sz="1200" b="1">
                <a:solidFill>
                  <a:srgbClr val="526274"/>
                </a:solidFill>
              </a:defRPr>
            </a:lvl6pPr>
            <a:lvl7pPr algn="r">
              <a:defRPr sz="1200" b="1">
                <a:solidFill>
                  <a:srgbClr val="526274"/>
                </a:solidFill>
              </a:defRPr>
            </a:lvl7pPr>
            <a:lvl8pPr algn="r">
              <a:defRPr sz="1200" b="1">
                <a:solidFill>
                  <a:srgbClr val="526274"/>
                </a:solidFill>
              </a:defRPr>
            </a:lvl8pPr>
            <a:lvl9pPr algn="r">
              <a:defRPr sz="1200" b="1">
                <a:solidFill>
                  <a:srgbClr val="526274"/>
                </a:solidFill>
              </a:defRPr>
            </a:lvl9pPr>
          </a:lstStyle>
          <a:p xmlns:a="http://schemas.openxmlformats.org/drawingml/2006/main">
            <a:pPr algn="r">
              <a:defRPr sz="1200" b="1">
                <a:solidFill>
                  <a:srgbClr val="526274"/>
                </a:solidFill>
              </a:defRPr>
            </a:pPr>
            <a:r>
              <a:rPr sz="1200" b="1">
                <a:solidFill>
                  <a:srgbClr val="526274"/>
                </a:solidFill>
              </a:rPr>
              <a:t>09</a:t>
            </a:r>
          </a:p>
        </p:txBody>
      </p:sp>
      <p:sp>
        <p:nvSpPr>
          <p:cNvPr id="9" name="">
            <a:extLst xmlns:a="http://schemas.openxmlformats.org/drawingml/2006/main">
              <a:ext uri="{FF2B5EF4-FFF2-40B4-BE49-F238E27FC236}">
                <a16:creationId xmlns:a16="http://schemas.microsoft.com/office/drawing/2014/main" id="{08153FB2-A455-49E1-8604-AAB7C3621446}"/>
              </a:ext>
            </a:extLst>
          </p:cNvPr>
          <p:cNvSpPr>
            <a:spLocks xmlns:a="http://schemas.openxmlformats.org/drawingml/2006/main" noGrp="1"/>
          </p:cNvSpPr>
          <p:nvPr/>
        </p:nvSpPr>
        <p:spPr>
          <a:xfrm xmlns:a="http://schemas.openxmlformats.org/drawingml/2006/main">
            <a:off x="685800" y="65151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26274"/>
                </a:solidFill>
              </a:defRPr>
            </a:defPPr>
            <a:lvl1pPr algn="l">
              <a:defRPr sz="900" b="0">
                <a:solidFill>
                  <a:srgbClr val="526274"/>
                </a:solidFill>
              </a:defRPr>
            </a:lvl1pPr>
            <a:lvl2pPr algn="l">
              <a:defRPr sz="900" b="0">
                <a:solidFill>
                  <a:srgbClr val="526274"/>
                </a:solidFill>
              </a:defRPr>
            </a:lvl2pPr>
            <a:lvl3pPr algn="l">
              <a:defRPr sz="900" b="0">
                <a:solidFill>
                  <a:srgbClr val="526274"/>
                </a:solidFill>
              </a:defRPr>
            </a:lvl3pPr>
            <a:lvl4pPr algn="l">
              <a:defRPr sz="900" b="0">
                <a:solidFill>
                  <a:srgbClr val="526274"/>
                </a:solidFill>
              </a:defRPr>
            </a:lvl4pPr>
            <a:lvl5pPr algn="l">
              <a:defRPr sz="900" b="0">
                <a:solidFill>
                  <a:srgbClr val="526274"/>
                </a:solidFill>
              </a:defRPr>
            </a:lvl5pPr>
            <a:lvl6pPr algn="l">
              <a:defRPr sz="900" b="0">
                <a:solidFill>
                  <a:srgbClr val="526274"/>
                </a:solidFill>
              </a:defRPr>
            </a:lvl6pPr>
            <a:lvl7pPr algn="l">
              <a:defRPr sz="900" b="0">
                <a:solidFill>
                  <a:srgbClr val="526274"/>
                </a:solidFill>
              </a:defRPr>
            </a:lvl7pPr>
            <a:lvl8pPr algn="l">
              <a:defRPr sz="900" b="0">
                <a:solidFill>
                  <a:srgbClr val="526274"/>
                </a:solidFill>
              </a:defRPr>
            </a:lvl8pPr>
            <a:lvl9pPr algn="l">
              <a:defRPr sz="900" b="0">
                <a:solidFill>
                  <a:srgbClr val="526274"/>
                </a:solidFill>
              </a:defRPr>
            </a:lvl9pPr>
          </a:lstStyle>
          <a:p xmlns:a="http://schemas.openxmlformats.org/drawingml/2006/main">
            <a:pPr algn="l">
              <a:defRPr sz="900" b="0">
                <a:solidFill>
                  <a:srgbClr val="526274"/>
                </a:solidFill>
              </a:defRPr>
            </a:pPr>
            <a:r>
              <a:rPr sz="900" b="0">
                <a:solidFill>
                  <a:srgbClr val="526274"/>
                </a:solidFill>
              </a:rPr>
              <a:t>MCDI501 · Estadística Computacional</a:t>
            </a:r>
          </a:p>
        </p:txBody>
      </p:sp>
    </p:spTree>
    <p:extLst>
      <p:ext uri="{BB962C8B-B14F-4D97-AF65-F5344CB8AC3E}">
        <p14:creationId xmlns:p14="http://schemas.microsoft.com/office/powerpoint/2010/main" val="13815220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53F609A-A3AA-4BB8-9C9B-39C67666B6ED}"/>
              </a:ext>
            </a:extLst>
          </p:cNvPr>
          <p:cNvSpPr>
            <a:spLocks xmlns:a="http://schemas.openxmlformats.org/drawingml/2006/main" noGrp="1"/>
          </p:cNvSpPr>
          <p:nvPr/>
        </p:nvSpPr>
        <p:spPr>
          <a:xfrm xmlns:a="http://schemas.openxmlformats.org/drawingml/2006/main">
            <a:off x="685800" y="400050"/>
            <a:ext cx="923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123456"/>
                </a:solidFill>
              </a:defRPr>
            </a:defPPr>
            <a:lvl1pPr algn="l">
              <a:defRPr sz="2400" b="1">
                <a:solidFill>
                  <a:srgbClr val="123456"/>
                </a:solidFill>
              </a:defRPr>
            </a:lvl1pPr>
            <a:lvl2pPr algn="l">
              <a:defRPr sz="2400" b="1">
                <a:solidFill>
                  <a:srgbClr val="123456"/>
                </a:solidFill>
              </a:defRPr>
            </a:lvl2pPr>
            <a:lvl3pPr algn="l">
              <a:defRPr sz="2400" b="1">
                <a:solidFill>
                  <a:srgbClr val="123456"/>
                </a:solidFill>
              </a:defRPr>
            </a:lvl3pPr>
            <a:lvl4pPr algn="l">
              <a:defRPr sz="2400" b="1">
                <a:solidFill>
                  <a:srgbClr val="123456"/>
                </a:solidFill>
              </a:defRPr>
            </a:lvl4pPr>
            <a:lvl5pPr algn="l">
              <a:defRPr sz="2400" b="1">
                <a:solidFill>
                  <a:srgbClr val="123456"/>
                </a:solidFill>
              </a:defRPr>
            </a:lvl5pPr>
            <a:lvl6pPr algn="l">
              <a:defRPr sz="2400" b="1">
                <a:solidFill>
                  <a:srgbClr val="123456"/>
                </a:solidFill>
              </a:defRPr>
            </a:lvl6pPr>
            <a:lvl7pPr algn="l">
              <a:defRPr sz="2400" b="1">
                <a:solidFill>
                  <a:srgbClr val="123456"/>
                </a:solidFill>
              </a:defRPr>
            </a:lvl7pPr>
            <a:lvl8pPr algn="l">
              <a:defRPr sz="2400" b="1">
                <a:solidFill>
                  <a:srgbClr val="123456"/>
                </a:solidFill>
              </a:defRPr>
            </a:lvl8pPr>
            <a:lvl9pPr algn="l">
              <a:defRPr sz="2400" b="1">
                <a:solidFill>
                  <a:srgbClr val="123456"/>
                </a:solidFill>
              </a:defRPr>
            </a:lvl9pPr>
          </a:lstStyle>
          <a:p xmlns:a="http://schemas.openxmlformats.org/drawingml/2006/main">
            <a:pPr algn="l">
              <a:defRPr sz="2400" b="1">
                <a:solidFill>
                  <a:srgbClr val="123456"/>
                </a:solidFill>
              </a:defRPr>
            </a:pPr>
            <a:r>
              <a:rPr sz="2400" b="1">
                <a:solidFill>
                  <a:srgbClr val="123456"/>
                </a:solidFill>
              </a:rPr>
              <a:t>Conclusiones y recomendaciones</a:t>
            </a:r>
          </a:p>
        </p:txBody>
      </p:sp>
      <p:sp>
        <p:nvSpPr>
          <p:cNvPr id="2" name="">
            <a:extLst xmlns:a="http://schemas.openxmlformats.org/drawingml/2006/main">
              <a:ext uri="{FF2B5EF4-FFF2-40B4-BE49-F238E27FC236}">
                <a16:creationId xmlns:a16="http://schemas.microsoft.com/office/drawing/2014/main" id="{949C3C03-C4C3-4A70-8773-B06107A4041D}"/>
              </a:ext>
            </a:extLst>
          </p:cNvPr>
          <p:cNvSpPr>
            <a:spLocks xmlns:a="http://schemas.openxmlformats.org/drawingml/2006/main" noGrp="1"/>
          </p:cNvSpPr>
          <p:nvPr/>
        </p:nvSpPr>
        <p:spPr>
          <a:xfrm xmlns:a="http://schemas.openxmlformats.org/drawingml/2006/main">
            <a:off x="685800" y="990600"/>
            <a:ext cx="1082040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2E5E224-A1E5-48DC-A29C-E45AE954CDE9}"/>
              </a:ext>
            </a:extLst>
          </p:cNvPr>
          <p:cNvSpPr>
            <a:spLocks xmlns:a="http://schemas.openxmlformats.org/drawingml/2006/main" noGrp="1"/>
          </p:cNvSpPr>
          <p:nvPr/>
        </p:nvSpPr>
        <p:spPr>
          <a:xfrm xmlns:a="http://schemas.openxmlformats.org/drawingml/2006/main">
            <a:off x="10363200" y="41910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200" b="1">
                <a:solidFill>
                  <a:srgbClr val="526274"/>
                </a:solidFill>
              </a:defRPr>
            </a:defPPr>
            <a:lvl1pPr algn="r">
              <a:defRPr sz="1200" b="1">
                <a:solidFill>
                  <a:srgbClr val="526274"/>
                </a:solidFill>
              </a:defRPr>
            </a:lvl1pPr>
            <a:lvl2pPr algn="r">
              <a:defRPr sz="1200" b="1">
                <a:solidFill>
                  <a:srgbClr val="526274"/>
                </a:solidFill>
              </a:defRPr>
            </a:lvl2pPr>
            <a:lvl3pPr algn="r">
              <a:defRPr sz="1200" b="1">
                <a:solidFill>
                  <a:srgbClr val="526274"/>
                </a:solidFill>
              </a:defRPr>
            </a:lvl3pPr>
            <a:lvl4pPr algn="r">
              <a:defRPr sz="1200" b="1">
                <a:solidFill>
                  <a:srgbClr val="526274"/>
                </a:solidFill>
              </a:defRPr>
            </a:lvl4pPr>
            <a:lvl5pPr algn="r">
              <a:defRPr sz="1200" b="1">
                <a:solidFill>
                  <a:srgbClr val="526274"/>
                </a:solidFill>
              </a:defRPr>
            </a:lvl5pPr>
            <a:lvl6pPr algn="r">
              <a:defRPr sz="1200" b="1">
                <a:solidFill>
                  <a:srgbClr val="526274"/>
                </a:solidFill>
              </a:defRPr>
            </a:lvl6pPr>
            <a:lvl7pPr algn="r">
              <a:defRPr sz="1200" b="1">
                <a:solidFill>
                  <a:srgbClr val="526274"/>
                </a:solidFill>
              </a:defRPr>
            </a:lvl7pPr>
            <a:lvl8pPr algn="r">
              <a:defRPr sz="1200" b="1">
                <a:solidFill>
                  <a:srgbClr val="526274"/>
                </a:solidFill>
              </a:defRPr>
            </a:lvl8pPr>
            <a:lvl9pPr algn="r">
              <a:defRPr sz="1200" b="1">
                <a:solidFill>
                  <a:srgbClr val="526274"/>
                </a:solidFill>
              </a:defRPr>
            </a:lvl9pPr>
          </a:lstStyle>
          <a:p xmlns:a="http://schemas.openxmlformats.org/drawingml/2006/main">
            <a:pPr algn="r">
              <a:defRPr sz="1200" b="1">
                <a:solidFill>
                  <a:srgbClr val="526274"/>
                </a:solidFill>
              </a:defRPr>
            </a:pPr>
            <a:r>
              <a:rPr sz="1200" b="1">
                <a:solidFill>
                  <a:srgbClr val="526274"/>
                </a:solidFill>
              </a:rPr>
              <a:t>10</a:t>
            </a:r>
          </a:p>
        </p:txBody>
      </p:sp>
      <p:sp>
        <p:nvSpPr>
          <p:cNvPr id="4" name="">
            <a:extLst xmlns:a="http://schemas.openxmlformats.org/drawingml/2006/main">
              <a:ext uri="{FF2B5EF4-FFF2-40B4-BE49-F238E27FC236}">
                <a16:creationId xmlns:a16="http://schemas.microsoft.com/office/drawing/2014/main" id="{50CE6773-2798-433C-96B1-906B7123CF25}"/>
              </a:ext>
            </a:extLst>
          </p:cNvPr>
          <p:cNvSpPr>
            <a:spLocks xmlns:a="http://schemas.openxmlformats.org/drawingml/2006/main" noGrp="1"/>
          </p:cNvSpPr>
          <p:nvPr/>
        </p:nvSpPr>
        <p:spPr>
          <a:xfrm xmlns:a="http://schemas.openxmlformats.org/drawingml/2006/main">
            <a:off x="723900" y="13335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76B87"/>
                </a:solidFill>
              </a:defRPr>
            </a:defPPr>
            <a:lvl1pPr algn="l">
              <a:defRPr sz="1650" b="1">
                <a:solidFill>
                  <a:srgbClr val="176B87"/>
                </a:solidFill>
              </a:defRPr>
            </a:lvl1pPr>
            <a:lvl2pPr algn="l">
              <a:defRPr sz="1650" b="1">
                <a:solidFill>
                  <a:srgbClr val="176B87"/>
                </a:solidFill>
              </a:defRPr>
            </a:lvl2pPr>
            <a:lvl3pPr algn="l">
              <a:defRPr sz="1650" b="1">
                <a:solidFill>
                  <a:srgbClr val="176B87"/>
                </a:solidFill>
              </a:defRPr>
            </a:lvl3pPr>
            <a:lvl4pPr algn="l">
              <a:defRPr sz="1650" b="1">
                <a:solidFill>
                  <a:srgbClr val="176B87"/>
                </a:solidFill>
              </a:defRPr>
            </a:lvl4pPr>
            <a:lvl5pPr algn="l">
              <a:defRPr sz="1650" b="1">
                <a:solidFill>
                  <a:srgbClr val="176B87"/>
                </a:solidFill>
              </a:defRPr>
            </a:lvl5pPr>
            <a:lvl6pPr algn="l">
              <a:defRPr sz="1650" b="1">
                <a:solidFill>
                  <a:srgbClr val="176B87"/>
                </a:solidFill>
              </a:defRPr>
            </a:lvl6pPr>
            <a:lvl7pPr algn="l">
              <a:defRPr sz="1650" b="1">
                <a:solidFill>
                  <a:srgbClr val="176B87"/>
                </a:solidFill>
              </a:defRPr>
            </a:lvl7pPr>
            <a:lvl8pPr algn="l">
              <a:defRPr sz="1650" b="1">
                <a:solidFill>
                  <a:srgbClr val="176B87"/>
                </a:solidFill>
              </a:defRPr>
            </a:lvl8pPr>
            <a:lvl9pPr algn="l">
              <a:defRPr sz="1650" b="1">
                <a:solidFill>
                  <a:srgbClr val="176B87"/>
                </a:solidFill>
              </a:defRPr>
            </a:lvl9pPr>
          </a:lstStyle>
          <a:p xmlns:a="http://schemas.openxmlformats.org/drawingml/2006/main">
            <a:pPr algn="l">
              <a:defRPr sz="1650" b="1">
                <a:solidFill>
                  <a:srgbClr val="176B87"/>
                </a:solidFill>
              </a:defRPr>
            </a:pPr>
            <a:r>
              <a:rPr sz="1650" b="1">
                <a:solidFill>
                  <a:srgbClr val="176B87"/>
                </a:solidFill>
              </a:rPr>
              <a:t>Conclusiones</a:t>
            </a:r>
          </a:p>
        </p:txBody>
      </p:sp>
      <p:sp>
        <p:nvSpPr>
          <p:cNvPr id="5" name="">
            <a:extLst xmlns:a="http://schemas.openxmlformats.org/drawingml/2006/main">
              <a:ext uri="{FF2B5EF4-FFF2-40B4-BE49-F238E27FC236}">
                <a16:creationId xmlns:a16="http://schemas.microsoft.com/office/drawing/2014/main" id="{493444A6-40E0-4D76-8241-588B5E26151F}"/>
              </a:ext>
            </a:extLst>
          </p:cNvPr>
          <p:cNvSpPr>
            <a:spLocks xmlns:a="http://schemas.openxmlformats.org/drawingml/2006/main" noGrp="1"/>
          </p:cNvSpPr>
          <p:nvPr/>
        </p:nvSpPr>
        <p:spPr>
          <a:xfrm xmlns:a="http://schemas.openxmlformats.org/drawingml/2006/main">
            <a:off x="723900" y="1809750"/>
            <a:ext cx="45720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0">
                <a:solidFill>
                  <a:srgbClr val="1E293B"/>
                </a:solidFill>
              </a:defRPr>
            </a:defPPr>
            <a:lvl1pPr algn="l">
              <a:defRPr sz="1650" b="0">
                <a:solidFill>
                  <a:srgbClr val="1E293B"/>
                </a:solidFill>
              </a:defRPr>
            </a:lvl1pPr>
            <a:lvl2pPr algn="l">
              <a:defRPr sz="1650" b="0">
                <a:solidFill>
                  <a:srgbClr val="1E293B"/>
                </a:solidFill>
              </a:defRPr>
            </a:lvl2pPr>
            <a:lvl3pPr algn="l">
              <a:defRPr sz="1650" b="0">
                <a:solidFill>
                  <a:srgbClr val="1E293B"/>
                </a:solidFill>
              </a:defRPr>
            </a:lvl3pPr>
            <a:lvl4pPr algn="l">
              <a:defRPr sz="1650" b="0">
                <a:solidFill>
                  <a:srgbClr val="1E293B"/>
                </a:solidFill>
              </a:defRPr>
            </a:lvl4pPr>
            <a:lvl5pPr algn="l">
              <a:defRPr sz="1650" b="0">
                <a:solidFill>
                  <a:srgbClr val="1E293B"/>
                </a:solidFill>
              </a:defRPr>
            </a:lvl5pPr>
            <a:lvl6pPr algn="l">
              <a:defRPr sz="1650" b="0">
                <a:solidFill>
                  <a:srgbClr val="1E293B"/>
                </a:solidFill>
              </a:defRPr>
            </a:lvl6pPr>
            <a:lvl7pPr algn="l">
              <a:defRPr sz="1650" b="0">
                <a:solidFill>
                  <a:srgbClr val="1E293B"/>
                </a:solidFill>
              </a:defRPr>
            </a:lvl7pPr>
            <a:lvl8pPr algn="l">
              <a:defRPr sz="1650" b="0">
                <a:solidFill>
                  <a:srgbClr val="1E293B"/>
                </a:solidFill>
              </a:defRPr>
            </a:lvl8pPr>
            <a:lvl9pPr algn="l">
              <a:defRPr sz="1650" b="0">
                <a:solidFill>
                  <a:srgbClr val="1E293B"/>
                </a:solidFill>
              </a:defRPr>
            </a:lvl9pPr>
          </a:lstStyle>
          <a:p xmlns:a="http://schemas.openxmlformats.org/drawingml/2006/main">
            <a:pPr algn="l">
              <a:defRPr sz="1650" b="0">
                <a:solidFill>
                  <a:srgbClr val="1E293B"/>
                </a:solidFill>
              </a:defRPr>
            </a:pPr>
            <a:r>
              <a:rPr sz="1650" b="0">
                <a:solidFill>
                  <a:srgbClr val="1E293B"/>
                </a:solidFill>
              </a:rPr>
              <a:t>M3 ofreció el mejor equilibrio entre desempeño y simplicidad.</a:t>
            </a:r>
          </a:p>
          <a:p xmlns:a="http://schemas.openxmlformats.org/drawingml/2006/main">
            <a:r>
              <a:t/>
            </a:r>
          </a:p>
          <a:p xmlns:a="http://schemas.openxmlformats.org/drawingml/2006/main">
            <a:pPr algn="l">
              <a:defRPr sz="1650" b="0">
                <a:solidFill>
                  <a:srgbClr val="1E293B"/>
                </a:solidFill>
              </a:defRPr>
            </a:pPr>
            <a:r>
              <a:rPr sz="1650" b="0">
                <a:solidFill>
                  <a:srgbClr val="1E293B"/>
                </a:solidFill>
              </a:rPr>
              <a:t>El modelo mostró discriminación moderada y baja precisión.</a:t>
            </a:r>
          </a:p>
          <a:p xmlns:a="http://schemas.openxmlformats.org/drawingml/2006/main">
            <a:r>
              <a:t/>
            </a:r>
          </a:p>
          <a:p xmlns:a="http://schemas.openxmlformats.org/drawingml/2006/main">
            <a:pPr algn="l">
              <a:defRPr sz="1650" b="0">
                <a:solidFill>
                  <a:srgbClr val="1E293B"/>
                </a:solidFill>
              </a:defRPr>
            </a:pPr>
            <a:r>
              <a:rPr sz="1650" b="0">
                <a:solidFill>
                  <a:srgbClr val="1E293B"/>
                </a:solidFill>
              </a:rPr>
              <a:t>Las asociaciones fueron internamente estables, pero el modelo no demuestra causalidad.</a:t>
            </a:r>
          </a:p>
        </p:txBody>
      </p:sp>
      <p:sp>
        <p:nvSpPr>
          <p:cNvPr id="6" name="">
            <a:extLst xmlns:a="http://schemas.openxmlformats.org/drawingml/2006/main">
              <a:ext uri="{FF2B5EF4-FFF2-40B4-BE49-F238E27FC236}">
                <a16:creationId xmlns:a16="http://schemas.microsoft.com/office/drawing/2014/main" id="{9127EF99-C989-4066-897D-0C6062650FC3}"/>
              </a:ext>
            </a:extLst>
          </p:cNvPr>
          <p:cNvSpPr>
            <a:spLocks xmlns:a="http://schemas.openxmlformats.org/drawingml/2006/main" noGrp="1"/>
          </p:cNvSpPr>
          <p:nvPr/>
        </p:nvSpPr>
        <p:spPr>
          <a:xfrm xmlns:a="http://schemas.openxmlformats.org/drawingml/2006/main">
            <a:off x="5905500" y="1285875"/>
            <a:ext cx="4953000" cy="3714750"/>
          </a:xfrm>
          <a:prstGeom xmlns:a="http://schemas.openxmlformats.org/drawingml/2006/main" prst="roundRect">
            <a:avLst>
              <a:gd name="adj" fmla="val 2051"/>
            </a:avLst>
          </a:prstGeom>
          <a:solidFill xmlns:a="http://schemas.openxmlformats.org/drawingml/2006/main">
            <a:srgbClr val="F4F7F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5EF4C45-2F08-422B-B9BC-C3992CB75D1D}"/>
              </a:ext>
            </a:extLst>
          </p:cNvPr>
          <p:cNvSpPr>
            <a:spLocks xmlns:a="http://schemas.openxmlformats.org/drawingml/2006/main" noGrp="1"/>
          </p:cNvSpPr>
          <p:nvPr/>
        </p:nvSpPr>
        <p:spPr>
          <a:xfrm xmlns:a="http://schemas.openxmlformats.org/drawingml/2006/main">
            <a:off x="6238875" y="157162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2B8C82"/>
                </a:solidFill>
              </a:defRPr>
            </a:defPPr>
            <a:lvl1pPr algn="l">
              <a:defRPr sz="1650" b="1">
                <a:solidFill>
                  <a:srgbClr val="2B8C82"/>
                </a:solidFill>
              </a:defRPr>
            </a:lvl1pPr>
            <a:lvl2pPr algn="l">
              <a:defRPr sz="1650" b="1">
                <a:solidFill>
                  <a:srgbClr val="2B8C82"/>
                </a:solidFill>
              </a:defRPr>
            </a:lvl2pPr>
            <a:lvl3pPr algn="l">
              <a:defRPr sz="1650" b="1">
                <a:solidFill>
                  <a:srgbClr val="2B8C82"/>
                </a:solidFill>
              </a:defRPr>
            </a:lvl3pPr>
            <a:lvl4pPr algn="l">
              <a:defRPr sz="1650" b="1">
                <a:solidFill>
                  <a:srgbClr val="2B8C82"/>
                </a:solidFill>
              </a:defRPr>
            </a:lvl4pPr>
            <a:lvl5pPr algn="l">
              <a:defRPr sz="1650" b="1">
                <a:solidFill>
                  <a:srgbClr val="2B8C82"/>
                </a:solidFill>
              </a:defRPr>
            </a:lvl5pPr>
            <a:lvl6pPr algn="l">
              <a:defRPr sz="1650" b="1">
                <a:solidFill>
                  <a:srgbClr val="2B8C82"/>
                </a:solidFill>
              </a:defRPr>
            </a:lvl6pPr>
            <a:lvl7pPr algn="l">
              <a:defRPr sz="1650" b="1">
                <a:solidFill>
                  <a:srgbClr val="2B8C82"/>
                </a:solidFill>
              </a:defRPr>
            </a:lvl7pPr>
            <a:lvl8pPr algn="l">
              <a:defRPr sz="1650" b="1">
                <a:solidFill>
                  <a:srgbClr val="2B8C82"/>
                </a:solidFill>
              </a:defRPr>
            </a:lvl8pPr>
            <a:lvl9pPr algn="l">
              <a:defRPr sz="1650" b="1">
                <a:solidFill>
                  <a:srgbClr val="2B8C82"/>
                </a:solidFill>
              </a:defRPr>
            </a:lvl9pPr>
          </a:lstStyle>
          <a:p xmlns:a="http://schemas.openxmlformats.org/drawingml/2006/main">
            <a:pPr algn="l">
              <a:defRPr sz="1650" b="1">
                <a:solidFill>
                  <a:srgbClr val="2B8C82"/>
                </a:solidFill>
              </a:defRPr>
            </a:pPr>
            <a:r>
              <a:rPr sz="1650" b="1">
                <a:solidFill>
                  <a:srgbClr val="2B8C82"/>
                </a:solidFill>
              </a:rPr>
              <a:t>Próximos pasos</a:t>
            </a:r>
          </a:p>
        </p:txBody>
      </p:sp>
      <p:sp>
        <p:nvSpPr>
          <p:cNvPr id="8" name="">
            <a:extLst xmlns:a="http://schemas.openxmlformats.org/drawingml/2006/main">
              <a:ext uri="{FF2B5EF4-FFF2-40B4-BE49-F238E27FC236}">
                <a16:creationId xmlns:a16="http://schemas.microsoft.com/office/drawing/2014/main" id="{EB0D4013-0BDF-44B4-B57E-395B3A93D625}"/>
              </a:ext>
            </a:extLst>
          </p:cNvPr>
          <p:cNvSpPr>
            <a:spLocks xmlns:a="http://schemas.openxmlformats.org/drawingml/2006/main" noGrp="1"/>
          </p:cNvSpPr>
          <p:nvPr/>
        </p:nvSpPr>
        <p:spPr>
          <a:xfrm xmlns:a="http://schemas.openxmlformats.org/drawingml/2006/main">
            <a:off x="6238875" y="2047875"/>
            <a:ext cx="40957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E293B"/>
                </a:solidFill>
              </a:defRPr>
            </a:defPPr>
            <a:lvl1pPr algn="l">
              <a:defRPr sz="1575" b="0">
                <a:solidFill>
                  <a:srgbClr val="1E293B"/>
                </a:solidFill>
              </a:defRPr>
            </a:lvl1pPr>
            <a:lvl2pPr algn="l">
              <a:defRPr sz="1575" b="0">
                <a:solidFill>
                  <a:srgbClr val="1E293B"/>
                </a:solidFill>
              </a:defRPr>
            </a:lvl2pPr>
            <a:lvl3pPr algn="l">
              <a:defRPr sz="1575" b="0">
                <a:solidFill>
                  <a:srgbClr val="1E293B"/>
                </a:solidFill>
              </a:defRPr>
            </a:lvl3pPr>
            <a:lvl4pPr algn="l">
              <a:defRPr sz="1575" b="0">
                <a:solidFill>
                  <a:srgbClr val="1E293B"/>
                </a:solidFill>
              </a:defRPr>
            </a:lvl4pPr>
            <a:lvl5pPr algn="l">
              <a:defRPr sz="1575" b="0">
                <a:solidFill>
                  <a:srgbClr val="1E293B"/>
                </a:solidFill>
              </a:defRPr>
            </a:lvl5pPr>
            <a:lvl6pPr algn="l">
              <a:defRPr sz="1575" b="0">
                <a:solidFill>
                  <a:srgbClr val="1E293B"/>
                </a:solidFill>
              </a:defRPr>
            </a:lvl6pPr>
            <a:lvl7pPr algn="l">
              <a:defRPr sz="1575" b="0">
                <a:solidFill>
                  <a:srgbClr val="1E293B"/>
                </a:solidFill>
              </a:defRPr>
            </a:lvl7pPr>
            <a:lvl8pPr algn="l">
              <a:defRPr sz="1575" b="0">
                <a:solidFill>
                  <a:srgbClr val="1E293B"/>
                </a:solidFill>
              </a:defRPr>
            </a:lvl8pPr>
            <a:lvl9pPr algn="l">
              <a:defRPr sz="1575" b="0">
                <a:solidFill>
                  <a:srgbClr val="1E293B"/>
                </a:solidFill>
              </a:defRPr>
            </a:lvl9pPr>
          </a:lstStyle>
          <a:p xmlns:a="http://schemas.openxmlformats.org/drawingml/2006/main">
            <a:pPr algn="l">
              <a:defRPr sz="1575" b="0">
                <a:solidFill>
                  <a:srgbClr val="1E293B"/>
                </a:solidFill>
              </a:defRPr>
            </a:pPr>
            <a:r>
              <a:rPr sz="1575" b="0">
                <a:solidFill>
                  <a:srgbClr val="1E293B"/>
                </a:solidFill>
              </a:rPr>
              <a:t>Validación externa</a:t>
            </a:r>
          </a:p>
          <a:p xmlns:a="http://schemas.openxmlformats.org/drawingml/2006/main">
            <a:r>
              <a:t/>
            </a:r>
          </a:p>
          <a:p xmlns:a="http://schemas.openxmlformats.org/drawingml/2006/main">
            <a:pPr algn="l">
              <a:defRPr sz="1575" b="0">
                <a:solidFill>
                  <a:srgbClr val="1E293B"/>
                </a:solidFill>
              </a:defRPr>
            </a:pPr>
            <a:r>
              <a:rPr sz="1575" b="0">
                <a:solidFill>
                  <a:srgbClr val="1E293B"/>
                </a:solidFill>
              </a:rPr>
              <a:t>Calibración y elección del umbral</a:t>
            </a:r>
          </a:p>
          <a:p xmlns:a="http://schemas.openxmlformats.org/drawingml/2006/main">
            <a:r>
              <a:t/>
            </a:r>
          </a:p>
          <a:p xmlns:a="http://schemas.openxmlformats.org/drawingml/2006/main">
            <a:pPr algn="l">
              <a:defRPr sz="1575" b="0">
                <a:solidFill>
                  <a:srgbClr val="1E293B"/>
                </a:solidFill>
              </a:defRPr>
            </a:pPr>
            <a:r>
              <a:rPr sz="1575" b="0">
                <a:solidFill>
                  <a:srgbClr val="1E293B"/>
                </a:solidFill>
              </a:rPr>
              <a:t>Validación cruzada completamente anidada</a:t>
            </a:r>
          </a:p>
          <a:p xmlns:a="http://schemas.openxmlformats.org/drawingml/2006/main">
            <a:r>
              <a:t/>
            </a:r>
          </a:p>
          <a:p xmlns:a="http://schemas.openxmlformats.org/drawingml/2006/main">
            <a:pPr algn="l">
              <a:defRPr sz="1575" b="0">
                <a:solidFill>
                  <a:srgbClr val="1E293B"/>
                </a:solidFill>
              </a:defRPr>
            </a:pPr>
            <a:r>
              <a:rPr sz="1575" b="0">
                <a:solidFill>
                  <a:srgbClr val="1E293B"/>
                </a:solidFill>
              </a:rPr>
              <a:t>Imputación múltiple</a:t>
            </a:r>
          </a:p>
          <a:p xmlns:a="http://schemas.openxmlformats.org/drawingml/2006/main">
            <a:r>
              <a:t/>
            </a:r>
          </a:p>
          <a:p xmlns:a="http://schemas.openxmlformats.org/drawingml/2006/main">
            <a:pPr algn="l">
              <a:defRPr sz="1575" b="0">
                <a:solidFill>
                  <a:srgbClr val="1E293B"/>
                </a:solidFill>
              </a:defRPr>
            </a:pPr>
            <a:r>
              <a:rPr sz="1575" b="0">
                <a:solidFill>
                  <a:srgbClr val="1E293B"/>
                </a:solidFill>
              </a:rPr>
              <a:t>Forma flexible para edad</a:t>
            </a:r>
          </a:p>
        </p:txBody>
      </p:sp>
      <p:sp>
        <p:nvSpPr>
          <p:cNvPr id="9" name="">
            <a:extLst xmlns:a="http://schemas.openxmlformats.org/drawingml/2006/main">
              <a:ext uri="{FF2B5EF4-FFF2-40B4-BE49-F238E27FC236}">
                <a16:creationId xmlns:a16="http://schemas.microsoft.com/office/drawing/2014/main" id="{27C2A7EC-38D4-4BE6-BEF1-7DC3B4864D53}"/>
              </a:ext>
            </a:extLst>
          </p:cNvPr>
          <p:cNvSpPr>
            <a:spLocks xmlns:a="http://schemas.openxmlformats.org/drawingml/2006/main" noGrp="1"/>
          </p:cNvSpPr>
          <p:nvPr/>
        </p:nvSpPr>
        <p:spPr>
          <a:xfrm xmlns:a="http://schemas.openxmlformats.org/drawingml/2006/main">
            <a:off x="1047750" y="5381625"/>
            <a:ext cx="10096500" cy="590550"/>
          </a:xfrm>
          <a:prstGeom xmlns:a="http://schemas.openxmlformats.org/drawingml/2006/main" prst="roundRect">
            <a:avLst>
              <a:gd name="adj" fmla="val 12903"/>
            </a:avLst>
          </a:prstGeom>
          <a:solidFill xmlns:a="http://schemas.openxmlformats.org/drawingml/2006/main">
            <a:srgbClr val="12345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89FEDA6-72CC-4EC3-92A1-C17CDE790E27}"/>
              </a:ext>
            </a:extLst>
          </p:cNvPr>
          <p:cNvSpPr>
            <a:spLocks xmlns:a="http://schemas.openxmlformats.org/drawingml/2006/main" noGrp="1"/>
          </p:cNvSpPr>
          <p:nvPr/>
        </p:nvSpPr>
        <p:spPr>
          <a:xfrm xmlns:a="http://schemas.openxmlformats.org/drawingml/2006/main">
            <a:off x="1285875" y="5495925"/>
            <a:ext cx="962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FFFFFF"/>
                </a:solidFill>
              </a:defRPr>
            </a:defPPr>
            <a:lvl1pPr algn="ctr">
              <a:defRPr sz="1500" b="1">
                <a:solidFill>
                  <a:srgbClr val="FFFFFF"/>
                </a:solidFill>
              </a:defRPr>
            </a:lvl1pPr>
            <a:lvl2pPr algn="ctr">
              <a:defRPr sz="1500" b="1">
                <a:solidFill>
                  <a:srgbClr val="FFFFFF"/>
                </a:solidFill>
              </a:defRPr>
            </a:lvl2pPr>
            <a:lvl3pPr algn="ctr">
              <a:defRPr sz="1500" b="1">
                <a:solidFill>
                  <a:srgbClr val="FFFFFF"/>
                </a:solidFill>
              </a:defRPr>
            </a:lvl3pPr>
            <a:lvl4pPr algn="ctr">
              <a:defRPr sz="1500" b="1">
                <a:solidFill>
                  <a:srgbClr val="FFFFFF"/>
                </a:solidFill>
              </a:defRPr>
            </a:lvl4pPr>
            <a:lvl5pPr algn="ctr">
              <a:defRPr sz="1500" b="1">
                <a:solidFill>
                  <a:srgbClr val="FFFFFF"/>
                </a:solidFill>
              </a:defRPr>
            </a:lvl5pPr>
            <a:lvl6pPr algn="ctr">
              <a:defRPr sz="1500" b="1">
                <a:solidFill>
                  <a:srgbClr val="FFFFFF"/>
                </a:solidFill>
              </a:defRPr>
            </a:lvl6pPr>
            <a:lvl7pPr algn="ctr">
              <a:defRPr sz="1500" b="1">
                <a:solidFill>
                  <a:srgbClr val="FFFFFF"/>
                </a:solidFill>
              </a:defRPr>
            </a:lvl7pPr>
            <a:lvl8pPr algn="ctr">
              <a:defRPr sz="1500" b="1">
                <a:solidFill>
                  <a:srgbClr val="FFFFFF"/>
                </a:solidFill>
              </a:defRPr>
            </a:lvl8pPr>
            <a:lvl9pPr algn="ctr">
              <a:defRPr sz="1500" b="1">
                <a:solidFill>
                  <a:srgbClr val="FFFFFF"/>
                </a:solidFill>
              </a:defRPr>
            </a:lvl9pPr>
          </a:lstStyle>
          <a:p xmlns:a="http://schemas.openxmlformats.org/drawingml/2006/main">
            <a:pPr algn="ctr">
              <a:defRPr sz="1500" b="1">
                <a:solidFill>
                  <a:srgbClr val="FFFFFF"/>
                </a:solidFill>
              </a:defRPr>
            </a:pPr>
            <a:r>
              <a:rPr sz="1500" b="1">
                <a:solidFill>
                  <a:srgbClr val="FFFFFF"/>
                </a:solidFill>
              </a:rPr>
              <a:t>Resultado actual: un análisis reproducible que aún requiere validación antes de cualquier uso clínico</a:t>
            </a:r>
          </a:p>
        </p:txBody>
      </p:sp>
      <p:sp>
        <p:nvSpPr>
          <p:cNvPr id="11" name="">
            <a:extLst xmlns:a="http://schemas.openxmlformats.org/drawingml/2006/main">
              <a:ext uri="{FF2B5EF4-FFF2-40B4-BE49-F238E27FC236}">
                <a16:creationId xmlns:a16="http://schemas.microsoft.com/office/drawing/2014/main" id="{0CD89D2B-48FF-4025-9ADF-986F304DE44E}"/>
              </a:ext>
            </a:extLst>
          </p:cNvPr>
          <p:cNvSpPr>
            <a:spLocks xmlns:a="http://schemas.openxmlformats.org/drawingml/2006/main" noGrp="1"/>
          </p:cNvSpPr>
          <p:nvPr/>
        </p:nvSpPr>
        <p:spPr>
          <a:xfrm xmlns:a="http://schemas.openxmlformats.org/drawingml/2006/main">
            <a:off x="685800" y="6515100"/>
            <a:ext cx="3619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0">
                <a:solidFill>
                  <a:srgbClr val="526274"/>
                </a:solidFill>
              </a:defRPr>
            </a:defPPr>
            <a:lvl1pPr algn="l">
              <a:defRPr sz="900" b="0">
                <a:solidFill>
                  <a:srgbClr val="526274"/>
                </a:solidFill>
              </a:defRPr>
            </a:lvl1pPr>
            <a:lvl2pPr algn="l">
              <a:defRPr sz="900" b="0">
                <a:solidFill>
                  <a:srgbClr val="526274"/>
                </a:solidFill>
              </a:defRPr>
            </a:lvl2pPr>
            <a:lvl3pPr algn="l">
              <a:defRPr sz="900" b="0">
                <a:solidFill>
                  <a:srgbClr val="526274"/>
                </a:solidFill>
              </a:defRPr>
            </a:lvl3pPr>
            <a:lvl4pPr algn="l">
              <a:defRPr sz="900" b="0">
                <a:solidFill>
                  <a:srgbClr val="526274"/>
                </a:solidFill>
              </a:defRPr>
            </a:lvl4pPr>
            <a:lvl5pPr algn="l">
              <a:defRPr sz="900" b="0">
                <a:solidFill>
                  <a:srgbClr val="526274"/>
                </a:solidFill>
              </a:defRPr>
            </a:lvl5pPr>
            <a:lvl6pPr algn="l">
              <a:defRPr sz="900" b="0">
                <a:solidFill>
                  <a:srgbClr val="526274"/>
                </a:solidFill>
              </a:defRPr>
            </a:lvl6pPr>
            <a:lvl7pPr algn="l">
              <a:defRPr sz="900" b="0">
                <a:solidFill>
                  <a:srgbClr val="526274"/>
                </a:solidFill>
              </a:defRPr>
            </a:lvl7pPr>
            <a:lvl8pPr algn="l">
              <a:defRPr sz="900" b="0">
                <a:solidFill>
                  <a:srgbClr val="526274"/>
                </a:solidFill>
              </a:defRPr>
            </a:lvl8pPr>
            <a:lvl9pPr algn="l">
              <a:defRPr sz="900" b="0">
                <a:solidFill>
                  <a:srgbClr val="526274"/>
                </a:solidFill>
              </a:defRPr>
            </a:lvl9pPr>
          </a:lstStyle>
          <a:p xmlns:a="http://schemas.openxmlformats.org/drawingml/2006/main">
            <a:pPr algn="l">
              <a:defRPr sz="900" b="0">
                <a:solidFill>
                  <a:srgbClr val="526274"/>
                </a:solidFill>
              </a:defRPr>
            </a:pPr>
            <a:r>
              <a:rPr sz="900" b="0">
                <a:solidFill>
                  <a:srgbClr val="526274"/>
                </a:solidFill>
              </a:rPr>
              <a:t>MCDI501 · Estadística Computacional</a:t>
            </a:r>
          </a:p>
        </p:txBody>
      </p:sp>
    </p:spTree>
    <p:extLst>
      <p:ext uri="{BB962C8B-B14F-4D97-AF65-F5344CB8AC3E}">
        <p14:creationId xmlns:p14="http://schemas.microsoft.com/office/powerpoint/2010/main" val="6003801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2026-10-28T15:40:42.4160000Z</dcterms:created>
  <dcterms:modified xsi:type="dcterms:W3CDTF">2026-10-28T15:40:42.4160000Z</dcterms:modified>
</coreProperties>
</file>